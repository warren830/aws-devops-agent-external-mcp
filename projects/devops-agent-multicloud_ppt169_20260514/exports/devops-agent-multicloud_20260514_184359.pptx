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各位下午好。今天分享的题目是中国区跑通 AWS DevOps Agent 6C 全套能力。这个项目的核心是用 MCP Bridge 加上 Skills 让原生 Agent 看见中国区。我会先讲清楚原生 Agent 在中国区的盲区在哪，然后讲 MCP Bridge 怎么把这个空补上，最后用三个真实跑通的 case 给大家看证据。整个分享大概二十五到三十分钟。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我们先看问题。原生 DevOps Agent 在 us-east-1 跑得很好——6C 框架、Webhook 自主调查、Slack 通知、跨源关联，这些都是开箱即用的。但是同一个 Agent 一旦面对中国区账号，就会哑火。它访问不到 cn-* 资源，因为 IAM 和 STS 的信任链不通，CloudWatch 告警也没法直接打到它的 Webhook 上。最有意思的是，Agent 自己在 thinking 字段里写了一句话——中国区账号不在 enabled associations 里——这是它自己承认的盲区。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这个项目的意义可以用一个数字说清楚。在我们 C2 那个 case 里，Agent 一次 incident 调查通过 MCP Bridge 调用了九十八次中国区 AWS API，零次绕过 Bridge。这是公开资料里第一次让 6C 能力完整落到中国区，靠的就是三件事：MCP Bridge 架构、九个自定义 Skill、三个真实 case 的端到端闭环。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往大了讲，现在很多团队都不只跑一朵云。我们这个 demo 涉及三朵云，实际是六个账号——AWS 全球区一个主账号承载 Agent Space，AWS 中国区两个账号承载真实业务，剩下还有阿里云和 GCP 在仓库里有占位。所有不在 us-east-1 主账号原生关联里的账号，都需要 Bridge——这就是项目要解决的现实。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这张图是项目的核心架构。Hub 是 us-east-1 EKS 上跑的 MCP server pods，由 Agent Space 直接调用。两条 Spoke 分别接到中国区两个账号，每个 MCP pod 自己持有该 cn 账号的 AK/SK，Agent 一调它就用 cn 凭证跑 cn API。整个跨 partition 的复杂性被 MCP 这层接口屏蔽掉了——Agent 用着像调一个普通 region 的 API。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这一页是直接证据。Agent 在它的内部 thinking 字段里直接写："China accounts aren't directly in the enabled associations; instead they're accessed through the custom MCP servers"——也就是中国区账号不在原生关联里，要靠自定义 MCP server 访问。这句话有三个含义：第一，原生路径确实有限制；第二，"自定义 MCP" 就是我们部署的 Bridge；第三，每一次 cn API 调用都被 MCP server 的 access log 完整记录下来，可以审计。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 Bridge 是能力层，再来看 Skill 是策略层。一共九个 Skill，分三层。底下 Foundation 层是路由表——告诉 Agent aws-cn 是宁夏、aws-cn-2 是北京——所有上层 Skill 都隐式依赖它。中间分析层和 Pipeline 层，分析层在用户主动 query 时激活，Pipeline 层 webhook 触发时按 triage→rca→mitigation 顺序串起来。最上面那个 cn-partition-arn-routing 是补 Agent 的领域知识——Agent 经常踩 partition 的坑，这个 Skill 帮它纠正。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这页讲 Skill 能做和不能做的边界。能做的：注入领域知识、统一 RCA 输出、规约 Mitigation 模板、加锁审核协议——所有 Mitigation 命令都要用户显式输入 approve step 几才执行，单步授权抗 LLM 语义漂移。不能做的：Skill 不替代 MCP，因为 MCP 是能力来源；不替代 Webhook 链路，因为告警进不来 Skill 也激活不了；不替代 Agent Space console 配置——OAuth、Webhook URL 生成这些。一句话总结：MCP 给能力，Skill 给策略，缺一不可。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Part 4 进入三个真实 case。第一个是 Webhook 自主调查。这个 case 的关键词是"人没碰按钮"——alarm 触发后九十秒内 Agent 全程接管，给出 RCA 和 Mitigation Plan，并在 Slack 自动投递。整个过程零人工 query。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 C1 的流程。我们注入 L6 故障——把 EKS deployment 的 image tag 改成不存在的 v1.2.4-DOES-NOT-EXIST。三十秒内 Pod 进入 ImagePullBackOff，九十秒 CloudWatch 告警跳到 ALARM，触发 SNS 推到 Bridge Lambda，Lambda HMAC 签名 POST 到 webhook，得到二百 OK。Agent 立刻接管，跑了十五步调查，给出 RCA 和四阶段 Mitigation 方案。最后一步，每条 Mitigation 命令都带 rollback 和 approval prompt，等用户单步授权才执行——这是 Skill 锁死的 Approval Contract，抗语义漂移。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C1 不是手画占位——这是真 Agent 真截图。左上 kubectl 终端显示三个 Running 加一个 ImagePullBackOff。右上 CloudWatch 告警状态条从绿色翻红色。左下 RCA 报告引用了具体的 image tag。右下 Slack 频道里 Agent 自主投递了 Investigation started 通知，时间戳十二点十七分。整个链路真实跑通，不是 mock。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 case 是时间锚定 RCA。这个 case 的关键词是"精确到秒"——Agent 把 ALB p99 突变点锚到一个 k8s pod 的创建时间，时间戳是 05:19:19Z，跟 metric 跳变点完全吻合。同时它平行跑了五个 sub-agent 并行查 ALB、EKS、RDS、CloudTrail、Pod logs，给出三个根因加六个观察项。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C2 的关键数据看这页。症状是 ALB p99 超阈值；时间锚定是 c2-load-gen Pod 在 05:19:19Z 创建，跟 p99 从三百三十毫秒突变到七百四十毫秒的时间点精确吻合——这个"精确吻合"是 Agent 自己写在 RCA 里的话；根因是合成负载二万六千 req/min 加 RDS db.t3.micro CPU 百分百饱和加上 users.search 走全表扫描。右边那张大图就是 Agent 写的 RCA 全文，调用了五个 sub-agent，总共九十八次 cn API。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这是项目最强的铁证。我们抓了 mcp-aws-cn-2 这个 pod 的 access log，把 C2 调查窗口里的所有 API 调用列出来——三十六次 cloudwatch get-metric、二十次 logs start-query、十一次 cloudtrail lookup-events、三次 eks describe-cluster，等等，总共九十八次。每一次都从我们部署的 MCP pod 出去，零次绕过。这就证明了一件事——cn-* AWS API 一百分之百经过 Bridge，整条访问链路完整可审计。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 case 是多跳拓扑 RCA，跑在中国区第二个账号——宁夏。这个 case 验证的是项目能扩展到第二个 cn 账号。关键词是"四跳追溯"——Agent 沿着 DDB 到 SQS 到 ECS 再到 CloudTrail 一路向上溯源到根因。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具体看四跳怎么跳的。第一跳 Agent 调 dynamodb describe-table，看到表是 PROVISIONED 五 WCU——它就问"为啥不是按需"，往上溯。第二跳 SQS get-queue-attributes，看到一万四千多条消息积压——再问"谁在写消息"。第三跳 ECS describe-services，发现 desiredCount 从一扩到了五——继续问"谁改的、什么时候"。第四跳 CloudTrail lookup-events，找到了我自己执行 inject 脚本时的那次 ModifyTable 操作，时间戳 07:18:17Z，user-agent 是 ClaudeCode-BH。最酷的是 Agent 通过 user-agent 字段区分了"Terraform 创建" 和 "手动 CLI 变更"，还主动检查了 application-autoscaling 是不是配了兜底——这是真生产 SRE 才会做的细节。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自己写的根本原因。它说："AdminCYC 在 2026-05-14T07:18:17Z 通过 AWS CLI ClaudeCode-BH 将 etl-state DynamoDB 表的计费模式从 PAY_PER_REQUEST 手动变更为 PROVISIONED 模式仅设置了 5 WCU 的写入容量。CloudTrail 记录显示该表最初由 Terraform 以按需模式创建，2026-05-13T15:07:50Z，不存在节流风险。" 注意它怎么区分了两个时间点：一个是 Terraform 的初始创建，一个是后来的手动变更。这种区分能力就是 6C 框架里 Continuous Learning 的落地。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case 对照看。C1 是 webhook 自主，调用了五个 sub-agent，十二分钟出 RCA。C2 是时间锚定，调了九十八次 cn API，九分四十九秒出 RCA。C3 是四跳追溯，调了十四次 cn API，十三分钟收官。三个加起来一百一十多次中国区 AWS API 调用——零次绕过 MCP Bridge。三个 case 用同一套 Bridge 基础设施跑通，验证了项目的可重复性。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总结一下。我们做的事情就是把 Agent 看不见中国区这个空白补上——MCP Bridge 是能力层，Skills 是策略层，再加上三个真实 case 闭环验证。接下来要做的有三件事：跑剩下的七个 case、写 blog 04 配现场演示 SOP、把同样的 pattern 扩展到阿里云和 GCP。仓库地址在 GitHub warren830 那里，欢迎 issue 和 PR。谢谢大家，问题随时来。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8b6794c671721e0.png"/>
  <Relationship Id="rId3" Type="http://schemas.openxmlformats.org/officeDocument/2006/relationships/image" Target="../media/image_775c010ac32780a6.png"/>
  <Relationship Id="rId4" Type="http://schemas.openxmlformats.org/officeDocument/2006/relationships/image" Target="../media/image_27d47a9b676dedbc.png"/>
  <Relationship Id="rId5" Type="http://schemas.openxmlformats.org/officeDocument/2006/relationships/image" Target="../media/image_f14c7f7ef605b8ed.png"/>
  <Relationship Id="rId6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ce27b0b5a512f0f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e4b48db6cdb47c3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9141be11ebb9bd3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35a8de74ce2fbba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32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18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128712"/>
            <a:ext cx="11049000" cy="5167313"/>
            <a:chOff x="571500" y="1128712"/>
            <a:chExt cx="11049000" cy="5167313"/>
          </a:xfrm>
        </p:grpSpPr>
        <p:sp>
          <p:nvSpPr>
            <p:cNvPr id="6" name="Ellipse 6"/>
            <p:cNvSpPr/>
            <p:nvPr/>
          </p:nvSpPr>
          <p:spPr>
            <a:xfrm>
              <a:off x="1695450" y="1504950"/>
              <a:ext cx="38100" cy="38100"/>
            </a:xfrm>
            <a:prstGeom prst="ellipse">
              <a:avLst/>
            </a:prstGeom>
            <a:solidFill>
              <a:srgbClr val="42A5F5">
                <a:alpha val="6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5124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081212" y="5700712"/>
              <a:ext cx="28575" cy="28575"/>
            </a:xfrm>
            <a:prstGeom prst="ellipse">
              <a:avLst/>
            </a:prstGeom>
            <a:solidFill>
              <a:srgbClr val="FF9800">
                <a:alpha val="6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558212" y="1128712"/>
              <a:ext cx="28575" cy="28575"/>
            </a:xfrm>
            <a:prstGeom prst="ellipse">
              <a:avLst/>
            </a:prstGeom>
            <a:solidFill>
              <a:srgbClr val="42A5F5">
                <a:alpha val="40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571500" y="628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1565C0">
                  <a:alpha val="5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096500" y="628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1565C0">
                  <a:alpha val="50000"/>
                </a:srgb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619250"/>
            <a:ext cx="3499356" cy="385762"/>
            <a:chOff x="571500" y="1619250"/>
            <a:chExt cx="3499356" cy="385762"/>
          </a:xfrm>
        </p:grpSpPr>
        <p:sp>
          <p:nvSpPr>
            <p:cNvPr id="14" name="Rectangle 14"/>
            <p:cNvSpPr/>
            <p:nvPr/>
          </p:nvSpPr>
          <p:spPr>
            <a:xfrm>
              <a:off x="571500" y="1619250"/>
              <a:ext cx="57150" cy="342900"/>
            </a:xfrm>
            <a:prstGeom prst="roundRect">
              <a:avLst>
                <a:gd name="adj" fmla="val 33333"/>
              </a:avLst>
            </a:prstGeom>
            <a:gradFill>
              <a:gsLst>
                <a:gs pos="0">
                  <a:srgbClr val="FF9800"/>
                </a:gs>
                <a:gs pos="100000">
                  <a:srgbClr val="FFB74D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4855" y="1730692"/>
              <a:ext cx="33260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AWS DEVOPS AGENT · CHINA REGION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2276475"/>
            <a:ext cx="8567857" cy="1676400"/>
            <a:chOff x="514350" y="2276475"/>
            <a:chExt cx="8567857" cy="1676400"/>
          </a:xfrm>
        </p:grpSpPr>
        <p:sp>
          <p:nvSpPr>
            <p:cNvPr id="17" name="TextBox 17"/>
            <p:cNvSpPr txBox="1"/>
            <p:nvPr/>
          </p:nvSpPr>
          <p:spPr>
            <a:xfrm>
              <a:off x="514350" y="2276475"/>
              <a:ext cx="3564731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中国区跑通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350" y="3038475"/>
              <a:ext cx="856785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42A5F5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DevOps Agent 6C 全套能力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6735" y="4048125"/>
            <a:ext cx="6272355" cy="566737"/>
            <a:chOff x="546735" y="4048125"/>
            <a:chExt cx="6272355" cy="566737"/>
          </a:xfrm>
        </p:grpSpPr>
        <p:sp>
          <p:nvSpPr>
            <p:cNvPr id="20" name="Line 20"/>
            <p:cNvSpPr/>
            <p:nvPr/>
          </p:nvSpPr>
          <p:spPr>
            <a:xfrm>
              <a:off x="571500" y="404812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6735" y="4218622"/>
              <a:ext cx="627235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用 MCP Bridge + Skills 让原生 Agent 看见中国区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6260" y="5966460"/>
            <a:ext cx="11079480" cy="477202"/>
            <a:chOff x="556260" y="5966460"/>
            <a:chExt cx="11079480" cy="477202"/>
          </a:xfrm>
        </p:grpSpPr>
        <p:sp>
          <p:nvSpPr>
            <p:cNvPr id="23" name="TextBox 23"/>
            <p:cNvSpPr txBox="1"/>
            <p:nvPr/>
          </p:nvSpPr>
          <p:spPr>
            <a:xfrm>
              <a:off x="556260" y="5966460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YC Chen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8165" y="62303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AWS · 内部技术评审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96771" y="59664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2026.05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55971" y="6238399"/>
              <a:ext cx="1576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v1.0 · 3 cases verified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2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6279356" cy="1162050"/>
            <a:chOff x="537210" y="476250"/>
            <a:chExt cx="6279356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62793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原生 DevOps Agent </a:t>
              </a:r>
              <a:r>
                <a:rPr lang="zh-CN" sz="2700" b="1" dirty="0">
                  <a:solidFill>
                    <a:srgbClr val="F44336"/>
                  </a:solidFill>
                  <a:latin typeface="Arial"/>
                  <a:ea typeface="SimHei"/>
                  <a:cs typeface="Arial"/>
                </a:rPr>
                <a:t>≠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中国区可用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55949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同样一个 agent，AWS 全球区开箱可用；面对 cn-* partition 直接哑火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1905000"/>
            <a:ext cx="8763905" cy="4095750"/>
            <a:chOff x="571500" y="1905000"/>
            <a:chExt cx="8763905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5381625" cy="4095750"/>
            </a:xfrm>
            <a:prstGeom prst="roundRect">
              <a:avLst>
                <a:gd name="adj" fmla="val 3256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5381625" cy="476250"/>
            </a:xfrm>
            <a:prstGeom prst="roundRect">
              <a:avLst>
                <a:gd name="adj" fmla="val 28000"/>
              </a:avLst>
            </a:prstGeom>
            <a:solidFill>
              <a:srgbClr val="1565C0">
                <a:alpha val="1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286000"/>
              <a:ext cx="5381625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72319" y="2056840"/>
              <a:ext cx="227012" cy="158558"/>
            </a:xfrm>
            <a:custGeom>
              <a:avLst/>
              <a:gdLst/>
              <a:ahLst/>
              <a:cxnLst/>
              <a:rect l="l" t="t" r="r" b="b"/>
              <a:pathLst>
                <a:path w="227012" h="158558">
                  <a:moveTo>
                    <a:pt x="93282" y="6883"/>
                  </a:moveTo>
                  <a:cubicBezTo>
                    <a:pt x="115931" y="0"/>
                    <a:pt x="140903" y="4571"/>
                    <a:pt x="158909" y="19017"/>
                  </a:cubicBezTo>
                  <a:cubicBezTo>
                    <a:pt x="173211" y="30451"/>
                    <a:pt x="181486" y="46734"/>
                    <a:pt x="182147" y="63801"/>
                  </a:cubicBezTo>
                  <a:lnTo>
                    <a:pt x="182178" y="65988"/>
                  </a:lnTo>
                  <a:lnTo>
                    <a:pt x="183117" y="66019"/>
                  </a:lnTo>
                  <a:cubicBezTo>
                    <a:pt x="206850" y="67123"/>
                    <a:pt x="225867" y="86254"/>
                    <a:pt x="226971" y="110080"/>
                  </a:cubicBezTo>
                  <a:lnTo>
                    <a:pt x="227012" y="112258"/>
                  </a:lnTo>
                  <a:cubicBezTo>
                    <a:pt x="227012" y="137095"/>
                    <a:pt x="207562" y="157371"/>
                    <a:pt x="183106" y="158506"/>
                  </a:cubicBezTo>
                  <a:lnTo>
                    <a:pt x="180939" y="158558"/>
                  </a:lnTo>
                  <a:lnTo>
                    <a:pt x="58373" y="158558"/>
                  </a:lnTo>
                  <a:lnTo>
                    <a:pt x="56082" y="158475"/>
                  </a:lnTo>
                  <a:cubicBezTo>
                    <a:pt x="25745" y="157340"/>
                    <a:pt x="1218" y="133721"/>
                    <a:pt x="52" y="104168"/>
                  </a:cubicBezTo>
                  <a:lnTo>
                    <a:pt x="0" y="101939"/>
                  </a:lnTo>
                  <a:cubicBezTo>
                    <a:pt x="0" y="73593"/>
                    <a:pt x="21463" y="50242"/>
                    <a:pt x="49365" y="46042"/>
                  </a:cubicBezTo>
                  <a:lnTo>
                    <a:pt x="50541" y="45877"/>
                  </a:lnTo>
                  <a:lnTo>
                    <a:pt x="51264" y="44009"/>
                  </a:lnTo>
                  <a:cubicBezTo>
                    <a:pt x="58105" y="27293"/>
                    <a:pt x="72479" y="14023"/>
                    <a:pt x="90774" y="7708"/>
                  </a:cubicBezTo>
                  <a:lnTo>
                    <a:pt x="93292" y="6883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5850" y="2047875"/>
              <a:ext cx="33275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原生能力（在 us-east-1 全开）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14388" y="2664142"/>
              <a:ext cx="8521017" cy="274320"/>
              <a:chOff x="814388" y="2664142"/>
              <a:chExt cx="8521017" cy="27432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14388" y="267808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97919" y="55299"/>
                    </a:moveTo>
                    <a:cubicBezTo>
                      <a:pt x="95374" y="52754"/>
                      <a:pt x="91333" y="52500"/>
                      <a:pt x="88490" y="54706"/>
                    </a:cubicBezTo>
                    <a:lnTo>
                      <a:pt x="87818" y="55299"/>
                    </a:lnTo>
                    <a:lnTo>
                      <a:pt x="64294" y="78817"/>
                    </a:lnTo>
                    <a:lnTo>
                      <a:pt x="55057" y="69587"/>
                    </a:lnTo>
                    <a:lnTo>
                      <a:pt x="54385" y="68994"/>
                    </a:lnTo>
                    <a:cubicBezTo>
                      <a:pt x="51541" y="66790"/>
                      <a:pt x="47502" y="67044"/>
                      <a:pt x="44957" y="69589"/>
                    </a:cubicBezTo>
                    <a:cubicBezTo>
                      <a:pt x="42413" y="72133"/>
                      <a:pt x="42158" y="76173"/>
                      <a:pt x="44363" y="79017"/>
                    </a:cubicBezTo>
                    <a:lnTo>
                      <a:pt x="44956" y="79688"/>
                    </a:lnTo>
                    <a:lnTo>
                      <a:pt x="59243" y="93976"/>
                    </a:lnTo>
                    <a:lnTo>
                      <a:pt x="59915" y="94569"/>
                    </a:lnTo>
                    <a:cubicBezTo>
                      <a:pt x="62492" y="96568"/>
                      <a:pt x="66096" y="96568"/>
                      <a:pt x="68673" y="94569"/>
                    </a:cubicBezTo>
                    <a:lnTo>
                      <a:pt x="69344" y="93976"/>
                    </a:lnTo>
                    <a:lnTo>
                      <a:pt x="97919" y="65401"/>
                    </a:lnTo>
                    <a:lnTo>
                      <a:pt x="98512" y="64729"/>
                    </a:lnTo>
                    <a:cubicBezTo>
                      <a:pt x="100718" y="61885"/>
                      <a:pt x="100464" y="57844"/>
                      <a:pt x="97919" y="55299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49655" y="2664142"/>
                <a:ext cx="82857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6C 框架 — Context / Control / Collaboration / Continuous Learning / Convenience / Cost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28352" y="3188018"/>
              <a:ext cx="4563703" cy="274320"/>
              <a:chOff x="828352" y="3188018"/>
              <a:chExt cx="4563703" cy="27432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28352" y="3205162"/>
                <a:ext cx="114947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114947" h="145525">
                    <a:moveTo>
                      <a:pt x="64617" y="0"/>
                    </a:moveTo>
                    <a:lnTo>
                      <a:pt x="64746" y="7"/>
                    </a:lnTo>
                    <a:lnTo>
                      <a:pt x="64860" y="14"/>
                    </a:lnTo>
                    <a:lnTo>
                      <a:pt x="65453" y="50"/>
                    </a:lnTo>
                    <a:lnTo>
                      <a:pt x="65532" y="64"/>
                    </a:lnTo>
                    <a:lnTo>
                      <a:pt x="65610" y="64"/>
                    </a:lnTo>
                    <a:lnTo>
                      <a:pt x="65882" y="129"/>
                    </a:lnTo>
                    <a:lnTo>
                      <a:pt x="66253" y="186"/>
                    </a:lnTo>
                    <a:lnTo>
                      <a:pt x="66367" y="229"/>
                    </a:lnTo>
                    <a:lnTo>
                      <a:pt x="66446" y="236"/>
                    </a:lnTo>
                    <a:lnTo>
                      <a:pt x="66653" y="314"/>
                    </a:lnTo>
                    <a:lnTo>
                      <a:pt x="67025" y="414"/>
                    </a:lnTo>
                    <a:lnTo>
                      <a:pt x="67160" y="479"/>
                    </a:lnTo>
                    <a:lnTo>
                      <a:pt x="67268" y="507"/>
                    </a:lnTo>
                    <a:lnTo>
                      <a:pt x="67468" y="607"/>
                    </a:lnTo>
                    <a:lnTo>
                      <a:pt x="67753" y="729"/>
                    </a:lnTo>
                    <a:lnTo>
                      <a:pt x="67903" y="814"/>
                    </a:lnTo>
                    <a:lnTo>
                      <a:pt x="68060" y="886"/>
                    </a:lnTo>
                    <a:lnTo>
                      <a:pt x="68225" y="993"/>
                    </a:lnTo>
                    <a:lnTo>
                      <a:pt x="68446" y="1114"/>
                    </a:lnTo>
                    <a:lnTo>
                      <a:pt x="68689" y="1286"/>
                    </a:lnTo>
                    <a:lnTo>
                      <a:pt x="68818" y="1364"/>
                    </a:lnTo>
                    <a:lnTo>
                      <a:pt x="68911" y="1450"/>
                    </a:lnTo>
                    <a:lnTo>
                      <a:pt x="69082" y="1572"/>
                    </a:lnTo>
                    <a:lnTo>
                      <a:pt x="69353" y="1815"/>
                    </a:lnTo>
                    <a:lnTo>
                      <a:pt x="69511" y="1936"/>
                    </a:lnTo>
                    <a:lnTo>
                      <a:pt x="69568" y="2007"/>
                    </a:lnTo>
                    <a:lnTo>
                      <a:pt x="69668" y="2093"/>
                    </a:lnTo>
                    <a:lnTo>
                      <a:pt x="69925" y="2386"/>
                    </a:lnTo>
                    <a:lnTo>
                      <a:pt x="70111" y="2579"/>
                    </a:lnTo>
                    <a:lnTo>
                      <a:pt x="70154" y="2643"/>
                    </a:lnTo>
                    <a:cubicBezTo>
                      <a:pt x="71011" y="3693"/>
                      <a:pt x="71554" y="4943"/>
                      <a:pt x="71711" y="6308"/>
                    </a:cubicBezTo>
                    <a:lnTo>
                      <a:pt x="71718" y="6394"/>
                    </a:lnTo>
                    <a:lnTo>
                      <a:pt x="71732" y="6687"/>
                    </a:lnTo>
                    <a:lnTo>
                      <a:pt x="71761" y="7144"/>
                    </a:lnTo>
                    <a:lnTo>
                      <a:pt x="71761" y="50006"/>
                    </a:lnTo>
                    <a:lnTo>
                      <a:pt x="107480" y="50006"/>
                    </a:lnTo>
                    <a:cubicBezTo>
                      <a:pt x="110028" y="50006"/>
                      <a:pt x="112383" y="51362"/>
                      <a:pt x="113662" y="53567"/>
                    </a:cubicBezTo>
                    <a:cubicBezTo>
                      <a:pt x="114940" y="55771"/>
                      <a:pt x="114947" y="58489"/>
                      <a:pt x="113680" y="60700"/>
                    </a:cubicBezTo>
                    <a:lnTo>
                      <a:pt x="113252" y="61351"/>
                    </a:lnTo>
                    <a:lnTo>
                      <a:pt x="56102" y="139932"/>
                    </a:lnTo>
                    <a:cubicBezTo>
                      <a:pt x="52044" y="145525"/>
                      <a:pt x="43186" y="142646"/>
                      <a:pt x="43186" y="135731"/>
                    </a:cubicBezTo>
                    <a:lnTo>
                      <a:pt x="43186" y="92869"/>
                    </a:lnTo>
                    <a:lnTo>
                      <a:pt x="7467" y="92869"/>
                    </a:lnTo>
                    <a:cubicBezTo>
                      <a:pt x="4919" y="92869"/>
                      <a:pt x="2564" y="91513"/>
                      <a:pt x="1285" y="89308"/>
                    </a:cubicBezTo>
                    <a:cubicBezTo>
                      <a:pt x="7" y="87104"/>
                      <a:pt x="0" y="84386"/>
                      <a:pt x="1266" y="82175"/>
                    </a:cubicBezTo>
                    <a:lnTo>
                      <a:pt x="1695" y="81524"/>
                    </a:lnTo>
                    <a:lnTo>
                      <a:pt x="58845" y="2943"/>
                    </a:lnTo>
                    <a:lnTo>
                      <a:pt x="58916" y="2850"/>
                    </a:lnTo>
                    <a:lnTo>
                      <a:pt x="59045" y="2679"/>
                    </a:lnTo>
                    <a:lnTo>
                      <a:pt x="59281" y="2407"/>
                    </a:lnTo>
                    <a:lnTo>
                      <a:pt x="59409" y="2250"/>
                    </a:lnTo>
                    <a:lnTo>
                      <a:pt x="59474" y="2193"/>
                    </a:lnTo>
                    <a:lnTo>
                      <a:pt x="59567" y="2093"/>
                    </a:lnTo>
                    <a:lnTo>
                      <a:pt x="59852" y="1836"/>
                    </a:lnTo>
                    <a:lnTo>
                      <a:pt x="60052" y="1650"/>
                    </a:lnTo>
                    <a:lnTo>
                      <a:pt x="60109" y="1607"/>
                    </a:lnTo>
                    <a:cubicBezTo>
                      <a:pt x="60947" y="922"/>
                      <a:pt x="61929" y="436"/>
                      <a:pt x="62981" y="186"/>
                    </a:cubicBezTo>
                    <a:lnTo>
                      <a:pt x="63060" y="179"/>
                    </a:lnTo>
                    <a:lnTo>
                      <a:pt x="63253" y="143"/>
                    </a:lnTo>
                    <a:lnTo>
                      <a:pt x="63781" y="50"/>
                    </a:lnTo>
                    <a:lnTo>
                      <a:pt x="63860" y="43"/>
                    </a:lnTo>
                    <a:lnTo>
                      <a:pt x="64153" y="29"/>
                    </a:ln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49655" y="3188018"/>
                <a:ext cx="43424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Webhook 自主调查 — alarm 进来 agent 直接接管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14388" y="3711892"/>
              <a:ext cx="4005881" cy="274320"/>
              <a:chOff x="814388" y="3711892"/>
              <a:chExt cx="4005881" cy="274320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814388" y="3729038"/>
                <a:ext cx="142875" cy="145282"/>
                <a:chOff x="814388" y="3729038"/>
                <a:chExt cx="142875" cy="14528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864394" y="3729038"/>
                  <a:ext cx="92869" cy="92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9" h="92880">
                      <a:moveTo>
                        <a:pt x="85018" y="92833"/>
                      </a:moveTo>
                      <a:lnTo>
                        <a:pt x="84703" y="92790"/>
                      </a:lnTo>
                      <a:cubicBezTo>
                        <a:pt x="84455" y="92774"/>
                        <a:pt x="84210" y="92726"/>
                        <a:pt x="83975" y="92647"/>
                      </a:cubicBezTo>
                      <a:lnTo>
                        <a:pt x="83653" y="92562"/>
                      </a:lnTo>
                      <a:lnTo>
                        <a:pt x="83310" y="92440"/>
                      </a:lnTo>
                      <a:lnTo>
                        <a:pt x="82989" y="92326"/>
                      </a:lnTo>
                      <a:lnTo>
                        <a:pt x="82682" y="92183"/>
                      </a:lnTo>
                      <a:lnTo>
                        <a:pt x="82360" y="92026"/>
                      </a:lnTo>
                      <a:lnTo>
                        <a:pt x="82075" y="91854"/>
                      </a:lnTo>
                      <a:lnTo>
                        <a:pt x="81760" y="91669"/>
                      </a:lnTo>
                      <a:lnTo>
                        <a:pt x="81453" y="91440"/>
                      </a:lnTo>
                      <a:lnTo>
                        <a:pt x="81196" y="91247"/>
                      </a:lnTo>
                      <a:cubicBezTo>
                        <a:pt x="81014" y="91099"/>
                        <a:pt x="80840" y="90941"/>
                        <a:pt x="80674" y="90776"/>
                      </a:cubicBezTo>
                      <a:lnTo>
                        <a:pt x="61336" y="71438"/>
                      </a:lnTo>
                      <a:lnTo>
                        <a:pt x="14288" y="71438"/>
                      </a:lnTo>
                      <a:cubicBezTo>
                        <a:pt x="6397" y="71438"/>
                        <a:pt x="0" y="65041"/>
                        <a:pt x="0" y="57150"/>
                      </a:cubicBez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lnTo>
                        <a:pt x="78581" y="0"/>
                      </a:lnTo>
                      <a:cubicBezTo>
                        <a:pt x="86472" y="0"/>
                        <a:pt x="92869" y="6397"/>
                        <a:pt x="92869" y="14288"/>
                      </a:cubicBezTo>
                      <a:lnTo>
                        <a:pt x="92869" y="85725"/>
                      </a:lnTo>
                      <a:cubicBezTo>
                        <a:pt x="92869" y="86664"/>
                        <a:pt x="92685" y="87594"/>
                        <a:pt x="92326" y="88461"/>
                      </a:cubicBezTo>
                      <a:lnTo>
                        <a:pt x="92183" y="88768"/>
                      </a:lnTo>
                      <a:lnTo>
                        <a:pt x="92026" y="89090"/>
                      </a:lnTo>
                      <a:lnTo>
                        <a:pt x="91854" y="89375"/>
                      </a:lnTo>
                      <a:lnTo>
                        <a:pt x="91669" y="89690"/>
                      </a:lnTo>
                      <a:lnTo>
                        <a:pt x="91440" y="89997"/>
                      </a:lnTo>
                      <a:lnTo>
                        <a:pt x="91247" y="90254"/>
                      </a:lnTo>
                      <a:cubicBezTo>
                        <a:pt x="90199" y="91533"/>
                        <a:pt x="88740" y="92410"/>
                        <a:pt x="87118" y="92733"/>
                      </a:cubicBezTo>
                      <a:lnTo>
                        <a:pt x="86747" y="92790"/>
                      </a:lnTo>
                      <a:lnTo>
                        <a:pt x="86432" y="92833"/>
                      </a:lnTo>
                      <a:cubicBezTo>
                        <a:pt x="85962" y="92880"/>
                        <a:pt x="85488" y="92880"/>
                        <a:pt x="85018" y="92833"/>
                      </a:cubicBezTo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14388" y="3779037"/>
                  <a:ext cx="92869" cy="95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9" h="95283">
                      <a:moveTo>
                        <a:pt x="35719" y="0"/>
                      </a:moveTo>
                      <a:lnTo>
                        <a:pt x="35719" y="7151"/>
                      </a:lnTo>
                      <a:cubicBezTo>
                        <a:pt x="35719" y="22932"/>
                        <a:pt x="48512" y="35726"/>
                        <a:pt x="64294" y="35726"/>
                      </a:cubicBezTo>
                      <a:lnTo>
                        <a:pt x="92869" y="35726"/>
                      </a:lnTo>
                      <a:lnTo>
                        <a:pt x="92869" y="57157"/>
                      </a:lnTo>
                      <a:cubicBezTo>
                        <a:pt x="92869" y="65048"/>
                        <a:pt x="86472" y="71445"/>
                        <a:pt x="78581" y="71445"/>
                      </a:cubicBezTo>
                      <a:lnTo>
                        <a:pt x="31533" y="71445"/>
                      </a:lnTo>
                      <a:lnTo>
                        <a:pt x="12194" y="90783"/>
                      </a:lnTo>
                      <a:cubicBezTo>
                        <a:pt x="7694" y="95283"/>
                        <a:pt x="0" y="92097"/>
                        <a:pt x="0" y="85732"/>
                      </a:cubicBezTo>
                      <a:lnTo>
                        <a:pt x="0" y="14295"/>
                      </a:lnTo>
                      <a:cubicBezTo>
                        <a:pt x="0" y="6404"/>
                        <a:pt x="6397" y="7"/>
                        <a:pt x="14288" y="7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049655" y="3711892"/>
                <a:ext cx="377061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Slack / GitHub / CloudWatch native 集成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14387" y="4235768"/>
              <a:ext cx="5188887" cy="274320"/>
              <a:chOff x="814387" y="4235768"/>
              <a:chExt cx="5188887" cy="27432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14387" y="4249713"/>
                <a:ext cx="150425" cy="151012"/>
              </a:xfrm>
              <a:custGeom>
                <a:avLst/>
                <a:gdLst/>
                <a:ahLst/>
                <a:cxnLst/>
                <a:rect l="l" t="t" r="r" b="b"/>
                <a:pathLst>
                  <a:path w="150425" h="151012">
                    <a:moveTo>
                      <a:pt x="107157" y="12773"/>
                    </a:moveTo>
                    <a:cubicBezTo>
                      <a:pt x="137181" y="30107"/>
                      <a:pt x="150425" y="66495"/>
                      <a:pt x="138567" y="99073"/>
                    </a:cubicBezTo>
                    <a:cubicBezTo>
                      <a:pt x="126710" y="131650"/>
                      <a:pt x="93174" y="151012"/>
                      <a:pt x="59032" y="144991"/>
                    </a:cubicBezTo>
                    <a:cubicBezTo>
                      <a:pt x="24891" y="138971"/>
                      <a:pt x="0" y="109306"/>
                      <a:pt x="1" y="74637"/>
                    </a:cubicBezTo>
                    <a:lnTo>
                      <a:pt x="37" y="72323"/>
                    </a:lnTo>
                    <a:cubicBezTo>
                      <a:pt x="850" y="47227"/>
                      <a:pt x="14780" y="24400"/>
                      <a:pt x="36726" y="12200"/>
                    </a:cubicBezTo>
                    <a:cubicBezTo>
                      <a:pt x="58672" y="0"/>
                      <a:pt x="85412" y="217"/>
                      <a:pt x="107157" y="12773"/>
                    </a:cubicBezTo>
                    <a:moveTo>
                      <a:pt x="62202" y="55299"/>
                    </a:moveTo>
                    <a:cubicBezTo>
                      <a:pt x="59412" y="52511"/>
                      <a:pt x="54890" y="52511"/>
                      <a:pt x="52100" y="55299"/>
                    </a:cubicBezTo>
                    <a:lnTo>
                      <a:pt x="37813" y="69587"/>
                    </a:lnTo>
                    <a:cubicBezTo>
                      <a:pt x="35024" y="72376"/>
                      <a:pt x="35024" y="76898"/>
                      <a:pt x="37813" y="79688"/>
                    </a:cubicBezTo>
                    <a:lnTo>
                      <a:pt x="52100" y="93976"/>
                    </a:lnTo>
                    <a:cubicBezTo>
                      <a:pt x="54890" y="96764"/>
                      <a:pt x="59412" y="96764"/>
                      <a:pt x="62202" y="93976"/>
                    </a:cubicBezTo>
                    <a:lnTo>
                      <a:pt x="62794" y="93304"/>
                    </a:lnTo>
                    <a:cubicBezTo>
                      <a:pt x="65000" y="90460"/>
                      <a:pt x="64746" y="86419"/>
                      <a:pt x="62202" y="83874"/>
                    </a:cubicBezTo>
                    <a:lnTo>
                      <a:pt x="52972" y="74637"/>
                    </a:lnTo>
                    <a:lnTo>
                      <a:pt x="62202" y="65401"/>
                    </a:lnTo>
                    <a:cubicBezTo>
                      <a:pt x="64990" y="62611"/>
                      <a:pt x="64990" y="58089"/>
                      <a:pt x="62202" y="55299"/>
                    </a:cubicBezTo>
                    <a:moveTo>
                      <a:pt x="90777" y="55299"/>
                    </a:moveTo>
                    <a:cubicBezTo>
                      <a:pt x="87987" y="52511"/>
                      <a:pt x="83465" y="52511"/>
                      <a:pt x="80675" y="55299"/>
                    </a:cubicBezTo>
                    <a:lnTo>
                      <a:pt x="80082" y="55971"/>
                    </a:lnTo>
                    <a:cubicBezTo>
                      <a:pt x="77876" y="58815"/>
                      <a:pt x="78130" y="62856"/>
                      <a:pt x="80675" y="65401"/>
                    </a:cubicBezTo>
                    <a:lnTo>
                      <a:pt x="89905" y="74637"/>
                    </a:lnTo>
                    <a:lnTo>
                      <a:pt x="80675" y="83874"/>
                    </a:lnTo>
                    <a:cubicBezTo>
                      <a:pt x="77968" y="86677"/>
                      <a:pt x="78007" y="91133"/>
                      <a:pt x="80762" y="93889"/>
                    </a:cubicBezTo>
                    <a:cubicBezTo>
                      <a:pt x="83518" y="96644"/>
                      <a:pt x="87973" y="96683"/>
                      <a:pt x="90777" y="93976"/>
                    </a:cubicBezTo>
                    <a:lnTo>
                      <a:pt x="105064" y="79688"/>
                    </a:lnTo>
                    <a:cubicBezTo>
                      <a:pt x="107853" y="76898"/>
                      <a:pt x="107853" y="72376"/>
                      <a:pt x="105064" y="69587"/>
                    </a:cubicBezTo>
                    <a:close/>
                  </a:path>
                </a:pathLst>
              </a:cu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49655" y="4235768"/>
                <a:ext cx="49536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Skills 三层 — AWS-provided / User-custom / Learned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6932" y="4759642"/>
              <a:ext cx="5156909" cy="274320"/>
              <a:chOff x="806932" y="4759642"/>
              <a:chExt cx="5156909" cy="27432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06932" y="4791075"/>
                <a:ext cx="157467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7467" h="114300">
                    <a:moveTo>
                      <a:pt x="78893" y="0"/>
                    </a:moveTo>
                    <a:cubicBezTo>
                      <a:pt x="109539" y="0"/>
                      <a:pt x="135064" y="17352"/>
                      <a:pt x="155081" y="51106"/>
                    </a:cubicBezTo>
                    <a:lnTo>
                      <a:pt x="156652" y="53814"/>
                    </a:lnTo>
                    <a:lnTo>
                      <a:pt x="156974" y="54528"/>
                    </a:lnTo>
                    <a:lnTo>
                      <a:pt x="157188" y="55121"/>
                    </a:lnTo>
                    <a:lnTo>
                      <a:pt x="157288" y="55514"/>
                    </a:lnTo>
                    <a:lnTo>
                      <a:pt x="157388" y="56100"/>
                    </a:lnTo>
                    <a:lnTo>
                      <a:pt x="157467" y="56814"/>
                    </a:lnTo>
                    <a:lnTo>
                      <a:pt x="157467" y="57600"/>
                    </a:lnTo>
                    <a:lnTo>
                      <a:pt x="157367" y="58393"/>
                    </a:lnTo>
                    <a:cubicBezTo>
                      <a:pt x="157320" y="58658"/>
                      <a:pt x="157258" y="58921"/>
                      <a:pt x="157181" y="59179"/>
                    </a:cubicBezTo>
                    <a:lnTo>
                      <a:pt x="156902" y="59950"/>
                    </a:lnTo>
                    <a:lnTo>
                      <a:pt x="156645" y="60486"/>
                    </a:lnTo>
                    <a:lnTo>
                      <a:pt x="156531" y="60700"/>
                    </a:lnTo>
                    <a:cubicBezTo>
                      <a:pt x="136785" y="95248"/>
                      <a:pt x="111525" y="113421"/>
                      <a:pt x="81128" y="114271"/>
                    </a:cubicBezTo>
                    <a:lnTo>
                      <a:pt x="78893" y="114300"/>
                    </a:lnTo>
                    <a:cubicBezTo>
                      <a:pt x="47489" y="114300"/>
                      <a:pt x="21478" y="96091"/>
                      <a:pt x="1254" y="60693"/>
                    </a:cubicBezTo>
                    <a:cubicBezTo>
                      <a:pt x="0" y="58498"/>
                      <a:pt x="0" y="55802"/>
                      <a:pt x="1254" y="53607"/>
                    </a:cubicBezTo>
                    <a:cubicBezTo>
                      <a:pt x="21478" y="18209"/>
                      <a:pt x="47489" y="0"/>
                      <a:pt x="78893" y="0"/>
                    </a:cubicBezTo>
                    <a:close/>
                    <a:moveTo>
                      <a:pt x="78893" y="35719"/>
                    </a:moveTo>
                    <a:cubicBezTo>
                      <a:pt x="67056" y="35719"/>
                      <a:pt x="57461" y="45314"/>
                      <a:pt x="57461" y="57150"/>
                    </a:cubicBezTo>
                    <a:cubicBezTo>
                      <a:pt x="57461" y="68986"/>
                      <a:pt x="67056" y="78581"/>
                      <a:pt x="78893" y="78581"/>
                    </a:cubicBezTo>
                    <a:cubicBezTo>
                      <a:pt x="90729" y="78581"/>
                      <a:pt x="100324" y="68986"/>
                      <a:pt x="100324" y="57150"/>
                    </a:cubicBezTo>
                    <a:cubicBezTo>
                      <a:pt x="100324" y="45314"/>
                      <a:pt x="90729" y="35719"/>
                      <a:pt x="78893" y="35719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49655" y="4759642"/>
                <a:ext cx="49141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跨源关联 — CloudTrail × Metric × Logs × Code commit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14388" y="5283518"/>
              <a:ext cx="4143898" cy="274320"/>
              <a:chOff x="814388" y="5283518"/>
              <a:chExt cx="4143898" cy="27432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14388" y="5297463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71580" y="38919"/>
                    </a:moveTo>
                    <a:lnTo>
                      <a:pt x="70416" y="38990"/>
                    </a:lnTo>
                    <a:lnTo>
                      <a:pt x="69802" y="39104"/>
                    </a:lnTo>
                    <a:lnTo>
                      <a:pt x="68787" y="39426"/>
                    </a:lnTo>
                    <a:lnTo>
                      <a:pt x="67980" y="39812"/>
                    </a:lnTo>
                    <a:lnTo>
                      <a:pt x="67480" y="40119"/>
                    </a:lnTo>
                    <a:lnTo>
                      <a:pt x="66801" y="40626"/>
                    </a:lnTo>
                    <a:lnTo>
                      <a:pt x="66387" y="41012"/>
                    </a:lnTo>
                    <a:lnTo>
                      <a:pt x="37812" y="69587"/>
                    </a:lnTo>
                    <a:lnTo>
                      <a:pt x="37219" y="70258"/>
                    </a:lnTo>
                    <a:cubicBezTo>
                      <a:pt x="34915" y="73238"/>
                      <a:pt x="35320" y="77495"/>
                      <a:pt x="38146" y="79986"/>
                    </a:cubicBezTo>
                    <a:cubicBezTo>
                      <a:pt x="40971" y="82478"/>
                      <a:pt x="45245" y="82347"/>
                      <a:pt x="47913" y="79688"/>
                    </a:cubicBezTo>
                    <a:lnTo>
                      <a:pt x="64294" y="63307"/>
                    </a:lnTo>
                    <a:lnTo>
                      <a:pt x="64294" y="103212"/>
                    </a:lnTo>
                    <a:lnTo>
                      <a:pt x="64344" y="104048"/>
                    </a:lnTo>
                    <a:cubicBezTo>
                      <a:pt x="64790" y="107802"/>
                      <a:pt x="68083" y="110558"/>
                      <a:pt x="71856" y="110336"/>
                    </a:cubicBezTo>
                    <a:cubicBezTo>
                      <a:pt x="75629" y="110115"/>
                      <a:pt x="78577" y="106992"/>
                      <a:pt x="78581" y="103212"/>
                    </a:cubicBezTo>
                    <a:lnTo>
                      <a:pt x="78581" y="63315"/>
                    </a:lnTo>
                    <a:lnTo>
                      <a:pt x="94962" y="79688"/>
                    </a:lnTo>
                    <a:lnTo>
                      <a:pt x="95633" y="80281"/>
                    </a:lnTo>
                    <a:cubicBezTo>
                      <a:pt x="98613" y="82585"/>
                      <a:pt x="102870" y="82180"/>
                      <a:pt x="105361" y="79354"/>
                    </a:cubicBezTo>
                    <a:cubicBezTo>
                      <a:pt x="107853" y="76529"/>
                      <a:pt x="107722" y="72255"/>
                      <a:pt x="105063" y="69587"/>
                    </a:cubicBezTo>
                    <a:lnTo>
                      <a:pt x="76488" y="41012"/>
                    </a:lnTo>
                    <a:lnTo>
                      <a:pt x="75902" y="40490"/>
                    </a:lnTo>
                    <a:lnTo>
                      <a:pt x="75267" y="40033"/>
                    </a:lnTo>
                    <a:lnTo>
                      <a:pt x="74459" y="39590"/>
                    </a:lnTo>
                    <a:lnTo>
                      <a:pt x="73881" y="39347"/>
                    </a:lnTo>
                    <a:lnTo>
                      <a:pt x="73073" y="39104"/>
                    </a:lnTo>
                    <a:lnTo>
                      <a:pt x="72273" y="38962"/>
                    </a:lnTo>
                    <a:lnTo>
                      <a:pt x="71573" y="38919"/>
                    </a:ln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49655" y="5283518"/>
                <a:ext cx="390863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Topology 自动学习 + Ops backlog 周期建议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6238875" y="1905000"/>
            <a:ext cx="5766959" cy="4095750"/>
            <a:chOff x="6238875" y="1905000"/>
            <a:chExt cx="5766959" cy="4095750"/>
          </a:xfrm>
        </p:grpSpPr>
        <p:sp>
          <p:nvSpPr>
            <p:cNvPr id="34" name="Rectangle 34"/>
            <p:cNvSpPr/>
            <p:nvPr/>
          </p:nvSpPr>
          <p:spPr>
            <a:xfrm>
              <a:off x="6238875" y="1905000"/>
              <a:ext cx="5381625" cy="4095750"/>
            </a:xfrm>
            <a:prstGeom prst="roundRect">
              <a:avLst>
                <a:gd name="adj" fmla="val 3256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38875" y="1905000"/>
              <a:ext cx="5381625" cy="476250"/>
            </a:xfrm>
            <a:prstGeom prst="roundRect">
              <a:avLst>
                <a:gd name="adj" fmla="val 28000"/>
              </a:avLst>
            </a:prstGeom>
            <a:solidFill>
              <a:srgbClr val="F44336">
                <a:alpha val="16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38875" y="2286000"/>
              <a:ext cx="5381625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49303" y="2040206"/>
              <a:ext cx="207779" cy="205828"/>
              <a:chOff x="6449303" y="2040206"/>
              <a:chExt cx="207779" cy="20582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60743" y="2184400"/>
                <a:ext cx="87028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28" h="61634">
                    <a:moveTo>
                      <a:pt x="87028" y="0"/>
                    </a:moveTo>
                    <a:cubicBezTo>
                      <a:pt x="71706" y="35105"/>
                      <a:pt x="38200" y="58834"/>
                      <a:pt x="0" y="61634"/>
                    </a:cubicBezTo>
                    <a:cubicBezTo>
                      <a:pt x="2643" y="61004"/>
                      <a:pt x="4930" y="59358"/>
                      <a:pt x="6367" y="57052"/>
                    </a:cubicBezTo>
                    <a:cubicBezTo>
                      <a:pt x="17334" y="39483"/>
                      <a:pt x="25286" y="20203"/>
                      <a:pt x="29893" y="10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58629" y="2184400"/>
                <a:ext cx="87018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18" h="61634">
                    <a:moveTo>
                      <a:pt x="57135" y="0"/>
                    </a:moveTo>
                    <a:cubicBezTo>
                      <a:pt x="61740" y="20200"/>
                      <a:pt x="69692" y="39487"/>
                      <a:pt x="80662" y="57063"/>
                    </a:cubicBezTo>
                    <a:cubicBezTo>
                      <a:pt x="82098" y="59362"/>
                      <a:pt x="84381" y="61004"/>
                      <a:pt x="87018" y="61634"/>
                    </a:cubicBezTo>
                    <a:cubicBezTo>
                      <a:pt x="48822" y="58830"/>
                      <a:pt x="15320" y="35101"/>
                      <a:pt x="0" y="0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37000" y="2184400"/>
                <a:ext cx="32401" cy="40078"/>
              </a:xfrm>
              <a:custGeom>
                <a:avLst/>
                <a:gdLst/>
                <a:ahLst/>
                <a:cxnLst/>
                <a:rect l="l" t="t" r="r" b="b"/>
                <a:pathLst>
                  <a:path w="32401" h="40078">
                    <a:moveTo>
                      <a:pt x="32401" y="0"/>
                    </a:moveTo>
                    <a:cubicBezTo>
                      <a:pt x="28781" y="14012"/>
                      <a:pt x="23334" y="27486"/>
                      <a:pt x="16200" y="40078"/>
                    </a:cubicBezTo>
                    <a:cubicBezTo>
                      <a:pt x="9067" y="27486"/>
                      <a:pt x="3620" y="14012"/>
                      <a:pt x="0" y="0"/>
                    </a:cubicBezTo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49303" y="2122488"/>
                <a:ext cx="6297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2973" h="41275">
                    <a:moveTo>
                      <a:pt x="62973" y="0"/>
                    </a:moveTo>
                    <a:cubicBezTo>
                      <a:pt x="61439" y="13716"/>
                      <a:pt x="61439" y="27559"/>
                      <a:pt x="62973" y="41275"/>
                    </a:cubicBezTo>
                    <a:lnTo>
                      <a:pt x="2794" y="41275"/>
                    </a:lnTo>
                    <a:cubicBezTo>
                      <a:pt x="7" y="27658"/>
                      <a:pt x="0" y="13619"/>
                      <a:pt x="2773" y="0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31331" y="2122488"/>
                <a:ext cx="43738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3738" h="41275">
                    <a:moveTo>
                      <a:pt x="42011" y="0"/>
                    </a:moveTo>
                    <a:cubicBezTo>
                      <a:pt x="43738" y="13704"/>
                      <a:pt x="43738" y="27571"/>
                      <a:pt x="42011" y="41275"/>
                    </a:cubicBezTo>
                    <a:lnTo>
                      <a:pt x="1727" y="41275"/>
                    </a:lnTo>
                    <a:cubicBezTo>
                      <a:pt x="0" y="27571"/>
                      <a:pt x="0" y="13704"/>
                      <a:pt x="1727" y="0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94124" y="2122488"/>
                <a:ext cx="62958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2958" h="41275">
                    <a:moveTo>
                      <a:pt x="60200" y="0"/>
                    </a:moveTo>
                    <a:cubicBezTo>
                      <a:pt x="62958" y="13621"/>
                      <a:pt x="62951" y="27657"/>
                      <a:pt x="60179" y="41275"/>
                    </a:cubicBezTo>
                    <a:lnTo>
                      <a:pt x="0" y="41275"/>
                    </a:lnTo>
                    <a:cubicBezTo>
                      <a:pt x="1537" y="27561"/>
                      <a:pt x="1537" y="13724"/>
                      <a:pt x="0" y="0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58598" y="2040216"/>
                <a:ext cx="87039" cy="61634"/>
              </a:xfrm>
              <a:custGeom>
                <a:avLst/>
                <a:gdLst/>
                <a:ahLst/>
                <a:cxnLst/>
                <a:rect l="l" t="t" r="r" b="b"/>
                <a:pathLst>
                  <a:path w="87039" h="61634">
                    <a:moveTo>
                      <a:pt x="87039" y="0"/>
                    </a:moveTo>
                    <a:cubicBezTo>
                      <a:pt x="84404" y="635"/>
                      <a:pt x="82124" y="2280"/>
                      <a:pt x="80693" y="4582"/>
                    </a:cubicBezTo>
                    <a:cubicBezTo>
                      <a:pt x="69724" y="22154"/>
                      <a:pt x="61772" y="41438"/>
                      <a:pt x="57166" y="61634"/>
                    </a:cubicBezTo>
                    <a:lnTo>
                      <a:pt x="0" y="61634"/>
                    </a:lnTo>
                    <a:cubicBezTo>
                      <a:pt x="15186" y="26877"/>
                      <a:pt x="48200" y="3240"/>
                      <a:pt x="85996" y="62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37000" y="2061772"/>
                <a:ext cx="32401" cy="40088"/>
              </a:xfrm>
              <a:custGeom>
                <a:avLst/>
                <a:gdLst/>
                <a:ahLst/>
                <a:cxnLst/>
                <a:rect l="l" t="t" r="r" b="b"/>
                <a:pathLst>
                  <a:path w="32401" h="40088">
                    <a:moveTo>
                      <a:pt x="16200" y="0"/>
                    </a:moveTo>
                    <a:cubicBezTo>
                      <a:pt x="23335" y="12595"/>
                      <a:pt x="28781" y="26073"/>
                      <a:pt x="32401" y="40088"/>
                    </a:cubicBezTo>
                    <a:lnTo>
                      <a:pt x="0" y="40088"/>
                    </a:lnTo>
                    <a:cubicBezTo>
                      <a:pt x="3508" y="26499"/>
                      <a:pt x="8771" y="13260"/>
                      <a:pt x="15788" y="702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60764" y="2040206"/>
                <a:ext cx="87039" cy="61644"/>
              </a:xfrm>
              <a:custGeom>
                <a:avLst/>
                <a:gdLst/>
                <a:ahLst/>
                <a:cxnLst/>
                <a:rect l="l" t="t" r="r" b="b"/>
                <a:pathLst>
                  <a:path w="87039" h="61644">
                    <a:moveTo>
                      <a:pt x="0" y="0"/>
                    </a:moveTo>
                    <a:cubicBezTo>
                      <a:pt x="38198" y="2821"/>
                      <a:pt x="71699" y="26548"/>
                      <a:pt x="87039" y="61644"/>
                    </a:cubicBezTo>
                    <a:lnTo>
                      <a:pt x="29873" y="61644"/>
                    </a:lnTo>
                    <a:cubicBezTo>
                      <a:pt x="25268" y="41444"/>
                      <a:pt x="17316" y="22157"/>
                      <a:pt x="6346" y="4582"/>
                    </a:cubicBezTo>
                    <a:cubicBezTo>
                      <a:pt x="5105" y="2593"/>
                      <a:pt x="3223" y="1086"/>
                      <a:pt x="1011" y="310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3225" y="204787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4336"/>
                  </a:solidFill>
                  <a:latin typeface="Arial"/>
                  <a:ea typeface="SimHei"/>
                  <a:cs typeface="Arial"/>
                </a:rPr>
                <a:t>面对中国区的盲区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6481762" y="2664142"/>
              <a:ext cx="5524072" cy="274320"/>
              <a:chOff x="6481762" y="2664142"/>
              <a:chExt cx="5524072" cy="27432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81762" y="267808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60800" y="54206"/>
                    </a:moveTo>
                    <a:cubicBezTo>
                      <a:pt x="57703" y="52363"/>
                      <a:pt x="53718" y="53115"/>
                      <a:pt x="51506" y="55961"/>
                    </a:cubicBezTo>
                    <a:cubicBezTo>
                      <a:pt x="49294" y="58806"/>
                      <a:pt x="49549" y="62854"/>
                      <a:pt x="52099" y="65401"/>
                    </a:cubicBezTo>
                    <a:lnTo>
                      <a:pt x="61329" y="74637"/>
                    </a:lnTo>
                    <a:lnTo>
                      <a:pt x="52099" y="83874"/>
                    </a:lnTo>
                    <a:lnTo>
                      <a:pt x="51506" y="84546"/>
                    </a:lnTo>
                    <a:cubicBezTo>
                      <a:pt x="49202" y="87526"/>
                      <a:pt x="49608" y="91783"/>
                      <a:pt x="52433" y="94274"/>
                    </a:cubicBezTo>
                    <a:cubicBezTo>
                      <a:pt x="55258" y="96765"/>
                      <a:pt x="59533" y="96635"/>
                      <a:pt x="62201" y="93976"/>
                    </a:cubicBezTo>
                    <a:lnTo>
                      <a:pt x="71438" y="84746"/>
                    </a:lnTo>
                    <a:lnTo>
                      <a:pt x="80674" y="93976"/>
                    </a:lnTo>
                    <a:lnTo>
                      <a:pt x="81346" y="94569"/>
                    </a:lnTo>
                    <a:cubicBezTo>
                      <a:pt x="84326" y="96873"/>
                      <a:pt x="88583" y="96467"/>
                      <a:pt x="91074" y="93642"/>
                    </a:cubicBezTo>
                    <a:cubicBezTo>
                      <a:pt x="93565" y="90817"/>
                      <a:pt x="93435" y="86542"/>
                      <a:pt x="90776" y="83874"/>
                    </a:cubicBezTo>
                    <a:lnTo>
                      <a:pt x="81546" y="74637"/>
                    </a:lnTo>
                    <a:lnTo>
                      <a:pt x="90776" y="65401"/>
                    </a:lnTo>
                    <a:lnTo>
                      <a:pt x="91369" y="64729"/>
                    </a:lnTo>
                    <a:cubicBezTo>
                      <a:pt x="93673" y="61749"/>
                      <a:pt x="93267" y="57492"/>
                      <a:pt x="90442" y="55001"/>
                    </a:cubicBezTo>
                    <a:cubicBezTo>
                      <a:pt x="87617" y="52510"/>
                      <a:pt x="83342" y="52640"/>
                      <a:pt x="80674" y="55299"/>
                    </a:cubicBezTo>
                    <a:lnTo>
                      <a:pt x="71438" y="64529"/>
                    </a:lnTo>
                    <a:lnTo>
                      <a:pt x="62201" y="55299"/>
                    </a:lnTo>
                    <a:lnTo>
                      <a:pt x="61529" y="54706"/>
                    </a:ln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717030" y="2664142"/>
                <a:ext cx="528880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cn-north-1 / cn-northwest-1 不在 enabled associations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496050" y="3188018"/>
              <a:ext cx="4287345" cy="274320"/>
              <a:chOff x="6496050" y="3188018"/>
              <a:chExt cx="4287345" cy="27432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496050" y="3205162"/>
                <a:ext cx="1143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42875">
                    <a:moveTo>
                      <a:pt x="57150" y="0"/>
                    </a:moveTo>
                    <a:cubicBezTo>
                      <a:pt x="76877" y="0"/>
                      <a:pt x="92869" y="15992"/>
                      <a:pt x="92869" y="35719"/>
                    </a:cubicBezTo>
                    <a:lnTo>
                      <a:pt x="92869" y="57150"/>
                    </a:lnTo>
                    <a:cubicBezTo>
                      <a:pt x="104705" y="57150"/>
                      <a:pt x="114300" y="66745"/>
                      <a:pt x="114300" y="78581"/>
                    </a:cubicBezTo>
                    <a:lnTo>
                      <a:pt x="114300" y="121444"/>
                    </a:lnTo>
                    <a:cubicBezTo>
                      <a:pt x="114300" y="133280"/>
                      <a:pt x="104705" y="142875"/>
                      <a:pt x="92869" y="142875"/>
                    </a:cubicBezTo>
                    <a:lnTo>
                      <a:pt x="21431" y="142875"/>
                    </a:lnTo>
                    <a:cubicBezTo>
                      <a:pt x="9595" y="142875"/>
                      <a:pt x="0" y="133280"/>
                      <a:pt x="0" y="121444"/>
                    </a:cubicBezTo>
                    <a:lnTo>
                      <a:pt x="0" y="78581"/>
                    </a:lnTo>
                    <a:cubicBezTo>
                      <a:pt x="0" y="66745"/>
                      <a:pt x="9595" y="57150"/>
                      <a:pt x="21431" y="57150"/>
                    </a:cubicBezTo>
                    <a:lnTo>
                      <a:pt x="21431" y="35719"/>
                    </a:lnTo>
                    <a:cubicBezTo>
                      <a:pt x="21431" y="15992"/>
                      <a:pt x="37423" y="0"/>
                      <a:pt x="57150" y="0"/>
                    </a:cubicBezTo>
                    <a:moveTo>
                      <a:pt x="57150" y="85725"/>
                    </a:moveTo>
                    <a:cubicBezTo>
                      <a:pt x="49673" y="85723"/>
                      <a:pt x="43459" y="91485"/>
                      <a:pt x="42898" y="98941"/>
                    </a:cubicBezTo>
                    <a:lnTo>
                      <a:pt x="42862" y="100012"/>
                    </a:lnTo>
                    <a:cubicBezTo>
                      <a:pt x="42862" y="107903"/>
                      <a:pt x="49259" y="114300"/>
                      <a:pt x="57150" y="114300"/>
                    </a:cubicBezTo>
                    <a:cubicBezTo>
                      <a:pt x="65041" y="114300"/>
                      <a:pt x="71438" y="107903"/>
                      <a:pt x="71438" y="100012"/>
                    </a:cubicBezTo>
                    <a:cubicBezTo>
                      <a:pt x="71438" y="92122"/>
                      <a:pt x="65041" y="85725"/>
                      <a:pt x="57150" y="85725"/>
                    </a:cubicBezTo>
                    <a:moveTo>
                      <a:pt x="57150" y="14288"/>
                    </a:moveTo>
                    <a:cubicBezTo>
                      <a:pt x="45314" y="14288"/>
                      <a:pt x="35719" y="23883"/>
                      <a:pt x="35719" y="35719"/>
                    </a:cubicBezTo>
                    <a:lnTo>
                      <a:pt x="35719" y="57150"/>
                    </a:lnTo>
                    <a:lnTo>
                      <a:pt x="78581" y="57150"/>
                    </a:lnTo>
                    <a:lnTo>
                      <a:pt x="78581" y="35719"/>
                    </a:lnTo>
                    <a:cubicBezTo>
                      <a:pt x="78581" y="23883"/>
                      <a:pt x="68986" y="14288"/>
                      <a:pt x="57150" y="14288"/>
                    </a:cubicBezTo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717030" y="3188018"/>
                <a:ext cx="406636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cn AK/SK 走不通 us-east-1 IAM / STS 信任链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481762" y="3711892"/>
              <a:ext cx="4331208" cy="274320"/>
              <a:chOff x="6481762" y="3711892"/>
              <a:chExt cx="4331208" cy="27432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81762" y="3720911"/>
                <a:ext cx="142875" cy="1590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59088">
                    <a:moveTo>
                      <a:pt x="60186" y="3940"/>
                    </a:moveTo>
                    <a:cubicBezTo>
                      <a:pt x="66864" y="258"/>
                      <a:pt x="74903" y="0"/>
                      <a:pt x="81803" y="3247"/>
                    </a:cubicBezTo>
                    <a:lnTo>
                      <a:pt x="83160" y="3940"/>
                    </a:lnTo>
                    <a:lnTo>
                      <a:pt x="131559" y="32480"/>
                    </a:lnTo>
                    <a:lnTo>
                      <a:pt x="132245" y="32930"/>
                    </a:lnTo>
                    <a:lnTo>
                      <a:pt x="132902" y="33480"/>
                    </a:lnTo>
                    <a:lnTo>
                      <a:pt x="133667" y="34015"/>
                    </a:lnTo>
                    <a:cubicBezTo>
                      <a:pt x="138683" y="37777"/>
                      <a:pt x="141949" y="43422"/>
                      <a:pt x="142711" y="49646"/>
                    </a:cubicBezTo>
                    <a:lnTo>
                      <a:pt x="142839" y="51089"/>
                    </a:lnTo>
                    <a:lnTo>
                      <a:pt x="142875" y="52546"/>
                    </a:lnTo>
                    <a:lnTo>
                      <a:pt x="142875" y="104581"/>
                    </a:lnTo>
                    <a:cubicBezTo>
                      <a:pt x="142875" y="112482"/>
                      <a:pt x="138803" y="119790"/>
                      <a:pt x="132488" y="123820"/>
                    </a:cubicBezTo>
                    <a:lnTo>
                      <a:pt x="131274" y="124534"/>
                    </a:lnTo>
                    <a:lnTo>
                      <a:pt x="82675" y="155266"/>
                    </a:lnTo>
                    <a:cubicBezTo>
                      <a:pt x="76117" y="158867"/>
                      <a:pt x="68251" y="159088"/>
                      <a:pt x="61215" y="155752"/>
                    </a:cubicBezTo>
                    <a:lnTo>
                      <a:pt x="59815" y="155038"/>
                    </a:lnTo>
                    <a:lnTo>
                      <a:pt x="11987" y="124770"/>
                    </a:lnTo>
                    <a:cubicBezTo>
                      <a:pt x="5069" y="120987"/>
                      <a:pt x="565" y="113929"/>
                      <a:pt x="50" y="106060"/>
                    </a:cubicBezTo>
                    <a:lnTo>
                      <a:pt x="0" y="104581"/>
                    </a:lnTo>
                    <a:lnTo>
                      <a:pt x="0" y="52539"/>
                    </a:lnTo>
                    <a:cubicBezTo>
                      <a:pt x="0" y="44638"/>
                      <a:pt x="4072" y="37337"/>
                      <a:pt x="10544" y="33215"/>
                    </a:cubicBezTo>
                    <a:lnTo>
                      <a:pt x="60193" y="3940"/>
                    </a:lnTo>
                    <a:close/>
                    <a:moveTo>
                      <a:pt x="71509" y="100995"/>
                    </a:moveTo>
                    <a:lnTo>
                      <a:pt x="70602" y="101045"/>
                    </a:lnTo>
                    <a:cubicBezTo>
                      <a:pt x="67008" y="101473"/>
                      <a:pt x="64302" y="104520"/>
                      <a:pt x="64302" y="108139"/>
                    </a:cubicBezTo>
                    <a:cubicBezTo>
                      <a:pt x="64302" y="111758"/>
                      <a:pt x="67008" y="114805"/>
                      <a:pt x="70602" y="115233"/>
                    </a:cubicBezTo>
                    <a:lnTo>
                      <a:pt x="71438" y="115283"/>
                    </a:lnTo>
                    <a:lnTo>
                      <a:pt x="72345" y="115233"/>
                    </a:lnTo>
                    <a:cubicBezTo>
                      <a:pt x="75938" y="114805"/>
                      <a:pt x="78645" y="111758"/>
                      <a:pt x="78645" y="108139"/>
                    </a:cubicBezTo>
                    <a:cubicBezTo>
                      <a:pt x="78645" y="104520"/>
                      <a:pt x="75938" y="101473"/>
                      <a:pt x="72345" y="101045"/>
                    </a:cubicBezTo>
                    <a:lnTo>
                      <a:pt x="71509" y="100995"/>
                    </a:lnTo>
                    <a:close/>
                    <a:moveTo>
                      <a:pt x="71438" y="43845"/>
                    </a:moveTo>
                    <a:cubicBezTo>
                      <a:pt x="67816" y="43846"/>
                      <a:pt x="64767" y="46556"/>
                      <a:pt x="64344" y="50153"/>
                    </a:cubicBezTo>
                    <a:lnTo>
                      <a:pt x="64294" y="50989"/>
                    </a:lnTo>
                    <a:lnTo>
                      <a:pt x="64294" y="79564"/>
                    </a:lnTo>
                    <a:lnTo>
                      <a:pt x="64344" y="80400"/>
                    </a:lnTo>
                    <a:cubicBezTo>
                      <a:pt x="64771" y="83994"/>
                      <a:pt x="67818" y="86700"/>
                      <a:pt x="71438" y="86700"/>
                    </a:cubicBezTo>
                    <a:cubicBezTo>
                      <a:pt x="75057" y="86700"/>
                      <a:pt x="78104" y="83994"/>
                      <a:pt x="78531" y="80400"/>
                    </a:cubicBezTo>
                    <a:lnTo>
                      <a:pt x="78581" y="79564"/>
                    </a:lnTo>
                    <a:lnTo>
                      <a:pt x="78581" y="50989"/>
                    </a:lnTo>
                    <a:lnTo>
                      <a:pt x="78531" y="50153"/>
                    </a:lnTo>
                    <a:cubicBezTo>
                      <a:pt x="78108" y="46556"/>
                      <a:pt x="75059" y="43846"/>
                      <a:pt x="71438" y="43845"/>
                    </a:cubicBez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717030" y="3711892"/>
                <a:ext cx="40959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原生 sub-agent 调 cn API 直接 AccessDenied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81762" y="4235768"/>
              <a:ext cx="5188887" cy="274320"/>
              <a:chOff x="6481762" y="4235768"/>
              <a:chExt cx="5188887" cy="27432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81762" y="4249713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60800" y="54206"/>
                    </a:moveTo>
                    <a:cubicBezTo>
                      <a:pt x="57703" y="52363"/>
                      <a:pt x="53718" y="53115"/>
                      <a:pt x="51506" y="55961"/>
                    </a:cubicBezTo>
                    <a:cubicBezTo>
                      <a:pt x="49294" y="58806"/>
                      <a:pt x="49549" y="62854"/>
                      <a:pt x="52099" y="65401"/>
                    </a:cubicBezTo>
                    <a:lnTo>
                      <a:pt x="61329" y="74637"/>
                    </a:lnTo>
                    <a:lnTo>
                      <a:pt x="52099" y="83874"/>
                    </a:lnTo>
                    <a:lnTo>
                      <a:pt x="51506" y="84546"/>
                    </a:lnTo>
                    <a:cubicBezTo>
                      <a:pt x="49202" y="87526"/>
                      <a:pt x="49608" y="91783"/>
                      <a:pt x="52433" y="94274"/>
                    </a:cubicBezTo>
                    <a:cubicBezTo>
                      <a:pt x="55258" y="96765"/>
                      <a:pt x="59533" y="96635"/>
                      <a:pt x="62201" y="93976"/>
                    </a:cubicBezTo>
                    <a:lnTo>
                      <a:pt x="71438" y="84746"/>
                    </a:lnTo>
                    <a:lnTo>
                      <a:pt x="80674" y="93976"/>
                    </a:lnTo>
                    <a:lnTo>
                      <a:pt x="81346" y="94569"/>
                    </a:lnTo>
                    <a:cubicBezTo>
                      <a:pt x="84326" y="96873"/>
                      <a:pt x="88583" y="96467"/>
                      <a:pt x="91074" y="93642"/>
                    </a:cubicBezTo>
                    <a:cubicBezTo>
                      <a:pt x="93565" y="90817"/>
                      <a:pt x="93435" y="86542"/>
                      <a:pt x="90776" y="83874"/>
                    </a:cubicBezTo>
                    <a:lnTo>
                      <a:pt x="81546" y="74637"/>
                    </a:lnTo>
                    <a:lnTo>
                      <a:pt x="90776" y="65401"/>
                    </a:lnTo>
                    <a:lnTo>
                      <a:pt x="91369" y="64729"/>
                    </a:lnTo>
                    <a:cubicBezTo>
                      <a:pt x="93673" y="61749"/>
                      <a:pt x="93267" y="57492"/>
                      <a:pt x="90442" y="55001"/>
                    </a:cubicBezTo>
                    <a:cubicBezTo>
                      <a:pt x="87617" y="52510"/>
                      <a:pt x="83342" y="52640"/>
                      <a:pt x="80674" y="55299"/>
                    </a:cubicBezTo>
                    <a:lnTo>
                      <a:pt x="71438" y="64529"/>
                    </a:lnTo>
                    <a:lnTo>
                      <a:pt x="62201" y="55299"/>
                    </a:lnTo>
                    <a:lnTo>
                      <a:pt x="61529" y="54706"/>
                    </a:ln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717030" y="4235768"/>
                <a:ext cx="49536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CloudWatch alarm 不能直接打 DevOps Agent webhook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481762" y="4759642"/>
              <a:ext cx="3818573" cy="274320"/>
              <a:chOff x="6481762" y="4759642"/>
              <a:chExt cx="3818573" cy="27432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81762" y="4773588"/>
                <a:ext cx="150233" cy="150479"/>
              </a:xfrm>
              <a:custGeom>
                <a:avLst/>
                <a:gdLst/>
                <a:ahLst/>
                <a:cxnLst/>
                <a:rect l="l" t="t" r="r" b="b"/>
                <a:pathLst>
                  <a:path w="150233" h="150479">
                    <a:moveTo>
                      <a:pt x="107156" y="12773"/>
                    </a:moveTo>
                    <a:cubicBezTo>
                      <a:pt x="136927" y="29962"/>
                      <a:pt x="150233" y="65918"/>
                      <a:pt x="138824" y="98346"/>
                    </a:cubicBezTo>
                    <a:cubicBezTo>
                      <a:pt x="127416" y="130775"/>
                      <a:pt x="94528" y="150479"/>
                      <a:pt x="60552" y="145242"/>
                    </a:cubicBezTo>
                    <a:cubicBezTo>
                      <a:pt x="26577" y="140004"/>
                      <a:pt x="1149" y="111311"/>
                      <a:pt x="36" y="76952"/>
                    </a:cubicBezTo>
                    <a:lnTo>
                      <a:pt x="0" y="74637"/>
                    </a:lnTo>
                    <a:lnTo>
                      <a:pt x="36" y="72323"/>
                    </a:lnTo>
                    <a:cubicBezTo>
                      <a:pt x="850" y="47227"/>
                      <a:pt x="14779" y="24400"/>
                      <a:pt x="36725" y="12200"/>
                    </a:cubicBezTo>
                    <a:cubicBezTo>
                      <a:pt x="58671" y="0"/>
                      <a:pt x="85411" y="217"/>
                      <a:pt x="107156" y="12773"/>
                    </a:cubicBezTo>
                    <a:close/>
                    <a:moveTo>
                      <a:pt x="60800" y="54206"/>
                    </a:moveTo>
                    <a:cubicBezTo>
                      <a:pt x="57703" y="52363"/>
                      <a:pt x="53718" y="53115"/>
                      <a:pt x="51506" y="55961"/>
                    </a:cubicBezTo>
                    <a:cubicBezTo>
                      <a:pt x="49294" y="58806"/>
                      <a:pt x="49549" y="62854"/>
                      <a:pt x="52099" y="65401"/>
                    </a:cubicBezTo>
                    <a:lnTo>
                      <a:pt x="61329" y="74637"/>
                    </a:lnTo>
                    <a:lnTo>
                      <a:pt x="52099" y="83874"/>
                    </a:lnTo>
                    <a:lnTo>
                      <a:pt x="51506" y="84546"/>
                    </a:lnTo>
                    <a:cubicBezTo>
                      <a:pt x="49202" y="87526"/>
                      <a:pt x="49608" y="91783"/>
                      <a:pt x="52433" y="94274"/>
                    </a:cubicBezTo>
                    <a:cubicBezTo>
                      <a:pt x="55258" y="96765"/>
                      <a:pt x="59533" y="96635"/>
                      <a:pt x="62201" y="93976"/>
                    </a:cubicBezTo>
                    <a:lnTo>
                      <a:pt x="71438" y="84746"/>
                    </a:lnTo>
                    <a:lnTo>
                      <a:pt x="80674" y="93976"/>
                    </a:lnTo>
                    <a:lnTo>
                      <a:pt x="81346" y="94569"/>
                    </a:lnTo>
                    <a:cubicBezTo>
                      <a:pt x="84326" y="96873"/>
                      <a:pt x="88583" y="96467"/>
                      <a:pt x="91074" y="93642"/>
                    </a:cubicBezTo>
                    <a:cubicBezTo>
                      <a:pt x="93565" y="90817"/>
                      <a:pt x="93435" y="86542"/>
                      <a:pt x="90776" y="83874"/>
                    </a:cubicBezTo>
                    <a:lnTo>
                      <a:pt x="81546" y="74637"/>
                    </a:lnTo>
                    <a:lnTo>
                      <a:pt x="90776" y="65401"/>
                    </a:lnTo>
                    <a:lnTo>
                      <a:pt x="91369" y="64729"/>
                    </a:lnTo>
                    <a:cubicBezTo>
                      <a:pt x="93673" y="61749"/>
                      <a:pt x="93267" y="57492"/>
                      <a:pt x="90442" y="55001"/>
                    </a:cubicBezTo>
                    <a:cubicBezTo>
                      <a:pt x="87617" y="52510"/>
                      <a:pt x="83342" y="52640"/>
                      <a:pt x="80674" y="55299"/>
                    </a:cubicBezTo>
                    <a:lnTo>
                      <a:pt x="71438" y="64529"/>
                    </a:lnTo>
                    <a:lnTo>
                      <a:pt x="62201" y="55299"/>
                    </a:lnTo>
                    <a:lnTo>
                      <a:pt x="61529" y="54706"/>
                    </a:lnTo>
                    <a:close/>
                  </a:path>
                </a:pathLst>
              </a:cu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717030" y="4759642"/>
                <a:ext cx="358330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中国区 partition ARN 不被原生流程认识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391275" y="5219700"/>
              <a:ext cx="5076825" cy="609600"/>
              <a:chOff x="6391275" y="5219700"/>
              <a:chExt cx="5076825" cy="6096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6391275" y="5219700"/>
                <a:ext cx="5076825" cy="609600"/>
              </a:xfrm>
              <a:prstGeom prst="roundRect">
                <a:avLst>
                  <a:gd name="adj" fmla="val 12500"/>
                </a:avLst>
              </a:prstGeom>
              <a:solidFill>
                <a:srgbClr val="0F1419"/>
              </a:solidFill>
              <a:ln w="9525">
                <a:solidFill>
                  <a:srgbClr val="FF9800">
                    <a:alpha val="60000"/>
                  </a:srgbClr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6512242" y="5343049"/>
                <a:ext cx="20112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// agent 自己 thinking 里说：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512242" y="5562124"/>
                <a:ext cx="42255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"China accounts aren't directly in the enabled associations"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68" name="TextBox 68"/>
            <p:cNvSpPr txBox="1"/>
            <p:nvPr/>
          </p:nvSpPr>
          <p:spPr>
            <a:xfrm>
              <a:off x="561022" y="6483191"/>
              <a:ext cx="35814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来源：C2 调查 journal recordId 8e7a143f · 2026-05-14 13:24 BJ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22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695450" y="1695450"/>
            <a:ext cx="8986837" cy="4033837"/>
            <a:chOff x="1695450" y="1695450"/>
            <a:chExt cx="8986837" cy="4033837"/>
          </a:xfrm>
        </p:grpSpPr>
        <p:sp>
          <p:nvSpPr>
            <p:cNvPr id="5" name="Ellipse 5"/>
            <p:cNvSpPr/>
            <p:nvPr/>
          </p:nvSpPr>
          <p:spPr>
            <a:xfrm>
              <a:off x="1695450" y="1695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4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081212" y="5700712"/>
              <a:ext cx="28575" cy="28575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53712" y="5510212"/>
              <a:ext cx="28575" cy="28575"/>
            </a:xfrm>
            <a:prstGeom prst="ellipse">
              <a:avLst/>
            </a:prstGeom>
            <a:solidFill>
              <a:srgbClr val="42A5F5">
                <a:alpha val="4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0" y="1029652"/>
            <a:ext cx="762000" cy="265748"/>
            <a:chOff x="5715000" y="1029652"/>
            <a:chExt cx="762000" cy="265748"/>
          </a:xfrm>
        </p:grpSpPr>
        <p:sp>
          <p:nvSpPr>
            <p:cNvPr id="10" name="TextBox 10"/>
            <p:cNvSpPr txBox="1"/>
            <p:nvPr/>
          </p:nvSpPr>
          <p:spPr>
            <a:xfrm>
              <a:off x="5760625" y="10296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项目意义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0" y="128587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811404" y="1613535"/>
            <a:ext cx="6569192" cy="548640"/>
            <a:chOff x="2811404" y="1613535"/>
            <a:chExt cx="6569192" cy="548640"/>
          </a:xfrm>
        </p:grpSpPr>
        <p:sp>
          <p:nvSpPr>
            <p:cNvPr id="13" name="TextBox 13"/>
            <p:cNvSpPr txBox="1"/>
            <p:nvPr/>
          </p:nvSpPr>
          <p:spPr>
            <a:xfrm>
              <a:off x="2811404" y="1613535"/>
              <a:ext cx="65691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公开资料里第一次让 6C 落到中国区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19325" y="2324100"/>
            <a:ext cx="7753350" cy="2438400"/>
            <a:chOff x="2219325" y="2324100"/>
            <a:chExt cx="7753350" cy="2438400"/>
          </a:xfrm>
        </p:grpSpPr>
        <p:sp>
          <p:nvSpPr>
            <p:cNvPr id="15" name="TextBox 15"/>
            <p:cNvSpPr txBox="1"/>
            <p:nvPr/>
          </p:nvSpPr>
          <p:spPr>
            <a:xfrm>
              <a:off x="4931474" y="2324100"/>
              <a:ext cx="2329053" cy="243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gradFill>
                    <a:gsLst>
                      <a:gs pos="0">
                        <a:srgbClr val="FF9800"/>
                      </a:gs>
                      <a:gs pos="100000">
                        <a:srgbClr val="FFB74D"/>
                      </a:gs>
                    </a:gsLst>
                    <a:lin ang="0" scaled="1"/>
                  </a:gradFill>
                  <a:effectLst>
                    <a:glow rad="57150">
                      <a:srgbClr val="FF9800">
                        <a:alpha val="45000"/>
                      </a:srgbClr>
                    </a:glow>
                  </a:effectLst>
                  <a:latin typeface="Arial"/>
                  <a:ea typeface="SimHei"/>
                  <a:cs typeface="Arial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19325" y="3917632"/>
              <a:ext cx="7753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单次 incident 调查中，agent 经 MCP Bridge 调用 cn-* AWS API 的次数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7566" y="4292918"/>
              <a:ext cx="30568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0 次绕过 Bridge · 100% 透明可达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43000" y="5000625"/>
            <a:ext cx="9906000" cy="1047750"/>
            <a:chOff x="1143000" y="5000625"/>
            <a:chExt cx="9906000" cy="1047750"/>
          </a:xfrm>
        </p:grpSpPr>
        <p:grpSp>
          <p:nvGrpSpPr>
            <p:cNvPr id="24" name="Group 24"/>
            <p:cNvGrpSpPr/>
            <p:nvPr/>
          </p:nvGrpSpPr>
          <p:grpSpPr>
            <a:xfrm>
              <a:off x="1143000" y="5000625"/>
              <a:ext cx="3048000" cy="1047750"/>
              <a:chOff x="1143000" y="5000625"/>
              <a:chExt cx="3048000" cy="1047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143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2D374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347788" y="5257800"/>
                <a:ext cx="20002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55575">
                    <a:moveTo>
                      <a:pt x="166688" y="0"/>
                    </a:move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33350"/>
                    </a:lnTo>
                    <a:cubicBezTo>
                      <a:pt x="200025" y="145625"/>
                      <a:pt x="190075" y="155575"/>
                      <a:pt x="177800" y="155575"/>
                    </a:cubicBezTo>
                    <a:lnTo>
                      <a:pt x="155575" y="155575"/>
                    </a:lnTo>
                    <a:cubicBezTo>
                      <a:pt x="143300" y="155575"/>
                      <a:pt x="133350" y="145625"/>
                      <a:pt x="133350" y="133350"/>
                    </a:cubicBezTo>
                    <a:lnTo>
                      <a:pt x="133350" y="111125"/>
                    </a:lnTo>
                    <a:cubicBezTo>
                      <a:pt x="133350" y="92713"/>
                      <a:pt x="118424" y="77787"/>
                      <a:pt x="100012" y="77787"/>
                    </a:cubicBezTo>
                    <a:cubicBezTo>
                      <a:pt x="81601" y="77787"/>
                      <a:pt x="66675" y="92713"/>
                      <a:pt x="66675" y="111125"/>
                    </a:cubicBezTo>
                    <a:lnTo>
                      <a:pt x="66675" y="133350"/>
                    </a:lnTo>
                    <a:cubicBezTo>
                      <a:pt x="66675" y="145625"/>
                      <a:pt x="56725" y="155575"/>
                      <a:pt x="44450" y="155575"/>
                    </a:cubicBezTo>
                    <a:lnTo>
                      <a:pt x="22225" y="155575"/>
                    </a:lnTo>
                    <a:cubicBezTo>
                      <a:pt x="9950" y="155575"/>
                      <a:pt x="0" y="145625"/>
                      <a:pt x="0" y="133350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621155" y="5245418"/>
                <a:ext cx="15869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MCP Bridge 架构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01115" y="5601652"/>
                <a:ext cx="23652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us-east-1 EKS 上跑 MCP server,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01115" y="5792152"/>
                <a:ext cx="23576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用 cn AK/SK 帮 agent 调用 cn API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572000" y="5000625"/>
              <a:ext cx="3857577" cy="1047750"/>
              <a:chOff x="4572000" y="5000625"/>
              <a:chExt cx="3857577" cy="10477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572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FF9800">
                    <a:alpha val="5000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65674" y="5208372"/>
                <a:ext cx="233994" cy="234907"/>
              </a:xfrm>
              <a:custGeom>
                <a:avLst/>
                <a:gdLst/>
                <a:ahLst/>
                <a:cxnLst/>
                <a:rect l="l" t="t" r="r" b="b"/>
                <a:pathLst>
                  <a:path w="233994" h="234907">
                    <a:moveTo>
                      <a:pt x="166689" y="19868"/>
                    </a:moveTo>
                    <a:cubicBezTo>
                      <a:pt x="213392" y="46833"/>
                      <a:pt x="233994" y="103437"/>
                      <a:pt x="215549" y="154113"/>
                    </a:cubicBezTo>
                    <a:cubicBezTo>
                      <a:pt x="197104" y="204790"/>
                      <a:pt x="144937" y="234907"/>
                      <a:pt x="91828" y="225542"/>
                    </a:cubicBezTo>
                    <a:cubicBezTo>
                      <a:pt x="38719" y="216176"/>
                      <a:pt x="0" y="170031"/>
                      <a:pt x="1" y="116103"/>
                    </a:cubicBezTo>
                    <a:lnTo>
                      <a:pt x="57" y="112502"/>
                    </a:lnTo>
                    <a:cubicBezTo>
                      <a:pt x="1323" y="73464"/>
                      <a:pt x="22991" y="37956"/>
                      <a:pt x="57130" y="18978"/>
                    </a:cubicBezTo>
                    <a:cubicBezTo>
                      <a:pt x="91268" y="0"/>
                      <a:pt x="132863" y="338"/>
                      <a:pt x="166689" y="19868"/>
                    </a:cubicBezTo>
                    <a:moveTo>
                      <a:pt x="96758" y="86021"/>
                    </a:moveTo>
                    <a:cubicBezTo>
                      <a:pt x="92418" y="81683"/>
                      <a:pt x="85384" y="81683"/>
                      <a:pt x="81045" y="86021"/>
                    </a:cubicBezTo>
                    <a:lnTo>
                      <a:pt x="58820" y="108246"/>
                    </a:lnTo>
                    <a:cubicBezTo>
                      <a:pt x="54482" y="112586"/>
                      <a:pt x="54482" y="119620"/>
                      <a:pt x="58820" y="123959"/>
                    </a:cubicBezTo>
                    <a:lnTo>
                      <a:pt x="81045" y="146184"/>
                    </a:lnTo>
                    <a:cubicBezTo>
                      <a:pt x="85384" y="150522"/>
                      <a:pt x="92418" y="150522"/>
                      <a:pt x="96758" y="146184"/>
                    </a:cubicBezTo>
                    <a:lnTo>
                      <a:pt x="97680" y="145140"/>
                    </a:lnTo>
                    <a:cubicBezTo>
                      <a:pt x="101112" y="140716"/>
                      <a:pt x="100717" y="134430"/>
                      <a:pt x="96758" y="130471"/>
                    </a:cubicBezTo>
                    <a:lnTo>
                      <a:pt x="82401" y="116103"/>
                    </a:lnTo>
                    <a:lnTo>
                      <a:pt x="96758" y="101734"/>
                    </a:lnTo>
                    <a:cubicBezTo>
                      <a:pt x="101096" y="97395"/>
                      <a:pt x="101096" y="90361"/>
                      <a:pt x="96758" y="86021"/>
                    </a:cubicBezTo>
                    <a:moveTo>
                      <a:pt x="141208" y="86021"/>
                    </a:moveTo>
                    <a:cubicBezTo>
                      <a:pt x="136868" y="81683"/>
                      <a:pt x="129834" y="81683"/>
                      <a:pt x="125495" y="86021"/>
                    </a:cubicBezTo>
                    <a:lnTo>
                      <a:pt x="124572" y="87066"/>
                    </a:lnTo>
                    <a:cubicBezTo>
                      <a:pt x="121141" y="91489"/>
                      <a:pt x="121536" y="97775"/>
                      <a:pt x="125495" y="101734"/>
                    </a:cubicBezTo>
                    <a:lnTo>
                      <a:pt x="139852" y="116103"/>
                    </a:lnTo>
                    <a:lnTo>
                      <a:pt x="125495" y="130471"/>
                    </a:lnTo>
                    <a:cubicBezTo>
                      <a:pt x="121284" y="134831"/>
                      <a:pt x="121344" y="141762"/>
                      <a:pt x="125630" y="146049"/>
                    </a:cubicBezTo>
                    <a:cubicBezTo>
                      <a:pt x="129917" y="150335"/>
                      <a:pt x="136848" y="150396"/>
                      <a:pt x="141208" y="146184"/>
                    </a:cubicBezTo>
                    <a:lnTo>
                      <a:pt x="163433" y="123959"/>
                    </a:lnTo>
                    <a:cubicBezTo>
                      <a:pt x="167771" y="119620"/>
                      <a:pt x="167771" y="112586"/>
                      <a:pt x="163433" y="10824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050155" y="5245418"/>
                <a:ext cx="15145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9 个自定义 Skill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730115" y="5601652"/>
                <a:ext cx="29327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routing / inventory / cost / security /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730115" y="5792152"/>
                <a:ext cx="36994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prevention / triage / rca / mitigation / partition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01000" y="5000625"/>
              <a:ext cx="3048000" cy="1047750"/>
              <a:chOff x="8001000" y="5000625"/>
              <a:chExt cx="3048000" cy="10477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01000" y="5000625"/>
                <a:ext cx="3048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2332"/>
              </a:solidFill>
              <a:ln w="9525">
                <a:solidFill>
                  <a:srgbClr val="2D374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94675" y="5208372"/>
                <a:ext cx="233696" cy="234079"/>
              </a:xfrm>
              <a:custGeom>
                <a:avLst/>
                <a:gdLst/>
                <a:ahLst/>
                <a:cxnLst/>
                <a:rect l="l" t="t" r="r" b="b"/>
                <a:pathLst>
                  <a:path w="233696" h="234079">
                    <a:moveTo>
                      <a:pt x="166688" y="19868"/>
                    </a:moveTo>
                    <a:cubicBezTo>
                      <a:pt x="212998" y="46607"/>
                      <a:pt x="233696" y="102539"/>
                      <a:pt x="215949" y="152983"/>
                    </a:cubicBezTo>
                    <a:cubicBezTo>
                      <a:pt x="198202" y="203428"/>
                      <a:pt x="147043" y="234079"/>
                      <a:pt x="94192" y="225932"/>
                    </a:cubicBezTo>
                    <a:cubicBezTo>
                      <a:pt x="41341" y="217785"/>
                      <a:pt x="1788" y="173150"/>
                      <a:pt x="56" y="119703"/>
                    </a:cubicBezTo>
                    <a:lnTo>
                      <a:pt x="0" y="116103"/>
                    </a:lnTo>
                    <a:lnTo>
                      <a:pt x="56" y="112502"/>
                    </a:lnTo>
                    <a:cubicBezTo>
                      <a:pt x="1321" y="73464"/>
                      <a:pt x="22990" y="37956"/>
                      <a:pt x="57128" y="18978"/>
                    </a:cubicBezTo>
                    <a:cubicBezTo>
                      <a:pt x="91267" y="0"/>
                      <a:pt x="132862" y="338"/>
                      <a:pt x="166687" y="19868"/>
                    </a:cubicBezTo>
                    <a:close/>
                    <a:moveTo>
                      <a:pt x="152319" y="86021"/>
                    </a:moveTo>
                    <a:cubicBezTo>
                      <a:pt x="148360" y="82063"/>
                      <a:pt x="142074" y="81667"/>
                      <a:pt x="137651" y="85099"/>
                    </a:cubicBezTo>
                    <a:lnTo>
                      <a:pt x="136606" y="86021"/>
                    </a:lnTo>
                    <a:lnTo>
                      <a:pt x="100012" y="122604"/>
                    </a:lnTo>
                    <a:lnTo>
                      <a:pt x="85644" y="108246"/>
                    </a:lnTo>
                    <a:lnTo>
                      <a:pt x="84599" y="107324"/>
                    </a:lnTo>
                    <a:cubicBezTo>
                      <a:pt x="80176" y="103895"/>
                      <a:pt x="73892" y="104291"/>
                      <a:pt x="69934" y="108249"/>
                    </a:cubicBezTo>
                    <a:cubicBezTo>
                      <a:pt x="65976" y="112207"/>
                      <a:pt x="65580" y="118491"/>
                      <a:pt x="69009" y="122915"/>
                    </a:cubicBezTo>
                    <a:lnTo>
                      <a:pt x="69931" y="123959"/>
                    </a:lnTo>
                    <a:lnTo>
                      <a:pt x="92156" y="146184"/>
                    </a:lnTo>
                    <a:lnTo>
                      <a:pt x="93201" y="147107"/>
                    </a:lnTo>
                    <a:cubicBezTo>
                      <a:pt x="97209" y="150217"/>
                      <a:pt x="102816" y="150217"/>
                      <a:pt x="106824" y="147107"/>
                    </a:cubicBezTo>
                    <a:lnTo>
                      <a:pt x="107869" y="146184"/>
                    </a:lnTo>
                    <a:lnTo>
                      <a:pt x="152319" y="101734"/>
                    </a:lnTo>
                    <a:lnTo>
                      <a:pt x="153241" y="100690"/>
                    </a:lnTo>
                    <a:cubicBezTo>
                      <a:pt x="156673" y="96266"/>
                      <a:pt x="156278" y="89980"/>
                      <a:pt x="152319" y="86021"/>
                    </a:cubicBezTo>
                    <a:close/>
                  </a:path>
                </a:pathLst>
              </a:cu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479155" y="5245418"/>
                <a:ext cx="182506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3 个真实 case 闭环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59115" y="5601652"/>
                <a:ext cx="23116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C1 webhook 自主 / C2 时间锚定 /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59115" y="5792152"/>
                <a:ext cx="21045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C3 多跳追溯 — 全链路真实证据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61022" y="6483191"/>
              <a:ext cx="3870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数据：C2 调查窗口 05:20-05:35 UTC，mcp-aws-cn-2 pod access log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8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7749240" cy="1162050"/>
            <a:chOff x="537210" y="476250"/>
            <a:chExt cx="7749240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669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PART 2 · 多云管理原理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7492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一个 SRE 团队，三朵云 — 实际是 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6 个账号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69795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DevOps Agent 跑在 us-east-1，剩下的全部都不是 native 可达 — 这是项目要解决的现实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095500"/>
            <a:ext cx="3619500" cy="4000500"/>
            <a:chOff x="571500" y="2095500"/>
            <a:chExt cx="36195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124075"/>
              <a:ext cx="3619500" cy="2857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15975" y="2419953"/>
              <a:ext cx="349250" cy="243935"/>
            </a:xfrm>
            <a:custGeom>
              <a:avLst/>
              <a:gdLst/>
              <a:ahLst/>
              <a:cxnLst/>
              <a:rect l="l" t="t" r="r" b="b"/>
              <a:pathLst>
                <a:path w="349250" h="243935">
                  <a:moveTo>
                    <a:pt x="143510" y="10589"/>
                  </a:moveTo>
                  <a:cubicBezTo>
                    <a:pt x="178356" y="0"/>
                    <a:pt x="216773" y="7033"/>
                    <a:pt x="244475" y="29258"/>
                  </a:cubicBezTo>
                  <a:cubicBezTo>
                    <a:pt x="266478" y="46847"/>
                    <a:pt x="279209" y="71898"/>
                    <a:pt x="280225" y="98155"/>
                  </a:cubicBezTo>
                  <a:lnTo>
                    <a:pt x="280273" y="101521"/>
                  </a:lnTo>
                  <a:lnTo>
                    <a:pt x="281718" y="101568"/>
                  </a:lnTo>
                  <a:cubicBezTo>
                    <a:pt x="318230" y="103267"/>
                    <a:pt x="347488" y="132699"/>
                    <a:pt x="349186" y="169355"/>
                  </a:cubicBezTo>
                  <a:lnTo>
                    <a:pt x="349250" y="172704"/>
                  </a:lnTo>
                  <a:cubicBezTo>
                    <a:pt x="349250" y="210915"/>
                    <a:pt x="319326" y="242110"/>
                    <a:pt x="281702" y="243856"/>
                  </a:cubicBezTo>
                  <a:lnTo>
                    <a:pt x="278368" y="243935"/>
                  </a:lnTo>
                  <a:lnTo>
                    <a:pt x="89805" y="243935"/>
                  </a:lnTo>
                  <a:lnTo>
                    <a:pt x="86281" y="243808"/>
                  </a:lnTo>
                  <a:cubicBezTo>
                    <a:pt x="39608" y="242062"/>
                    <a:pt x="1873" y="205724"/>
                    <a:pt x="79" y="160258"/>
                  </a:cubicBezTo>
                  <a:lnTo>
                    <a:pt x="0" y="156829"/>
                  </a:lnTo>
                  <a:cubicBezTo>
                    <a:pt x="0" y="113220"/>
                    <a:pt x="33020" y="77295"/>
                    <a:pt x="75946" y="70834"/>
                  </a:cubicBezTo>
                  <a:lnTo>
                    <a:pt x="77756" y="70580"/>
                  </a:lnTo>
                  <a:lnTo>
                    <a:pt x="78867" y="67707"/>
                  </a:lnTo>
                  <a:cubicBezTo>
                    <a:pt x="89392" y="41989"/>
                    <a:pt x="111506" y="21574"/>
                    <a:pt x="139652" y="11859"/>
                  </a:cubicBezTo>
                  <a:lnTo>
                    <a:pt x="143526" y="10589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12545" y="2488882"/>
              <a:ext cx="1345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AWS 全球区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1118" y="2799874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us-east-1 / us-west-2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6765" y="34871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主账号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860" y="3699510"/>
              <a:ext cx="11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034362076319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6765" y="40967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57250" y="4364831"/>
              <a:ext cx="2760106" cy="762000"/>
              <a:chOff x="857250" y="4364831"/>
              <a:chExt cx="2760106" cy="7620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857250" y="44196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76312" y="4364831"/>
                <a:ext cx="16059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DevOps Agent Space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57250" y="46863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76312" y="4631531"/>
                <a:ext cx="26410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MCP server pods (mcp-test EKS)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857250" y="4953000"/>
                <a:ext cx="38100" cy="38100"/>
              </a:xfrm>
              <a:prstGeom prst="ellipse">
                <a:avLst/>
              </a:pr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76312" y="4898231"/>
                <a:ext cx="14251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Webhook endpoint</a:t>
                </a:r>
              </a:p>
            </p:txBody>
          </p:sp>
        </p:grpSp>
        <p:sp>
          <p:nvSpPr>
            <p:cNvPr id="25" name="Rectangle 25"/>
            <p:cNvSpPr/>
            <p:nvPr/>
          </p:nvSpPr>
          <p:spPr>
            <a:xfrm>
              <a:off x="80010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4CAF50">
                  <a:alpha val="40000"/>
                </a:srgb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30275" y="55558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67765" y="5573078"/>
              <a:ext cx="8881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Native 可达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286250" y="2095500"/>
            <a:ext cx="3619500" cy="4000500"/>
            <a:chOff x="4286250" y="2095500"/>
            <a:chExt cx="3619500" cy="4000500"/>
          </a:xfrm>
        </p:grpSpPr>
        <p:sp>
          <p:nvSpPr>
            <p:cNvPr id="29" name="Rectangle 29"/>
            <p:cNvSpPr/>
            <p:nvPr/>
          </p:nvSpPr>
          <p:spPr>
            <a:xfrm>
              <a:off x="428625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8625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2124075"/>
              <a:ext cx="3619500" cy="2857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4545509" y="2394363"/>
              <a:ext cx="319660" cy="316658"/>
              <a:chOff x="4545509" y="2394363"/>
              <a:chExt cx="319660" cy="31665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716955" y="2616200"/>
                <a:ext cx="133890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890" h="94821">
                    <a:moveTo>
                      <a:pt x="133890" y="0"/>
                    </a:moveTo>
                    <a:cubicBezTo>
                      <a:pt x="110317" y="54007"/>
                      <a:pt x="58770" y="90514"/>
                      <a:pt x="0" y="94821"/>
                    </a:cubicBezTo>
                    <a:cubicBezTo>
                      <a:pt x="4065" y="93853"/>
                      <a:pt x="7585" y="91320"/>
                      <a:pt x="9795" y="87773"/>
                    </a:cubicBezTo>
                    <a:cubicBezTo>
                      <a:pt x="26668" y="60743"/>
                      <a:pt x="38902" y="31082"/>
                      <a:pt x="45990" y="1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559856" y="2616200"/>
                <a:ext cx="133874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874" h="94821">
                    <a:moveTo>
                      <a:pt x="87900" y="0"/>
                    </a:moveTo>
                    <a:cubicBezTo>
                      <a:pt x="94984" y="31077"/>
                      <a:pt x="107218" y="60749"/>
                      <a:pt x="124095" y="87789"/>
                    </a:cubicBezTo>
                    <a:cubicBezTo>
                      <a:pt x="126304" y="91327"/>
                      <a:pt x="129817" y="93853"/>
                      <a:pt x="133874" y="94821"/>
                    </a:cubicBezTo>
                    <a:cubicBezTo>
                      <a:pt x="75110" y="90508"/>
                      <a:pt x="23570" y="54002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680426" y="2616200"/>
                <a:ext cx="49848" cy="61658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58">
                    <a:moveTo>
                      <a:pt x="49848" y="0"/>
                    </a:moveTo>
                    <a:cubicBezTo>
                      <a:pt x="44278" y="21556"/>
                      <a:pt x="35898" y="42287"/>
                      <a:pt x="24924" y="61658"/>
                    </a:cubicBezTo>
                    <a:cubicBezTo>
                      <a:pt x="13949" y="42287"/>
                      <a:pt x="5570" y="21556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545509" y="2520950"/>
                <a:ext cx="9688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81" h="63500">
                    <a:moveTo>
                      <a:pt x="96881" y="0"/>
                    </a:moveTo>
                    <a:cubicBezTo>
                      <a:pt x="94522" y="21101"/>
                      <a:pt x="94522" y="42399"/>
                      <a:pt x="96881" y="63500"/>
                    </a:cubicBezTo>
                    <a:lnTo>
                      <a:pt x="4298" y="63500"/>
                    </a:lnTo>
                    <a:cubicBezTo>
                      <a:pt x="11" y="42551"/>
                      <a:pt x="0" y="20953"/>
                      <a:pt x="4266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671706" y="2520950"/>
                <a:ext cx="6728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7289" h="63500">
                    <a:moveTo>
                      <a:pt x="64632" y="0"/>
                    </a:moveTo>
                    <a:cubicBezTo>
                      <a:pt x="67289" y="21083"/>
                      <a:pt x="67289" y="42417"/>
                      <a:pt x="64632" y="63500"/>
                    </a:cubicBezTo>
                    <a:lnTo>
                      <a:pt x="2656" y="63500"/>
                    </a:lnTo>
                    <a:cubicBezTo>
                      <a:pt x="0" y="42417"/>
                      <a:pt x="0" y="21083"/>
                      <a:pt x="2656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768310" y="2520950"/>
                <a:ext cx="9685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59" h="63500">
                    <a:moveTo>
                      <a:pt x="92615" y="0"/>
                    </a:moveTo>
                    <a:cubicBezTo>
                      <a:pt x="96859" y="20955"/>
                      <a:pt x="96848" y="42549"/>
                      <a:pt x="92583" y="63500"/>
                    </a:cubicBezTo>
                    <a:lnTo>
                      <a:pt x="0" y="63500"/>
                    </a:lnTo>
                    <a:cubicBezTo>
                      <a:pt x="2365" y="42402"/>
                      <a:pt x="2365" y="21114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559808" y="2394379"/>
                <a:ext cx="133906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21">
                    <a:moveTo>
                      <a:pt x="133906" y="0"/>
                    </a:moveTo>
                    <a:cubicBezTo>
                      <a:pt x="129852" y="976"/>
                      <a:pt x="126345" y="3508"/>
                      <a:pt x="124142" y="7049"/>
                    </a:cubicBezTo>
                    <a:cubicBezTo>
                      <a:pt x="107267" y="34083"/>
                      <a:pt x="95034" y="63750"/>
                      <a:pt x="87947" y="94821"/>
                    </a:cubicBezTo>
                    <a:lnTo>
                      <a:pt x="0" y="94821"/>
                    </a:lnTo>
                    <a:cubicBezTo>
                      <a:pt x="23363" y="41350"/>
                      <a:pt x="74154" y="4984"/>
                      <a:pt x="132302" y="95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680426" y="2427542"/>
                <a:ext cx="49848" cy="61674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74">
                    <a:moveTo>
                      <a:pt x="24924" y="0"/>
                    </a:moveTo>
                    <a:cubicBezTo>
                      <a:pt x="35899" y="19377"/>
                      <a:pt x="44279" y="40113"/>
                      <a:pt x="49848" y="61674"/>
                    </a:cubicBezTo>
                    <a:lnTo>
                      <a:pt x="0" y="61674"/>
                    </a:lnTo>
                    <a:cubicBezTo>
                      <a:pt x="5397" y="40767"/>
                      <a:pt x="13494" y="20399"/>
                      <a:pt x="24289" y="1079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716986" y="2394363"/>
                <a:ext cx="133906" cy="94837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37">
                    <a:moveTo>
                      <a:pt x="0" y="0"/>
                    </a:moveTo>
                    <a:cubicBezTo>
                      <a:pt x="58767" y="4340"/>
                      <a:pt x="110307" y="40843"/>
                      <a:pt x="133906" y="94837"/>
                    </a:cubicBezTo>
                    <a:lnTo>
                      <a:pt x="45958" y="94837"/>
                    </a:lnTo>
                    <a:cubicBezTo>
                      <a:pt x="38874" y="63760"/>
                      <a:pt x="26640" y="34088"/>
                      <a:pt x="9763" y="7049"/>
                    </a:cubicBezTo>
                    <a:cubicBezTo>
                      <a:pt x="7853" y="3989"/>
                      <a:pt x="4959" y="1671"/>
                      <a:pt x="1556" y="47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027295" y="2488882"/>
              <a:ext cx="1345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AWS 中国区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35868" y="2799874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cn-north-1 · cn-northwest-1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51485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01515" y="348710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两个独立账号 (project demo focus)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4501515" y="3753802"/>
              <a:ext cx="2463165" cy="441960"/>
              <a:chOff x="4501515" y="3753802"/>
              <a:chExt cx="2463165" cy="44196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4501515" y="3753802"/>
                <a:ext cx="2873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Consolas"/>
                    <a:ea typeface="Microsoft YaHei"/>
                    <a:cs typeface="Consolas"/>
                  </a:rPr>
                  <a:t>bjs1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015865" y="3753802"/>
                <a:ext cx="10088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107422471498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55118" y="376189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北京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501515" y="3982402"/>
                <a:ext cx="410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Consolas"/>
                    <a:ea typeface="Microsoft YaHei"/>
                    <a:cs typeface="Consolas"/>
                  </a:rPr>
                  <a:t>china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015865" y="3982402"/>
                <a:ext cx="10491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284567523170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655118" y="3990499"/>
                <a:ext cx="3095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宁夏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4501515" y="43253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4572000" y="4593431"/>
              <a:ext cx="2940843" cy="762000"/>
              <a:chOff x="4572000" y="4593431"/>
              <a:chExt cx="2940843" cy="7620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4572000" y="46482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4691062" y="4593431"/>
                <a:ext cx="24192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EKS web app + RDS PostgreSQL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4572000" y="49149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4691062" y="4860131"/>
                <a:ext cx="27396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ECS Fargate ETL + DynamoDB / SQS</a:t>
                </a:r>
              </a:p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4572000" y="5181600"/>
                <a:ext cx="38100" cy="38100"/>
              </a:xfrm>
              <a:prstGeom prst="ellipse">
                <a:avLst/>
              </a:pr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4691062" y="5126831"/>
                <a:ext cx="2821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8EAED"/>
                    </a:solidFill>
                    <a:latin typeface="Arial"/>
                    <a:ea typeface="Microsoft YaHei"/>
                    <a:cs typeface="Arial"/>
                  </a:rPr>
                  <a:t>CloudWatch alarms + bridge Lambda</a:t>
                </a:r>
              </a:p>
            </p:txBody>
          </p:sp>
        </p:grpSp>
        <p:sp>
          <p:nvSpPr>
            <p:cNvPr id="61" name="Rectangle 61"/>
            <p:cNvSpPr/>
            <p:nvPr/>
          </p:nvSpPr>
          <p:spPr>
            <a:xfrm>
              <a:off x="451485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FF9800">
                  <a:alpha val="60000"/>
                </a:srgbClr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4652962" y="5572125"/>
              <a:ext cx="142875" cy="111125"/>
            </a:xfrm>
            <a:custGeom>
              <a:avLst/>
              <a:gdLst/>
              <a:ahLst/>
              <a:cxnLst/>
              <a:rect l="l" t="t" r="r" b="b"/>
              <a:pathLst>
                <a:path w="142875" h="11112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95250"/>
                  </a:lnTo>
                  <a:cubicBezTo>
                    <a:pt x="142875" y="104018"/>
                    <a:pt x="135768" y="111125"/>
                    <a:pt x="127000" y="111125"/>
                  </a:cubicBezTo>
                  <a:lnTo>
                    <a:pt x="111125" y="111125"/>
                  </a:lnTo>
                  <a:cubicBezTo>
                    <a:pt x="102357" y="111125"/>
                    <a:pt x="95250" y="104018"/>
                    <a:pt x="95250" y="95250"/>
                  </a:cubicBezTo>
                  <a:lnTo>
                    <a:pt x="95250" y="79375"/>
                  </a:lnTo>
                  <a:cubicBezTo>
                    <a:pt x="95250" y="66224"/>
                    <a:pt x="84589" y="55563"/>
                    <a:pt x="71438" y="55563"/>
                  </a:cubicBezTo>
                  <a:cubicBezTo>
                    <a:pt x="58286" y="55563"/>
                    <a:pt x="47625" y="66224"/>
                    <a:pt x="47625" y="79375"/>
                  </a:cubicBezTo>
                  <a:lnTo>
                    <a:pt x="47625" y="95250"/>
                  </a:lnTo>
                  <a:cubicBezTo>
                    <a:pt x="47625" y="104018"/>
                    <a:pt x="40518" y="111125"/>
                    <a:pt x="31750" y="111125"/>
                  </a:cubicBezTo>
                  <a:lnTo>
                    <a:pt x="15875" y="111125"/>
                  </a:lnTo>
                  <a:cubicBezTo>
                    <a:pt x="7107" y="111125"/>
                    <a:pt x="0" y="104018"/>
                    <a:pt x="0" y="95250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82515" y="5573078"/>
              <a:ext cx="1556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需 Bridge — 项目焦点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001000" y="2095500"/>
            <a:ext cx="3619500" cy="4000500"/>
            <a:chOff x="8001000" y="2095500"/>
            <a:chExt cx="3619500" cy="4000500"/>
          </a:xfrm>
        </p:grpSpPr>
        <p:sp>
          <p:nvSpPr>
            <p:cNvPr id="65" name="Rectangle 65"/>
            <p:cNvSpPr/>
            <p:nvPr/>
          </p:nvSpPr>
          <p:spPr>
            <a:xfrm>
              <a:off x="8001000" y="2095500"/>
              <a:ext cx="3619500" cy="400050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01000" y="20955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01000" y="2124075"/>
              <a:ext cx="3619500" cy="28575"/>
            </a:xfrm>
            <a:prstGeom prst="rect">
              <a:avLst/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245475" y="2388203"/>
              <a:ext cx="349250" cy="323247"/>
            </a:xfrm>
            <a:custGeom>
              <a:avLst/>
              <a:gdLst/>
              <a:ahLst/>
              <a:cxnLst/>
              <a:rect l="l" t="t" r="r" b="b"/>
              <a:pathLst>
                <a:path w="349250" h="323247">
                  <a:moveTo>
                    <a:pt x="127000" y="291497"/>
                  </a:moveTo>
                  <a:cubicBezTo>
                    <a:pt x="127000" y="309032"/>
                    <a:pt x="112785" y="323247"/>
                    <a:pt x="95250" y="323247"/>
                  </a:cubicBezTo>
                  <a:lnTo>
                    <a:pt x="31750" y="323247"/>
                  </a:lnTo>
                  <a:cubicBezTo>
                    <a:pt x="22982" y="323247"/>
                    <a:pt x="15875" y="316139"/>
                    <a:pt x="15875" y="307372"/>
                  </a:cubicBezTo>
                  <a:cubicBezTo>
                    <a:pt x="15875" y="298604"/>
                    <a:pt x="22982" y="291497"/>
                    <a:pt x="31750" y="291497"/>
                  </a:cubicBezTo>
                  <a:lnTo>
                    <a:pt x="95250" y="291497"/>
                  </a:lnTo>
                  <a:lnTo>
                    <a:pt x="95250" y="243919"/>
                  </a:lnTo>
                  <a:lnTo>
                    <a:pt x="89805" y="243935"/>
                  </a:lnTo>
                  <a:cubicBezTo>
                    <a:pt x="89184" y="243935"/>
                    <a:pt x="88564" y="243897"/>
                    <a:pt x="87948" y="243824"/>
                  </a:cubicBezTo>
                  <a:lnTo>
                    <a:pt x="86281" y="243808"/>
                  </a:lnTo>
                  <a:cubicBezTo>
                    <a:pt x="39608" y="242062"/>
                    <a:pt x="1873" y="205724"/>
                    <a:pt x="79" y="160258"/>
                  </a:cubicBezTo>
                  <a:lnTo>
                    <a:pt x="0" y="156829"/>
                  </a:lnTo>
                  <a:cubicBezTo>
                    <a:pt x="0" y="113221"/>
                    <a:pt x="33020" y="77295"/>
                    <a:pt x="75946" y="70834"/>
                  </a:cubicBezTo>
                  <a:lnTo>
                    <a:pt x="77756" y="70580"/>
                  </a:lnTo>
                  <a:lnTo>
                    <a:pt x="78867" y="67707"/>
                  </a:lnTo>
                  <a:cubicBezTo>
                    <a:pt x="89392" y="41989"/>
                    <a:pt x="111506" y="21574"/>
                    <a:pt x="139652" y="11859"/>
                  </a:cubicBezTo>
                  <a:lnTo>
                    <a:pt x="143526" y="10589"/>
                  </a:lnTo>
                  <a:cubicBezTo>
                    <a:pt x="178356" y="0"/>
                    <a:pt x="216773" y="7033"/>
                    <a:pt x="244491" y="29258"/>
                  </a:cubicBezTo>
                  <a:cubicBezTo>
                    <a:pt x="266478" y="46847"/>
                    <a:pt x="279210" y="71898"/>
                    <a:pt x="280210" y="98155"/>
                  </a:cubicBezTo>
                  <a:lnTo>
                    <a:pt x="280273" y="101521"/>
                  </a:lnTo>
                  <a:lnTo>
                    <a:pt x="281718" y="101568"/>
                  </a:lnTo>
                  <a:cubicBezTo>
                    <a:pt x="318230" y="103267"/>
                    <a:pt x="347488" y="132699"/>
                    <a:pt x="349187" y="169354"/>
                  </a:cubicBezTo>
                  <a:lnTo>
                    <a:pt x="349250" y="172704"/>
                  </a:lnTo>
                  <a:cubicBezTo>
                    <a:pt x="349250" y="212042"/>
                    <a:pt x="317548" y="243935"/>
                    <a:pt x="278368" y="243935"/>
                  </a:cubicBezTo>
                  <a:lnTo>
                    <a:pt x="254000" y="243935"/>
                  </a:lnTo>
                  <a:lnTo>
                    <a:pt x="254000" y="291497"/>
                  </a:lnTo>
                  <a:lnTo>
                    <a:pt x="317500" y="291497"/>
                  </a:lnTo>
                  <a:cubicBezTo>
                    <a:pt x="326268" y="291497"/>
                    <a:pt x="333375" y="298604"/>
                    <a:pt x="333375" y="307372"/>
                  </a:cubicBezTo>
                  <a:cubicBezTo>
                    <a:pt x="333375" y="316139"/>
                    <a:pt x="326268" y="323247"/>
                    <a:pt x="317500" y="323247"/>
                  </a:cubicBezTo>
                  <a:lnTo>
                    <a:pt x="254000" y="323247"/>
                  </a:lnTo>
                  <a:cubicBezTo>
                    <a:pt x="236465" y="323247"/>
                    <a:pt x="222250" y="309032"/>
                    <a:pt x="222250" y="291497"/>
                  </a:cubicBezTo>
                  <a:lnTo>
                    <a:pt x="222250" y="243919"/>
                  </a:lnTo>
                  <a:lnTo>
                    <a:pt x="190500" y="243919"/>
                  </a:lnTo>
                  <a:lnTo>
                    <a:pt x="190500" y="307372"/>
                  </a:lnTo>
                  <a:cubicBezTo>
                    <a:pt x="190500" y="316139"/>
                    <a:pt x="183393" y="323247"/>
                    <a:pt x="174625" y="323247"/>
                  </a:cubicBezTo>
                  <a:cubicBezTo>
                    <a:pt x="165857" y="323247"/>
                    <a:pt x="158750" y="316139"/>
                    <a:pt x="158750" y="307372"/>
                  </a:cubicBezTo>
                  <a:lnTo>
                    <a:pt x="158750" y="243919"/>
                  </a:lnTo>
                  <a:lnTo>
                    <a:pt x="127000" y="243919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42045" y="248888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其他云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50618" y="2799874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阿里云 / GCP / Azure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229600" y="3238500"/>
              <a:ext cx="3162300" cy="9525"/>
            </a:xfrm>
            <a:prstGeom prst="rect">
              <a:avLst/>
            </a:prstGeom>
            <a:solidFill>
              <a:srgbClr val="2D374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216265" y="3487102"/>
              <a:ext cx="2503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备用 / 占位（不在本次 demo 焦点）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16265" y="38490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承载</a:t>
              </a: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8286750" y="4117181"/>
              <a:ext cx="2595800" cy="762000"/>
              <a:chOff x="8286750" y="4117181"/>
              <a:chExt cx="2595800" cy="762000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8286750" y="41719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405812" y="4117181"/>
                <a:ext cx="24767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阿里云 — alibaba-cloud-ops MCP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8286750" y="44386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05812" y="4383881"/>
                <a:ext cx="19098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GCP — k8s.yaml 中已占位</a:t>
                </a:r>
              </a:p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8286750" y="4705350"/>
                <a:ext cx="38100" cy="38100"/>
              </a:xfrm>
              <a:prstGeom prst="ellipse">
                <a:avLst/>
              </a:pr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405812" y="4650581"/>
                <a:ext cx="20413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Azure — 原生 agent 已支持</a:t>
                </a:r>
              </a:p>
            </p:txBody>
          </p:sp>
        </p:grpSp>
        <p:sp>
          <p:nvSpPr>
            <p:cNvPr id="81" name="Rectangle 81"/>
            <p:cNvSpPr/>
            <p:nvPr/>
          </p:nvSpPr>
          <p:spPr>
            <a:xfrm>
              <a:off x="8229600" y="5410200"/>
              <a:ext cx="3162300" cy="4572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2D3748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359774" y="5536819"/>
              <a:ext cx="167139" cy="167791"/>
            </a:xfrm>
            <a:custGeom>
              <a:avLst/>
              <a:gdLst/>
              <a:ahLst/>
              <a:cxnLst/>
              <a:rect l="l" t="t" r="r" b="b"/>
              <a:pathLst>
                <a:path w="167139" h="167791">
                  <a:moveTo>
                    <a:pt x="119063" y="14192"/>
                  </a:moveTo>
                  <a:cubicBezTo>
                    <a:pt x="152423" y="33452"/>
                    <a:pt x="167139" y="73884"/>
                    <a:pt x="153964" y="110081"/>
                  </a:cubicBezTo>
                  <a:cubicBezTo>
                    <a:pt x="140789" y="146278"/>
                    <a:pt x="103526" y="167791"/>
                    <a:pt x="65591" y="161101"/>
                  </a:cubicBezTo>
                  <a:cubicBezTo>
                    <a:pt x="27656" y="154412"/>
                    <a:pt x="0" y="121451"/>
                    <a:pt x="1" y="82931"/>
                  </a:cubicBezTo>
                  <a:lnTo>
                    <a:pt x="41" y="80359"/>
                  </a:lnTo>
                  <a:cubicBezTo>
                    <a:pt x="945" y="52474"/>
                    <a:pt x="16422" y="27112"/>
                    <a:pt x="40807" y="13556"/>
                  </a:cubicBezTo>
                  <a:cubicBezTo>
                    <a:pt x="65191" y="0"/>
                    <a:pt x="94902" y="241"/>
                    <a:pt x="119063" y="14192"/>
                  </a:cubicBezTo>
                  <a:moveTo>
                    <a:pt x="76193" y="90201"/>
                  </a:moveTo>
                  <a:lnTo>
                    <a:pt x="76606" y="90368"/>
                  </a:lnTo>
                  <a:lnTo>
                    <a:pt x="77241" y="90574"/>
                  </a:lnTo>
                  <a:lnTo>
                    <a:pt x="77876" y="90725"/>
                  </a:lnTo>
                  <a:lnTo>
                    <a:pt x="78447" y="90812"/>
                  </a:lnTo>
                  <a:lnTo>
                    <a:pt x="79376" y="90868"/>
                  </a:lnTo>
                  <a:lnTo>
                    <a:pt x="79979" y="90844"/>
                  </a:lnTo>
                  <a:lnTo>
                    <a:pt x="81051" y="90685"/>
                  </a:lnTo>
                  <a:lnTo>
                    <a:pt x="81702" y="90527"/>
                  </a:lnTo>
                  <a:lnTo>
                    <a:pt x="82519" y="90217"/>
                  </a:lnTo>
                  <a:lnTo>
                    <a:pt x="83099" y="89939"/>
                  </a:lnTo>
                  <a:lnTo>
                    <a:pt x="83718" y="89574"/>
                  </a:lnTo>
                  <a:lnTo>
                    <a:pt x="84194" y="89241"/>
                  </a:lnTo>
                  <a:lnTo>
                    <a:pt x="84829" y="88693"/>
                  </a:lnTo>
                  <a:lnTo>
                    <a:pt x="85488" y="87995"/>
                  </a:lnTo>
                  <a:lnTo>
                    <a:pt x="85980" y="87336"/>
                  </a:lnTo>
                  <a:lnTo>
                    <a:pt x="101855" y="63523"/>
                  </a:lnTo>
                  <a:cubicBezTo>
                    <a:pt x="104288" y="59876"/>
                    <a:pt x="103304" y="54947"/>
                    <a:pt x="99656" y="52514"/>
                  </a:cubicBezTo>
                  <a:cubicBezTo>
                    <a:pt x="96009" y="50081"/>
                    <a:pt x="91080" y="51065"/>
                    <a:pt x="88647" y="54713"/>
                  </a:cubicBezTo>
                  <a:lnTo>
                    <a:pt x="87313" y="56705"/>
                  </a:lnTo>
                  <a:lnTo>
                    <a:pt x="87313" y="43243"/>
                  </a:lnTo>
                  <a:cubicBezTo>
                    <a:pt x="87313" y="39219"/>
                    <a:pt x="84301" y="35832"/>
                    <a:pt x="80305" y="35361"/>
                  </a:cubicBezTo>
                  <a:lnTo>
                    <a:pt x="79376" y="35306"/>
                  </a:lnTo>
                  <a:cubicBezTo>
                    <a:pt x="74992" y="35306"/>
                    <a:pt x="71438" y="38859"/>
                    <a:pt x="71438" y="43243"/>
                  </a:cubicBezTo>
                  <a:lnTo>
                    <a:pt x="71438" y="83137"/>
                  </a:lnTo>
                  <a:lnTo>
                    <a:pt x="71510" y="83970"/>
                  </a:lnTo>
                  <a:lnTo>
                    <a:pt x="71669" y="84820"/>
                  </a:lnTo>
                  <a:lnTo>
                    <a:pt x="71986" y="85844"/>
                  </a:lnTo>
                  <a:lnTo>
                    <a:pt x="72367" y="86653"/>
                  </a:lnTo>
                  <a:lnTo>
                    <a:pt x="72732" y="87272"/>
                  </a:lnTo>
                  <a:lnTo>
                    <a:pt x="73066" y="87749"/>
                  </a:lnTo>
                  <a:lnTo>
                    <a:pt x="73613" y="88384"/>
                  </a:lnTo>
                  <a:lnTo>
                    <a:pt x="74312" y="89042"/>
                  </a:lnTo>
                  <a:lnTo>
                    <a:pt x="74971" y="89535"/>
                  </a:lnTo>
                  <a:lnTo>
                    <a:pt x="75685" y="89955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97265" y="55730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同模式可扩展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1022" y="6483191"/>
            <a:ext cx="11069956" cy="167640"/>
            <a:chOff x="561022" y="6483191"/>
            <a:chExt cx="11069956" cy="167640"/>
          </a:xfrm>
        </p:grpSpPr>
        <p:sp>
          <p:nvSpPr>
            <p:cNvPr id="85" name="TextBox 85"/>
            <p:cNvSpPr txBox="1"/>
            <p:nvPr/>
          </p:nvSpPr>
          <p:spPr>
            <a:xfrm>
              <a:off x="561022" y="6483191"/>
              <a:ext cx="33344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来源：项目仓库 chart/ + chart-aliyun/ + deploy/k8s.yaml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36500" y="64831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64" grpId="0"/>
      <p:bldP spid="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7811348" cy="1000125"/>
            <a:chOff x="537210" y="476250"/>
            <a:chExt cx="7811348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234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MCP BRIDGE 架构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781134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一条路接进所有中国区资源 — Hub &amp; Spoke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76500" y="2381250"/>
            <a:ext cx="7239000" cy="3429000"/>
            <a:chOff x="2476500" y="2381250"/>
            <a:chExt cx="7239000" cy="3429000"/>
          </a:xfrm>
        </p:grpSpPr>
        <p:sp>
          <p:nvSpPr>
            <p:cNvPr id="7" name="Ellipse 7"/>
            <p:cNvSpPr/>
            <p:nvPr/>
          </p:nvSpPr>
          <p:spPr>
            <a:xfrm>
              <a:off x="2476500" y="2381250"/>
              <a:ext cx="7239000" cy="3429000"/>
            </a:xfrm>
            <a:prstGeom prst="ellipse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000500" y="2952750"/>
              <a:ext cx="4191000" cy="2286000"/>
            </a:xfrm>
            <a:prstGeom prst="ellipse">
              <a:avLst/>
            </a:prstGeom>
            <a:noFill/>
            <a:ln w="9525">
              <a:solidFill>
                <a:srgbClr val="2D3748"/>
              </a:solidFill>
              <a:custDash>
                <a:ds d="400000" sp="600000"/>
              </a:custDash>
            </a:ln>
          </p:spPr>
        </p:sp>
        <p:sp>
          <p:nvSpPr>
            <p:cNvPr id="9" name="Ellipse 9"/>
            <p:cNvSpPr/>
            <p:nvPr/>
          </p:nvSpPr>
          <p:spPr>
            <a:xfrm>
              <a:off x="2476500" y="2381250"/>
              <a:ext cx="7239000" cy="3429000"/>
            </a:xfrm>
            <a:prstGeom prst="ellipse">
              <a:avLst/>
            </a:prstGeom>
            <a:noFill/>
            <a:ln w="9525">
              <a:solidFill>
                <a:srgbClr val="2D3748"/>
              </a:solidFill>
              <a:custDash>
                <a:ds d="200000" sp="600000"/>
              </a:custDash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905000" y="4095750"/>
            <a:ext cx="8382000" cy="1619250"/>
            <a:chOff x="1905000" y="4095750"/>
            <a:chExt cx="8382000" cy="1619250"/>
          </a:xfrm>
        </p:grpSpPr>
        <p:sp>
          <p:nvSpPr>
            <p:cNvPr id="11" name="Line 11"/>
            <p:cNvSpPr/>
            <p:nvPr/>
          </p:nvSpPr>
          <p:spPr>
            <a:xfrm>
              <a:off x="1905000" y="4095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4191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565C0">
                  <a:alpha val="7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4095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1565C0">
                  <a:alpha val="7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409575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9050">
              <a:solidFill>
                <a:srgbClr val="6B7280">
                  <a:alpha val="50000"/>
                </a:srgbClr>
              </a:solidFill>
              <a:custDash>
                <a:ds d="200000" sp="400000"/>
              </a:custDash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219700" y="3219450"/>
            <a:ext cx="1752600" cy="1752600"/>
            <a:chOff x="5219700" y="3219450"/>
            <a:chExt cx="1752600" cy="1752600"/>
          </a:xfrm>
        </p:grpSpPr>
        <p:sp>
          <p:nvSpPr>
            <p:cNvPr id="15" name="Ellipse 15"/>
            <p:cNvSpPr/>
            <p:nvPr/>
          </p:nvSpPr>
          <p:spPr>
            <a:xfrm>
              <a:off x="5219700" y="3219450"/>
              <a:ext cx="1752600" cy="1752600"/>
            </a:xfrm>
            <a:prstGeom prst="ellipse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2700000" scaled="1"/>
            </a:gradFill>
            <a:ln>
              <a:noFill/>
            </a:ln>
            <a:effectLst>
              <a:glow rad="95250">
                <a:srgbClr val="42A5F5">
                  <a:alpha val="50000"/>
                </a:srgbClr>
              </a:glo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5334000" y="3333750"/>
              <a:ext cx="1524000" cy="1524000"/>
            </a:xfrm>
            <a:prstGeom prst="ellipse">
              <a:avLst/>
            </a:prstGeom>
            <a:gradFill>
              <a:gsLst>
                <a:gs pos="0">
                  <a:srgbClr val="1565C0"/>
                </a:gs>
                <a:gs pos="100000">
                  <a:srgbClr val="42A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448300" y="3448050"/>
              <a:ext cx="1295400" cy="1295400"/>
            </a:xfrm>
            <a:prstGeom prst="ellipse">
              <a:avLst/>
            </a:prstGeom>
            <a:noFill/>
            <a:ln w="11430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843588" y="3857625"/>
              <a:ext cx="314325" cy="244475"/>
            </a:xfrm>
            <a:custGeom>
              <a:avLst/>
              <a:gdLst/>
              <a:ahLst/>
              <a:cxnLst/>
              <a:rect l="l" t="t" r="r" b="b"/>
              <a:pathLst>
                <a:path w="314325" h="244475">
                  <a:moveTo>
                    <a:pt x="261938" y="0"/>
                  </a:moveTo>
                  <a:cubicBezTo>
                    <a:pt x="290870" y="0"/>
                    <a:pt x="314325" y="23455"/>
                    <a:pt x="314325" y="52388"/>
                  </a:cubicBezTo>
                  <a:lnTo>
                    <a:pt x="314325" y="209550"/>
                  </a:lnTo>
                  <a:cubicBezTo>
                    <a:pt x="314325" y="228839"/>
                    <a:pt x="298689" y="244475"/>
                    <a:pt x="279400" y="244475"/>
                  </a:cubicBezTo>
                  <a:lnTo>
                    <a:pt x="244475" y="244475"/>
                  </a:lnTo>
                  <a:cubicBezTo>
                    <a:pt x="225186" y="244475"/>
                    <a:pt x="209550" y="228839"/>
                    <a:pt x="209550" y="209550"/>
                  </a:cubicBezTo>
                  <a:lnTo>
                    <a:pt x="209550" y="174625"/>
                  </a:lnTo>
                  <a:cubicBezTo>
                    <a:pt x="209550" y="145692"/>
                    <a:pt x="186095" y="122237"/>
                    <a:pt x="157162" y="122237"/>
                  </a:cubicBezTo>
                  <a:cubicBezTo>
                    <a:pt x="128230" y="122237"/>
                    <a:pt x="104775" y="145692"/>
                    <a:pt x="104775" y="174625"/>
                  </a:cubicBezTo>
                  <a:lnTo>
                    <a:pt x="104775" y="209550"/>
                  </a:lnTo>
                  <a:cubicBezTo>
                    <a:pt x="104775" y="228839"/>
                    <a:pt x="89139" y="244475"/>
                    <a:pt x="69850" y="244475"/>
                  </a:cubicBezTo>
                  <a:lnTo>
                    <a:pt x="34925" y="244475"/>
                  </a:lnTo>
                  <a:cubicBezTo>
                    <a:pt x="15636" y="244475"/>
                    <a:pt x="0" y="228839"/>
                    <a:pt x="0" y="209550"/>
                  </a:cubicBezTo>
                  <a:lnTo>
                    <a:pt x="0" y="52388"/>
                  </a:lnTo>
                  <a:cubicBezTo>
                    <a:pt x="0" y="23455"/>
                    <a:pt x="23455" y="0"/>
                    <a:pt x="52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40588" y="4283392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MCP BRIDGE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84889" y="4559141"/>
              <a:ext cx="8222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 val="85000"/>
                    </a:srgbClr>
                  </a:solidFill>
                  <a:latin typeface="Consolas"/>
                  <a:ea typeface="Microsoft YaHei"/>
                  <a:cs typeface="Consolas"/>
                </a:rPr>
                <a:t>us-east-1 EKS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62500" y="2076450"/>
            <a:ext cx="2667000" cy="828675"/>
            <a:chOff x="4762500" y="2076450"/>
            <a:chExt cx="2667000" cy="828675"/>
          </a:xfrm>
        </p:grpSpPr>
        <p:sp>
          <p:nvSpPr>
            <p:cNvPr id="22" name="Rectangle 22"/>
            <p:cNvSpPr/>
            <p:nvPr/>
          </p:nvSpPr>
          <p:spPr>
            <a:xfrm>
              <a:off x="4762500" y="2076450"/>
              <a:ext cx="2667000" cy="800100"/>
            </a:xfrm>
            <a:prstGeom prst="roundRect">
              <a:avLst>
                <a:gd name="adj" fmla="val 11905"/>
              </a:avLst>
            </a:prstGeom>
            <a:solidFill>
              <a:srgbClr val="1A2332"/>
            </a:solidFill>
            <a:ln w="14288">
              <a:solidFill>
                <a:srgbClr val="42A5F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961731" y="2260614"/>
              <a:ext cx="192088" cy="134164"/>
            </a:xfrm>
            <a:custGeom>
              <a:avLst/>
              <a:gdLst/>
              <a:ahLst/>
              <a:cxnLst/>
              <a:rect l="l" t="t" r="r" b="b"/>
              <a:pathLst>
                <a:path w="192088" h="134164">
                  <a:moveTo>
                    <a:pt x="78931" y="5824"/>
                  </a:moveTo>
                  <a:cubicBezTo>
                    <a:pt x="98096" y="0"/>
                    <a:pt x="119225" y="3868"/>
                    <a:pt x="134461" y="16092"/>
                  </a:cubicBezTo>
                  <a:cubicBezTo>
                    <a:pt x="146563" y="25766"/>
                    <a:pt x="153565" y="39544"/>
                    <a:pt x="154124" y="53985"/>
                  </a:cubicBezTo>
                  <a:lnTo>
                    <a:pt x="154150" y="55836"/>
                  </a:lnTo>
                  <a:lnTo>
                    <a:pt x="154945" y="55863"/>
                  </a:lnTo>
                  <a:cubicBezTo>
                    <a:pt x="175027" y="56797"/>
                    <a:pt x="191118" y="72985"/>
                    <a:pt x="192053" y="93145"/>
                  </a:cubicBezTo>
                  <a:lnTo>
                    <a:pt x="192088" y="94987"/>
                  </a:lnTo>
                  <a:cubicBezTo>
                    <a:pt x="192088" y="116003"/>
                    <a:pt x="175629" y="133160"/>
                    <a:pt x="154936" y="134121"/>
                  </a:cubicBezTo>
                  <a:lnTo>
                    <a:pt x="153102" y="134164"/>
                  </a:lnTo>
                  <a:lnTo>
                    <a:pt x="49393" y="134164"/>
                  </a:lnTo>
                  <a:lnTo>
                    <a:pt x="47454" y="134095"/>
                  </a:lnTo>
                  <a:cubicBezTo>
                    <a:pt x="21784" y="133134"/>
                    <a:pt x="1030" y="113148"/>
                    <a:pt x="44" y="88142"/>
                  </a:cubicBezTo>
                  <a:lnTo>
                    <a:pt x="0" y="86256"/>
                  </a:lnTo>
                  <a:cubicBezTo>
                    <a:pt x="0" y="62271"/>
                    <a:pt x="18161" y="42512"/>
                    <a:pt x="41770" y="38959"/>
                  </a:cubicBezTo>
                  <a:lnTo>
                    <a:pt x="42766" y="38819"/>
                  </a:lnTo>
                  <a:lnTo>
                    <a:pt x="43377" y="37239"/>
                  </a:lnTo>
                  <a:cubicBezTo>
                    <a:pt x="49166" y="23094"/>
                    <a:pt x="61328" y="11866"/>
                    <a:pt x="76809" y="6522"/>
                  </a:cubicBezTo>
                  <a:lnTo>
                    <a:pt x="78939" y="5824"/>
                  </a:ln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2560" y="2270760"/>
              <a:ext cx="19075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Agent Space (主账号)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0618" y="256174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034362076319 · us-east-1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1570" y="272224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原生 DevOps Agent + Webhook + Slack</a:t>
              </a:r>
            </a:p>
          </p:txBody>
        </p:sp>
      </p:grpSp>
      <p:sp>
        <p:nvSpPr>
          <p:cNvPr id="28" name="Line 28"/>
          <p:cNvSpPr/>
          <p:nvPr/>
        </p:nvSpPr>
        <p:spPr>
          <a:xfrm>
            <a:off x="6096000" y="287655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42A5F5"/>
            </a:solidFill>
            <a:prstDash val="dash"/>
          </a:ln>
        </p:spPr>
      </p:sp>
      <p:grpSp>
        <p:nvGrpSpPr>
          <p:cNvPr id="46" name="Group 46"/>
          <p:cNvGrpSpPr/>
          <p:nvPr/>
        </p:nvGrpSpPr>
        <p:grpSpPr>
          <a:xfrm>
            <a:off x="571500" y="3409950"/>
            <a:ext cx="2667000" cy="1371600"/>
            <a:chOff x="571500" y="3409950"/>
            <a:chExt cx="2667000" cy="1371600"/>
          </a:xfrm>
        </p:grpSpPr>
        <p:sp>
          <p:nvSpPr>
            <p:cNvPr id="29" name="Rectangle 29"/>
            <p:cNvSpPr/>
            <p:nvPr/>
          </p:nvSpPr>
          <p:spPr>
            <a:xfrm>
              <a:off x="571500" y="3409950"/>
              <a:ext cx="2667000" cy="1371600"/>
            </a:xfrm>
            <a:prstGeom prst="roundRect">
              <a:avLst>
                <a:gd name="adj" fmla="val 8333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3409950"/>
              <a:ext cx="57150" cy="13716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18495" y="3600698"/>
              <a:ext cx="191796" cy="189995"/>
              <a:chOff x="818495" y="3600698"/>
              <a:chExt cx="191796" cy="18999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1363" y="3733800"/>
                <a:ext cx="8033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34" h="56893">
                    <a:moveTo>
                      <a:pt x="80334" y="0"/>
                    </a:moveTo>
                    <a:cubicBezTo>
                      <a:pt x="66190" y="32404"/>
                      <a:pt x="35262" y="54308"/>
                      <a:pt x="0" y="56893"/>
                    </a:cubicBezTo>
                    <a:cubicBezTo>
                      <a:pt x="2439" y="56312"/>
                      <a:pt x="4551" y="54792"/>
                      <a:pt x="5877" y="52664"/>
                    </a:cubicBezTo>
                    <a:cubicBezTo>
                      <a:pt x="16001" y="36446"/>
                      <a:pt x="23341" y="18649"/>
                      <a:pt x="27594" y="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103" y="3733800"/>
                <a:ext cx="8032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24" h="56893">
                    <a:moveTo>
                      <a:pt x="52740" y="0"/>
                    </a:moveTo>
                    <a:cubicBezTo>
                      <a:pt x="56991" y="18646"/>
                      <a:pt x="64331" y="36450"/>
                      <a:pt x="74457" y="52673"/>
                    </a:cubicBezTo>
                    <a:cubicBezTo>
                      <a:pt x="75782" y="54796"/>
                      <a:pt x="77890" y="56312"/>
                      <a:pt x="80324" y="56893"/>
                    </a:cubicBezTo>
                    <a:cubicBezTo>
                      <a:pt x="45066" y="54305"/>
                      <a:pt x="14142" y="32401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99446" y="3733800"/>
                <a:ext cx="29909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6995">
                    <a:moveTo>
                      <a:pt x="29909" y="0"/>
                    </a:moveTo>
                    <a:cubicBezTo>
                      <a:pt x="26567" y="12934"/>
                      <a:pt x="21539" y="25372"/>
                      <a:pt x="14954" y="36995"/>
                    </a:cubicBezTo>
                    <a:cubicBezTo>
                      <a:pt x="8370" y="25372"/>
                      <a:pt x="3342" y="12934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8495" y="3676650"/>
                <a:ext cx="58128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28" h="38100">
                    <a:moveTo>
                      <a:pt x="58128" y="0"/>
                    </a:moveTo>
                    <a:cubicBezTo>
                      <a:pt x="56713" y="12661"/>
                      <a:pt x="56713" y="25439"/>
                      <a:pt x="58128" y="38100"/>
                    </a:cubicBezTo>
                    <a:lnTo>
                      <a:pt x="2579" y="38100"/>
                    </a:lnTo>
                    <a:cubicBezTo>
                      <a:pt x="6" y="25531"/>
                      <a:pt x="0" y="12572"/>
                      <a:pt x="256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94213" y="3676650"/>
                <a:ext cx="40373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0373" h="38100">
                    <a:moveTo>
                      <a:pt x="38779" y="0"/>
                    </a:moveTo>
                    <a:cubicBezTo>
                      <a:pt x="40373" y="12650"/>
                      <a:pt x="40373" y="25450"/>
                      <a:pt x="38779" y="38100"/>
                    </a:cubicBezTo>
                    <a:lnTo>
                      <a:pt x="1594" y="38100"/>
                    </a:lnTo>
                    <a:cubicBezTo>
                      <a:pt x="0" y="25450"/>
                      <a:pt x="0" y="12650"/>
                      <a:pt x="1594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52176" y="3676650"/>
                <a:ext cx="5811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15" h="38100">
                    <a:moveTo>
                      <a:pt x="55569" y="0"/>
                    </a:moveTo>
                    <a:cubicBezTo>
                      <a:pt x="58115" y="12573"/>
                      <a:pt x="58109" y="25530"/>
                      <a:pt x="55550" y="38100"/>
                    </a:cubicBezTo>
                    <a:lnTo>
                      <a:pt x="0" y="38100"/>
                    </a:lnTo>
                    <a:cubicBezTo>
                      <a:pt x="1419" y="25441"/>
                      <a:pt x="1419" y="12668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75" y="3600707"/>
                <a:ext cx="80343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893">
                    <a:moveTo>
                      <a:pt x="80343" y="0"/>
                    </a:moveTo>
                    <a:cubicBezTo>
                      <a:pt x="77911" y="586"/>
                      <a:pt x="75807" y="2105"/>
                      <a:pt x="74486" y="4229"/>
                    </a:cubicBezTo>
                    <a:cubicBezTo>
                      <a:pt x="64360" y="20450"/>
                      <a:pt x="57020" y="38250"/>
                      <a:pt x="52769" y="56893"/>
                    </a:cubicBezTo>
                    <a:lnTo>
                      <a:pt x="0" y="56893"/>
                    </a:lnTo>
                    <a:cubicBezTo>
                      <a:pt x="14018" y="24810"/>
                      <a:pt x="44493" y="2991"/>
                      <a:pt x="79381" y="57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99446" y="3620605"/>
                <a:ext cx="29909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7005">
                    <a:moveTo>
                      <a:pt x="14954" y="0"/>
                    </a:moveTo>
                    <a:cubicBezTo>
                      <a:pt x="21540" y="11626"/>
                      <a:pt x="26567" y="24068"/>
                      <a:pt x="29909" y="37005"/>
                    </a:cubicBezTo>
                    <a:lnTo>
                      <a:pt x="0" y="37005"/>
                    </a:lnTo>
                    <a:cubicBezTo>
                      <a:pt x="3238" y="24460"/>
                      <a:pt x="8096" y="12240"/>
                      <a:pt x="14573" y="648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21382" y="3600698"/>
                <a:ext cx="80343" cy="56902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902">
                    <a:moveTo>
                      <a:pt x="0" y="0"/>
                    </a:moveTo>
                    <a:cubicBezTo>
                      <a:pt x="35260" y="2604"/>
                      <a:pt x="66184" y="24506"/>
                      <a:pt x="80343" y="56902"/>
                    </a:cubicBezTo>
                    <a:lnTo>
                      <a:pt x="27575" y="56902"/>
                    </a:lnTo>
                    <a:cubicBezTo>
                      <a:pt x="23324" y="38256"/>
                      <a:pt x="15984" y="20453"/>
                      <a:pt x="5858" y="4229"/>
                    </a:cubicBezTo>
                    <a:cubicBezTo>
                      <a:pt x="4712" y="2393"/>
                      <a:pt x="2975" y="1003"/>
                      <a:pt x="933" y="28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88708" y="3624739"/>
              <a:ext cx="13815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aws-cn (北京)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7718" y="39333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cn-north-1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7718" y="4142899"/>
              <a:ext cx="893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107422471498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00100" y="43815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7718" y="44857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EKS web app + RDS · MCP: aws-cn-2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953500" y="3409950"/>
            <a:ext cx="2667000" cy="1371600"/>
            <a:chOff x="8953500" y="3409950"/>
            <a:chExt cx="2667000" cy="1371600"/>
          </a:xfrm>
        </p:grpSpPr>
        <p:sp>
          <p:nvSpPr>
            <p:cNvPr id="47" name="Rectangle 47"/>
            <p:cNvSpPr/>
            <p:nvPr/>
          </p:nvSpPr>
          <p:spPr>
            <a:xfrm>
              <a:off x="8953500" y="3409950"/>
              <a:ext cx="2667000" cy="1371600"/>
            </a:xfrm>
            <a:prstGeom prst="roundRect">
              <a:avLst>
                <a:gd name="adj" fmla="val 8333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53500" y="3409950"/>
              <a:ext cx="57150" cy="13716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200495" y="3600698"/>
              <a:ext cx="191796" cy="189995"/>
              <a:chOff x="9200495" y="3600698"/>
              <a:chExt cx="191796" cy="18999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303363" y="3733800"/>
                <a:ext cx="8033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34" h="56893">
                    <a:moveTo>
                      <a:pt x="80334" y="0"/>
                    </a:moveTo>
                    <a:cubicBezTo>
                      <a:pt x="66190" y="32404"/>
                      <a:pt x="35262" y="54308"/>
                      <a:pt x="0" y="56893"/>
                    </a:cubicBezTo>
                    <a:cubicBezTo>
                      <a:pt x="2439" y="56312"/>
                      <a:pt x="4551" y="54792"/>
                      <a:pt x="5877" y="52664"/>
                    </a:cubicBezTo>
                    <a:cubicBezTo>
                      <a:pt x="16001" y="36446"/>
                      <a:pt x="23341" y="18649"/>
                      <a:pt x="27594" y="1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209103" y="3733800"/>
                <a:ext cx="80324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24" h="56893">
                    <a:moveTo>
                      <a:pt x="52740" y="0"/>
                    </a:moveTo>
                    <a:cubicBezTo>
                      <a:pt x="56991" y="18646"/>
                      <a:pt x="64331" y="36450"/>
                      <a:pt x="74457" y="52673"/>
                    </a:cubicBezTo>
                    <a:cubicBezTo>
                      <a:pt x="75782" y="54796"/>
                      <a:pt x="77890" y="56312"/>
                      <a:pt x="80324" y="56893"/>
                    </a:cubicBezTo>
                    <a:cubicBezTo>
                      <a:pt x="45066" y="54305"/>
                      <a:pt x="14142" y="32401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281446" y="3733800"/>
                <a:ext cx="29909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6995">
                    <a:moveTo>
                      <a:pt x="29909" y="0"/>
                    </a:moveTo>
                    <a:cubicBezTo>
                      <a:pt x="26567" y="12934"/>
                      <a:pt x="21539" y="25372"/>
                      <a:pt x="14954" y="36995"/>
                    </a:cubicBezTo>
                    <a:cubicBezTo>
                      <a:pt x="8370" y="25372"/>
                      <a:pt x="3342" y="12934"/>
                      <a:pt x="0" y="0"/>
                    </a:cubicBezTo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200495" y="3676650"/>
                <a:ext cx="58128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28" h="38100">
                    <a:moveTo>
                      <a:pt x="58128" y="0"/>
                    </a:moveTo>
                    <a:cubicBezTo>
                      <a:pt x="56713" y="12661"/>
                      <a:pt x="56713" y="25439"/>
                      <a:pt x="58128" y="38100"/>
                    </a:cubicBezTo>
                    <a:lnTo>
                      <a:pt x="2579" y="38100"/>
                    </a:lnTo>
                    <a:cubicBezTo>
                      <a:pt x="6" y="25531"/>
                      <a:pt x="0" y="12572"/>
                      <a:pt x="256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276213" y="3676650"/>
                <a:ext cx="40373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0373" h="38100">
                    <a:moveTo>
                      <a:pt x="38779" y="0"/>
                    </a:moveTo>
                    <a:cubicBezTo>
                      <a:pt x="40373" y="12650"/>
                      <a:pt x="40373" y="25450"/>
                      <a:pt x="38779" y="38100"/>
                    </a:cubicBezTo>
                    <a:lnTo>
                      <a:pt x="1594" y="38100"/>
                    </a:lnTo>
                    <a:cubicBezTo>
                      <a:pt x="0" y="25450"/>
                      <a:pt x="0" y="12650"/>
                      <a:pt x="1594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34176" y="3676650"/>
                <a:ext cx="5811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115" h="38100">
                    <a:moveTo>
                      <a:pt x="55569" y="0"/>
                    </a:moveTo>
                    <a:cubicBezTo>
                      <a:pt x="58115" y="12573"/>
                      <a:pt x="58109" y="25530"/>
                      <a:pt x="55550" y="38100"/>
                    </a:cubicBezTo>
                    <a:lnTo>
                      <a:pt x="0" y="38100"/>
                    </a:lnTo>
                    <a:cubicBezTo>
                      <a:pt x="1419" y="25441"/>
                      <a:pt x="1419" y="12668"/>
                      <a:pt x="0" y="0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209075" y="3600707"/>
                <a:ext cx="80343" cy="56893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893">
                    <a:moveTo>
                      <a:pt x="80343" y="0"/>
                    </a:moveTo>
                    <a:cubicBezTo>
                      <a:pt x="77911" y="586"/>
                      <a:pt x="75807" y="2105"/>
                      <a:pt x="74486" y="4229"/>
                    </a:cubicBezTo>
                    <a:cubicBezTo>
                      <a:pt x="64360" y="20450"/>
                      <a:pt x="57020" y="38250"/>
                      <a:pt x="52768" y="56893"/>
                    </a:cubicBezTo>
                    <a:lnTo>
                      <a:pt x="0" y="56893"/>
                    </a:lnTo>
                    <a:cubicBezTo>
                      <a:pt x="14018" y="24810"/>
                      <a:pt x="44493" y="2991"/>
                      <a:pt x="79381" y="57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281446" y="3620605"/>
                <a:ext cx="29909" cy="37005"/>
              </a:xfrm>
              <a:custGeom>
                <a:avLst/>
                <a:gdLst/>
                <a:ahLst/>
                <a:cxnLst/>
                <a:rect l="l" t="t" r="r" b="b"/>
                <a:pathLst>
                  <a:path w="29909" h="37005">
                    <a:moveTo>
                      <a:pt x="14954" y="0"/>
                    </a:moveTo>
                    <a:cubicBezTo>
                      <a:pt x="21540" y="11626"/>
                      <a:pt x="26567" y="24068"/>
                      <a:pt x="29909" y="37005"/>
                    </a:cubicBezTo>
                    <a:lnTo>
                      <a:pt x="0" y="37005"/>
                    </a:lnTo>
                    <a:cubicBezTo>
                      <a:pt x="3239" y="24460"/>
                      <a:pt x="8096" y="12240"/>
                      <a:pt x="14573" y="648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303382" y="3600698"/>
                <a:ext cx="80343" cy="56902"/>
              </a:xfrm>
              <a:custGeom>
                <a:avLst/>
                <a:gdLst/>
                <a:ahLst/>
                <a:cxnLst/>
                <a:rect l="l" t="t" r="r" b="b"/>
                <a:pathLst>
                  <a:path w="80343" h="56902">
                    <a:moveTo>
                      <a:pt x="0" y="0"/>
                    </a:moveTo>
                    <a:cubicBezTo>
                      <a:pt x="35260" y="2604"/>
                      <a:pt x="66184" y="24506"/>
                      <a:pt x="80343" y="56902"/>
                    </a:cubicBezTo>
                    <a:lnTo>
                      <a:pt x="27575" y="56902"/>
                    </a:lnTo>
                    <a:cubicBezTo>
                      <a:pt x="23324" y="38256"/>
                      <a:pt x="15984" y="20453"/>
                      <a:pt x="5858" y="4229"/>
                    </a:cubicBezTo>
                    <a:cubicBezTo>
                      <a:pt x="4712" y="2393"/>
                      <a:pt x="2975" y="1003"/>
                      <a:pt x="933" y="286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9470708" y="3624739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aws-cn-2 (宁夏)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69718" y="3933349"/>
              <a:ext cx="11141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cn-northwest-1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69718" y="4142899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284567523170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9182100" y="43815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69718" y="448579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ECS Fargate ETL · MCP: aws-cn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762500" y="5314950"/>
            <a:ext cx="2717863" cy="762000"/>
            <a:chOff x="4762500" y="5314950"/>
            <a:chExt cx="2717863" cy="762000"/>
          </a:xfrm>
        </p:grpSpPr>
        <p:sp>
          <p:nvSpPr>
            <p:cNvPr id="65" name="Rectangle 65"/>
            <p:cNvSpPr/>
            <p:nvPr/>
          </p:nvSpPr>
          <p:spPr>
            <a:xfrm>
              <a:off x="4762500" y="5314950"/>
              <a:ext cx="2667000" cy="762000"/>
            </a:xfrm>
            <a:prstGeom prst="roundRect">
              <a:avLst>
                <a:gd name="adj" fmla="val 12500"/>
              </a:avLst>
            </a:prstGeom>
            <a:solidFill>
              <a:srgbClr val="0F1419"/>
            </a:solidFill>
            <a:ln w="9525">
              <a:solidFill>
                <a:srgbClr val="2D3748"/>
              </a:solidFill>
              <a:prstDash val="dash"/>
            </a:ln>
          </p:spPr>
        </p:sp>
        <p:sp>
          <p:nvSpPr>
            <p:cNvPr id="66" name="Freeform 66"/>
            <p:cNvSpPr/>
            <p:nvPr/>
          </p:nvSpPr>
          <p:spPr>
            <a:xfrm>
              <a:off x="4961731" y="5519752"/>
              <a:ext cx="192088" cy="177786"/>
            </a:xfrm>
            <a:custGeom>
              <a:avLst/>
              <a:gdLst/>
              <a:ahLst/>
              <a:cxnLst/>
              <a:rect l="l" t="t" r="r" b="b"/>
              <a:pathLst>
                <a:path w="192088" h="177786">
                  <a:moveTo>
                    <a:pt x="69850" y="160323"/>
                  </a:moveTo>
                  <a:cubicBezTo>
                    <a:pt x="69850" y="169967"/>
                    <a:pt x="62032" y="177786"/>
                    <a:pt x="52388" y="177786"/>
                  </a:cubicBezTo>
                  <a:lnTo>
                    <a:pt x="17463" y="177786"/>
                  </a:lnTo>
                  <a:cubicBezTo>
                    <a:pt x="12640" y="177786"/>
                    <a:pt x="8731" y="173877"/>
                    <a:pt x="8731" y="169054"/>
                  </a:cubicBezTo>
                  <a:cubicBezTo>
                    <a:pt x="8731" y="164232"/>
                    <a:pt x="12640" y="160323"/>
                    <a:pt x="17463" y="160323"/>
                  </a:cubicBezTo>
                  <a:lnTo>
                    <a:pt x="52388" y="160323"/>
                  </a:lnTo>
                  <a:lnTo>
                    <a:pt x="52388" y="134156"/>
                  </a:lnTo>
                  <a:lnTo>
                    <a:pt x="49393" y="134164"/>
                  </a:lnTo>
                  <a:cubicBezTo>
                    <a:pt x="49051" y="134164"/>
                    <a:pt x="48710" y="134144"/>
                    <a:pt x="48371" y="134103"/>
                  </a:cubicBezTo>
                  <a:lnTo>
                    <a:pt x="47454" y="134095"/>
                  </a:lnTo>
                  <a:cubicBezTo>
                    <a:pt x="21784" y="133134"/>
                    <a:pt x="1030" y="113148"/>
                    <a:pt x="44" y="88142"/>
                  </a:cubicBezTo>
                  <a:lnTo>
                    <a:pt x="0" y="86256"/>
                  </a:lnTo>
                  <a:cubicBezTo>
                    <a:pt x="0" y="62271"/>
                    <a:pt x="18161" y="42512"/>
                    <a:pt x="41770" y="38959"/>
                  </a:cubicBezTo>
                  <a:lnTo>
                    <a:pt x="42766" y="38819"/>
                  </a:lnTo>
                  <a:lnTo>
                    <a:pt x="43377" y="37239"/>
                  </a:lnTo>
                  <a:cubicBezTo>
                    <a:pt x="49166" y="23094"/>
                    <a:pt x="61328" y="11866"/>
                    <a:pt x="76809" y="6522"/>
                  </a:cubicBezTo>
                  <a:lnTo>
                    <a:pt x="78939" y="5824"/>
                  </a:lnTo>
                  <a:cubicBezTo>
                    <a:pt x="98096" y="0"/>
                    <a:pt x="119225" y="3868"/>
                    <a:pt x="134470" y="16092"/>
                  </a:cubicBezTo>
                  <a:cubicBezTo>
                    <a:pt x="146563" y="25766"/>
                    <a:pt x="153565" y="39544"/>
                    <a:pt x="154115" y="53985"/>
                  </a:cubicBezTo>
                  <a:lnTo>
                    <a:pt x="154150" y="55836"/>
                  </a:lnTo>
                  <a:lnTo>
                    <a:pt x="154945" y="55863"/>
                  </a:lnTo>
                  <a:cubicBezTo>
                    <a:pt x="175027" y="56797"/>
                    <a:pt x="191118" y="72985"/>
                    <a:pt x="192053" y="93145"/>
                  </a:cubicBezTo>
                  <a:lnTo>
                    <a:pt x="192088" y="94987"/>
                  </a:lnTo>
                  <a:cubicBezTo>
                    <a:pt x="192088" y="116623"/>
                    <a:pt x="174651" y="134164"/>
                    <a:pt x="153102" y="134164"/>
                  </a:cubicBezTo>
                  <a:lnTo>
                    <a:pt x="139700" y="134164"/>
                  </a:lnTo>
                  <a:lnTo>
                    <a:pt x="139700" y="160323"/>
                  </a:lnTo>
                  <a:lnTo>
                    <a:pt x="174625" y="160323"/>
                  </a:lnTo>
                  <a:cubicBezTo>
                    <a:pt x="179447" y="160323"/>
                    <a:pt x="183356" y="164232"/>
                    <a:pt x="183356" y="169054"/>
                  </a:cubicBezTo>
                  <a:cubicBezTo>
                    <a:pt x="183356" y="173877"/>
                    <a:pt x="179447" y="177786"/>
                    <a:pt x="174625" y="177786"/>
                  </a:cubicBezTo>
                  <a:lnTo>
                    <a:pt x="139700" y="177786"/>
                  </a:lnTo>
                  <a:cubicBezTo>
                    <a:pt x="130056" y="177786"/>
                    <a:pt x="122238" y="169967"/>
                    <a:pt x="122238" y="160323"/>
                  </a:cubicBezTo>
                  <a:lnTo>
                    <a:pt x="122238" y="134156"/>
                  </a:lnTo>
                  <a:lnTo>
                    <a:pt x="104775" y="134156"/>
                  </a:lnTo>
                  <a:lnTo>
                    <a:pt x="104775" y="169054"/>
                  </a:lnTo>
                  <a:cubicBezTo>
                    <a:pt x="104775" y="173877"/>
                    <a:pt x="100866" y="177786"/>
                    <a:pt x="96044" y="177786"/>
                  </a:cubicBezTo>
                  <a:cubicBezTo>
                    <a:pt x="91222" y="177786"/>
                    <a:pt x="87313" y="173877"/>
                    <a:pt x="87313" y="169054"/>
                  </a:cubicBezTo>
                  <a:lnTo>
                    <a:pt x="87313" y="134156"/>
                  </a:lnTo>
                  <a:lnTo>
                    <a:pt x="69850" y="134156"/>
                  </a:ln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43512" y="5555456"/>
              <a:ext cx="22368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AA0A6"/>
                  </a:solidFill>
                  <a:latin typeface="Arial"/>
                  <a:ea typeface="SimHei"/>
                  <a:cs typeface="Arial"/>
                </a:rPr>
                <a:t>阿里云 / GCP（同模式可扩）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41570" y="5827395"/>
              <a:ext cx="24545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chart-aliyun + deploy/k8s.yaml 已占位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5905500"/>
            <a:ext cx="4498193" cy="438150"/>
            <a:chOff x="571500" y="5905500"/>
            <a:chExt cx="4498193" cy="438150"/>
          </a:xfrm>
        </p:grpSpPr>
        <p:sp>
          <p:nvSpPr>
            <p:cNvPr id="70" name="Rectangle 70"/>
            <p:cNvSpPr/>
            <p:nvPr/>
          </p:nvSpPr>
          <p:spPr>
            <a:xfrm>
              <a:off x="571500" y="5905500"/>
              <a:ext cx="3619500" cy="438150"/>
            </a:xfrm>
            <a:prstGeom prst="roundRect">
              <a:avLst>
                <a:gd name="adj" fmla="val 17391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55650" y="6035675"/>
              <a:ext cx="127000" cy="158750"/>
            </a:xfrm>
            <a:custGeom>
              <a:avLst/>
              <a:gdLst/>
              <a:ahLst/>
              <a:cxnLst/>
              <a:rect l="l" t="t" r="r" b="b"/>
              <a:pathLst>
                <a:path w="127000" h="158750">
                  <a:moveTo>
                    <a:pt x="63500" y="0"/>
                  </a:moveTo>
                  <a:cubicBezTo>
                    <a:pt x="85419" y="0"/>
                    <a:pt x="103188" y="17769"/>
                    <a:pt x="103188" y="39688"/>
                  </a:cubicBezTo>
                  <a:lnTo>
                    <a:pt x="103188" y="63500"/>
                  </a:lnTo>
                  <a:cubicBezTo>
                    <a:pt x="116339" y="63500"/>
                    <a:pt x="127000" y="74161"/>
                    <a:pt x="127000" y="87313"/>
                  </a:cubicBezTo>
                  <a:lnTo>
                    <a:pt x="127000" y="134938"/>
                  </a:lnTo>
                  <a:cubicBezTo>
                    <a:pt x="127000" y="148089"/>
                    <a:pt x="116339" y="158750"/>
                    <a:pt x="103188" y="158750"/>
                  </a:cubicBezTo>
                  <a:lnTo>
                    <a:pt x="23812" y="158750"/>
                  </a:lnTo>
                  <a:cubicBezTo>
                    <a:pt x="10661" y="158750"/>
                    <a:pt x="0" y="148089"/>
                    <a:pt x="0" y="134938"/>
                  </a:cubicBezTo>
                  <a:lnTo>
                    <a:pt x="0" y="87313"/>
                  </a:lnTo>
                  <a:cubicBezTo>
                    <a:pt x="0" y="74161"/>
                    <a:pt x="10661" y="63500"/>
                    <a:pt x="23812" y="63500"/>
                  </a:cubicBezTo>
                  <a:lnTo>
                    <a:pt x="23812" y="39688"/>
                  </a:lnTo>
                  <a:cubicBezTo>
                    <a:pt x="23812" y="17769"/>
                    <a:pt x="41581" y="0"/>
                    <a:pt x="63500" y="0"/>
                  </a:cubicBezTo>
                  <a:moveTo>
                    <a:pt x="63500" y="95250"/>
                  </a:moveTo>
                  <a:cubicBezTo>
                    <a:pt x="55192" y="95247"/>
                    <a:pt x="48288" y="101650"/>
                    <a:pt x="47665" y="109934"/>
                  </a:cubicBezTo>
                  <a:lnTo>
                    <a:pt x="47625" y="111125"/>
                  </a:lnTo>
                  <a:cubicBezTo>
                    <a:pt x="47625" y="119893"/>
                    <a:pt x="54732" y="127000"/>
                    <a:pt x="63500" y="127000"/>
                  </a:cubicBezTo>
                  <a:cubicBezTo>
                    <a:pt x="72268" y="127000"/>
                    <a:pt x="79375" y="119893"/>
                    <a:pt x="79375" y="111125"/>
                  </a:cubicBezTo>
                  <a:cubicBezTo>
                    <a:pt x="79375" y="102357"/>
                    <a:pt x="72268" y="95250"/>
                    <a:pt x="63500" y="95250"/>
                  </a:cubicBezTo>
                  <a:moveTo>
                    <a:pt x="63500" y="15875"/>
                  </a:moveTo>
                  <a:cubicBezTo>
                    <a:pt x="50349" y="15875"/>
                    <a:pt x="39688" y="26536"/>
                    <a:pt x="39688" y="39688"/>
                  </a:cubicBezTo>
                  <a:lnTo>
                    <a:pt x="39688" y="63500"/>
                  </a:lnTo>
                  <a:lnTo>
                    <a:pt x="87313" y="63500"/>
                  </a:lnTo>
                  <a:lnTo>
                    <a:pt x="87313" y="39688"/>
                  </a:lnTo>
                  <a:cubicBezTo>
                    <a:pt x="87313" y="26536"/>
                    <a:pt x="76651" y="15875"/>
                    <a:pt x="63500" y="15875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7265" y="6068378"/>
              <a:ext cx="40924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MCP server 自持 cn AK/SK，cross-partition 安全跨域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74" name="TextBox 74"/>
            <p:cNvSpPr txBox="1"/>
            <p:nvPr/>
          </p:nvSpPr>
          <p:spPr>
            <a:xfrm>
              <a:off x="561022" y="6521291"/>
              <a:ext cx="46960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参考：blog/01-single-account-bridge.md + blog/02-multi-account-extension.md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7" grpId="0"/>
      <p:bldP spid="46" grpId="0"/>
      <p:bldP spid="64" grpId="0"/>
      <p:bldP spid="69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52500" y="1047750"/>
            <a:ext cx="1646158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0" b="1" dirty="0">
                <a:solidFill>
                  <a:srgbClr val="1565C0">
                    <a:alpha val="15000"/>
                  </a:srgbClr>
                </a:solidFill>
                <a:latin typeface="Georgia"/>
                <a:ea typeface="SimSun"/>
                <a:cs typeface="Georgia"/>
              </a:rPr>
              <a:t>"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667250" y="1029652"/>
            <a:ext cx="2857500" cy="265748"/>
            <a:chOff x="4667250" y="1029652"/>
            <a:chExt cx="2857500" cy="265748"/>
          </a:xfrm>
        </p:grpSpPr>
        <p:sp>
          <p:nvSpPr>
            <p:cNvPr id="6" name="TextBox 6"/>
            <p:cNvSpPr txBox="1"/>
            <p:nvPr/>
          </p:nvSpPr>
          <p:spPr>
            <a:xfrm>
              <a:off x="4826708" y="1029652"/>
              <a:ext cx="25385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AGENT THINKING — DIRECT EVIDENCE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667250" y="128587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4288">
              <a:solidFill>
                <a:srgbClr val="FF98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170968" y="1487805"/>
            <a:ext cx="5850064" cy="426720"/>
            <a:chOff x="3170968" y="1487805"/>
            <a:chExt cx="5850064" cy="426720"/>
          </a:xfrm>
        </p:grpSpPr>
        <p:sp>
          <p:nvSpPr>
            <p:cNvPr id="9" name="TextBox 9"/>
            <p:cNvSpPr txBox="1"/>
            <p:nvPr/>
          </p:nvSpPr>
          <p:spPr>
            <a:xfrm>
              <a:off x="3170968" y="1487805"/>
              <a:ext cx="585006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Agent 自己说了：China 账号只能走 MCP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43000" y="2571750"/>
            <a:ext cx="9906000" cy="2095500"/>
            <a:chOff x="1143000" y="2571750"/>
            <a:chExt cx="9906000" cy="2095500"/>
          </a:xfrm>
        </p:grpSpPr>
        <p:sp>
          <p:nvSpPr>
            <p:cNvPr id="11" name="Rectangle 11"/>
            <p:cNvSpPr/>
            <p:nvPr/>
          </p:nvSpPr>
          <p:spPr>
            <a:xfrm>
              <a:off x="1143000" y="2571750"/>
              <a:ext cx="9906000" cy="2095500"/>
            </a:xfrm>
            <a:prstGeom prst="roundRect">
              <a:avLst>
                <a:gd name="adj" fmla="val 7273"/>
              </a:avLst>
            </a:prstGeom>
            <a:solidFill>
              <a:srgbClr val="1A2332"/>
            </a:solidFill>
            <a:ln w="14288">
              <a:solidFill>
                <a:srgbClr val="42A5F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43000" y="2571750"/>
              <a:ext cx="57150" cy="2095500"/>
            </a:xfrm>
            <a:prstGeom prst="roundRect">
              <a:avLst>
                <a:gd name="adj" fmla="val 33333"/>
              </a:avLst>
            </a:prstGeom>
            <a:solidFill>
              <a:srgbClr val="42A5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98295" y="2946082"/>
              <a:ext cx="54760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"China accounts aren't directly in the enabled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8295" y="3269932"/>
              <a:ext cx="5717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associations; instead they're accessed through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8295" y="3593782"/>
              <a:ext cx="59248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the custom MCP servers, so I'll need to use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98295" y="3917632"/>
              <a:ext cx="63297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aws_cn_2_mcp tools to reach the Beijing account."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4962" y="4336256"/>
              <a:ext cx="56396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— DevOps Agent 内部 thinking 字段（C2 调查 journal recordId 8e7a143f）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143500"/>
            <a:ext cx="11049000" cy="952500"/>
            <a:chOff x="571500" y="5143500"/>
            <a:chExt cx="11049000" cy="952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143500"/>
              <a:ext cx="3619500" cy="952500"/>
              <a:chOff x="571500" y="5143500"/>
              <a:chExt cx="361950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7150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2D374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27710" y="5156835"/>
                <a:ext cx="42052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65860" y="5280660"/>
                <a:ext cx="187071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原生关联里没有中国区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68718" y="5562124"/>
                <a:ext cx="16552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"not directly in enabled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68718" y="5752624"/>
                <a:ext cx="17050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associations" — 这是限制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286250" y="5143500"/>
              <a:ext cx="3989713" cy="952500"/>
              <a:chOff x="4286250" y="5143500"/>
              <a:chExt cx="3989713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28625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42460" y="5156835"/>
                <a:ext cx="524037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2.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80610" y="5280660"/>
                <a:ext cx="256079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"自定义 MCP" = 我们的 Bridge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83468" y="5562124"/>
                <a:ext cx="33924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aws-cn-2.yingchu.cloud / aws-cn.yingchu.cloud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83468" y="5752624"/>
                <a:ext cx="1427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— 项目自己部的两条路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01000" y="5143500"/>
              <a:ext cx="3619500" cy="952500"/>
              <a:chOff x="8001000" y="5143500"/>
              <a:chExt cx="3619500" cy="952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01000" y="5143500"/>
                <a:ext cx="3619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2332"/>
              </a:solidFill>
              <a:ln w="9525">
                <a:solidFill>
                  <a:srgbClr val="2D3748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57210" y="5156835"/>
                <a:ext cx="524037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3.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595360" y="5280660"/>
                <a:ext cx="176029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每次 cn API 都被记账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598218" y="5562124"/>
                <a:ext cx="23743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MCP pod access log = 100% 流量审计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598218" y="5752624"/>
                <a:ext cx="7153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— 一行不漏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61022" y="6521291"/>
              <a:ext cx="46779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证据保存于 blog/cli-evidence/case2/c2-journal-real.json (300 KB) · 100 records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8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8142589" cy="1162050"/>
            <a:chOff x="537210" y="476250"/>
            <a:chExt cx="8142589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PART 3 · SKILLS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14258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个 Skill, 分三层 — 让 Agent 真正懂中国区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58052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Skill 是策略层 — Foundation 兜底，分析层应需调用，Pipeline 走故事剧本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35217" y="2000250"/>
            <a:ext cx="2321566" cy="476250"/>
            <a:chOff x="4935217" y="2000250"/>
            <a:chExt cx="2321566" cy="476250"/>
          </a:xfrm>
        </p:grpSpPr>
        <p:sp>
          <p:nvSpPr>
            <p:cNvPr id="8" name="Polygon 8"/>
            <p:cNvSpPr/>
            <p:nvPr/>
          </p:nvSpPr>
          <p:spPr>
            <a:xfrm>
              <a:off x="5143500" y="2000250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0" y="0"/>
                  </a:moveTo>
                  <a:lnTo>
                    <a:pt x="1905000" y="0"/>
                  </a:lnTo>
                  <a:lnTo>
                    <a:pt x="1524000" y="476250"/>
                  </a:lnTo>
                  <a:lnTo>
                    <a:pt x="381000" y="476250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90000"/>
                  </a:srgbClr>
                </a:gs>
                <a:gs pos="100000">
                  <a:srgbClr val="81C784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4CAF5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35217" y="21564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cn-partition-arn-routing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0" y="2571750"/>
            <a:ext cx="2667000" cy="571500"/>
            <a:chOff x="4762500" y="2571750"/>
            <a:chExt cx="2667000" cy="571500"/>
          </a:xfrm>
        </p:grpSpPr>
        <p:sp>
          <p:nvSpPr>
            <p:cNvPr id="11" name="Polygon 11"/>
            <p:cNvSpPr/>
            <p:nvPr/>
          </p:nvSpPr>
          <p:spPr>
            <a:xfrm>
              <a:off x="4762500" y="2571750"/>
              <a:ext cx="2667000" cy="571500"/>
            </a:xfrm>
            <a:custGeom>
              <a:avLst/>
              <a:gdLst/>
              <a:ahLst/>
              <a:cxnLst/>
              <a:rect l="l" t="t" r="r" b="b"/>
              <a:pathLst>
                <a:path w="2667000" h="571500">
                  <a:moveTo>
                    <a:pt x="0" y="0"/>
                  </a:moveTo>
                  <a:lnTo>
                    <a:pt x="2667000" y="0"/>
                  </a:lnTo>
                  <a:lnTo>
                    <a:pt x="2286000" y="571500"/>
                  </a:lnTo>
                  <a:lnTo>
                    <a:pt x="381000" y="571500"/>
                  </a:lnTo>
                  <a:close/>
                </a:path>
              </a:pathLst>
            </a:custGeom>
            <a:gradFill>
              <a:gsLst>
                <a:gs pos="0">
                  <a:srgbClr val="F44336">
                    <a:alpha val="90000"/>
                  </a:srgbClr>
                </a:gs>
                <a:gs pos="100000">
                  <a:srgbClr val="FF7043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F4433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97539" y="2688431"/>
              <a:ext cx="1796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Pipeline 层 — 4 个 Skill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78562" y="2931795"/>
              <a:ext cx="2434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prevention · triage · rca · mitigation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997881" y="3238500"/>
            <a:ext cx="4196239" cy="666750"/>
            <a:chOff x="3997881" y="3238500"/>
            <a:chExt cx="4196239" cy="666750"/>
          </a:xfrm>
        </p:grpSpPr>
        <p:sp>
          <p:nvSpPr>
            <p:cNvPr id="15" name="Polygon 15"/>
            <p:cNvSpPr/>
            <p:nvPr/>
          </p:nvSpPr>
          <p:spPr>
            <a:xfrm>
              <a:off x="4286250" y="3238500"/>
              <a:ext cx="3619500" cy="666750"/>
            </a:xfrm>
            <a:custGeom>
              <a:avLst/>
              <a:gdLst/>
              <a:ahLst/>
              <a:cxnLst/>
              <a:rect l="l" t="t" r="r" b="b"/>
              <a:pathLst>
                <a:path w="3619500" h="666750">
                  <a:moveTo>
                    <a:pt x="0" y="0"/>
                  </a:moveTo>
                  <a:lnTo>
                    <a:pt x="3619500" y="0"/>
                  </a:lnTo>
                  <a:lnTo>
                    <a:pt x="3238500" y="666750"/>
                  </a:lnTo>
                  <a:lnTo>
                    <a:pt x="381000" y="666750"/>
                  </a:lnTo>
                  <a:close/>
                </a:path>
              </a:pathLst>
            </a:custGeom>
            <a:gradFill>
              <a:gsLst>
                <a:gs pos="0">
                  <a:srgbClr val="FF9800">
                    <a:alpha val="90000"/>
                  </a:srgbClr>
                </a:gs>
                <a:gs pos="100000">
                  <a:srgbClr val="FFB74D">
                    <a:alpha val="90000"/>
                  </a:srgbClr>
                </a:gs>
              </a:gsLst>
              <a:lin ang="0" scaled="1"/>
            </a:gradFill>
            <a:ln w="9525">
              <a:solidFill>
                <a:srgbClr val="FF98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65748" y="3374231"/>
              <a:ext cx="1460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分析层 — 3 个 Skill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7881" y="3636645"/>
              <a:ext cx="4196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inventory-compare · cost-attribution · security-posture-check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619500" y="4000500"/>
            <a:ext cx="4953000" cy="857250"/>
            <a:chOff x="3619500" y="4000500"/>
            <a:chExt cx="4953000" cy="857250"/>
          </a:xfrm>
        </p:grpSpPr>
        <p:sp>
          <p:nvSpPr>
            <p:cNvPr id="19" name="Polygon 19"/>
            <p:cNvSpPr/>
            <p:nvPr/>
          </p:nvSpPr>
          <p:spPr>
            <a:xfrm>
              <a:off x="3619500" y="4000500"/>
              <a:ext cx="4953000" cy="857250"/>
            </a:xfrm>
            <a:custGeom>
              <a:avLst/>
              <a:gdLst/>
              <a:ahLst/>
              <a:cxnLst/>
              <a:rect l="l" t="t" r="r" b="b"/>
              <a:pathLst>
                <a:path w="4953000" h="857250">
                  <a:moveTo>
                    <a:pt x="0" y="0"/>
                  </a:moveTo>
                  <a:lnTo>
                    <a:pt x="4953000" y="0"/>
                  </a:lnTo>
                  <a:lnTo>
                    <a:pt x="4572000" y="857250"/>
                  </a:lnTo>
                  <a:lnTo>
                    <a:pt x="381000" y="857250"/>
                  </a:lnTo>
                  <a:close/>
                </a:path>
              </a:pathLst>
            </a:custGeom>
            <a:gradFill>
              <a:gsLst>
                <a:gs pos="0">
                  <a:srgbClr val="1565C0">
                    <a:alpha val="95000"/>
                  </a:srgbClr>
                </a:gs>
                <a:gs pos="100000">
                  <a:srgbClr val="42A5F5">
                    <a:alpha val="95000"/>
                  </a:srgbClr>
                </a:gs>
              </a:gsLst>
              <a:lin ang="0" scaled="1"/>
            </a:gradFill>
            <a:ln w="9525">
              <a:solidFill>
                <a:srgbClr val="1565C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81087" y="4164806"/>
              <a:ext cx="2029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Foundation 层 — 1 个 Skill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24568" y="4455795"/>
              <a:ext cx="2342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 val="90000"/>
                    </a:srgbClr>
                  </a:solidFill>
                  <a:latin typeface="Consolas"/>
                  <a:ea typeface="Microsoft YaHei"/>
                  <a:cs typeface="Consolas"/>
                </a:rPr>
                <a:t>china-region-multi-account-routing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1308" y="4625816"/>
              <a:ext cx="30693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aws-cn = 北京 · aws-cn-2 = 宁夏 — 所有 skill 隐式依赖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4095750"/>
            <a:ext cx="3048000" cy="771525"/>
            <a:chOff x="571500" y="4095750"/>
            <a:chExt cx="3048000" cy="771525"/>
          </a:xfrm>
        </p:grpSpPr>
        <p:sp>
          <p:nvSpPr>
            <p:cNvPr id="24" name="Line 24"/>
            <p:cNvSpPr/>
            <p:nvPr/>
          </p:nvSpPr>
          <p:spPr>
            <a:xfrm>
              <a:off x="2095500" y="44291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565C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047875" y="4381500"/>
              <a:ext cx="95250" cy="952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409575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1565C0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7697" y="4262623"/>
              <a:ext cx="143847" cy="142497"/>
              <a:chOff x="737697" y="4262623"/>
              <a:chExt cx="143847" cy="14249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14847" y="4362450"/>
                <a:ext cx="60250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50" h="42670">
                    <a:moveTo>
                      <a:pt x="60250" y="0"/>
                    </a:moveTo>
                    <a:cubicBezTo>
                      <a:pt x="49643" y="24303"/>
                      <a:pt x="26446" y="40731"/>
                      <a:pt x="0" y="42670"/>
                    </a:cubicBezTo>
                    <a:cubicBezTo>
                      <a:pt x="1829" y="42234"/>
                      <a:pt x="3413" y="41094"/>
                      <a:pt x="4408" y="39498"/>
                    </a:cubicBezTo>
                    <a:cubicBezTo>
                      <a:pt x="12001" y="27334"/>
                      <a:pt x="17506" y="13987"/>
                      <a:pt x="20695" y="7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44153" y="4362450"/>
                <a:ext cx="60243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43" h="42670">
                    <a:moveTo>
                      <a:pt x="39555" y="0"/>
                    </a:moveTo>
                    <a:cubicBezTo>
                      <a:pt x="42743" y="13985"/>
                      <a:pt x="48248" y="27337"/>
                      <a:pt x="55843" y="39505"/>
                    </a:cubicBezTo>
                    <a:cubicBezTo>
                      <a:pt x="56837" y="41097"/>
                      <a:pt x="58418" y="42234"/>
                      <a:pt x="60243" y="42670"/>
                    </a:cubicBezTo>
                    <a:cubicBezTo>
                      <a:pt x="33800" y="40729"/>
                      <a:pt x="10606" y="24301"/>
                      <a:pt x="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98409" y="4362450"/>
                <a:ext cx="22431" cy="27746"/>
              </a:xfrm>
              <a:custGeom>
                <a:avLst/>
                <a:gdLst/>
                <a:ahLst/>
                <a:cxnLst/>
                <a:rect l="l" t="t" r="r" b="b"/>
                <a:pathLst>
                  <a:path w="22431" h="27746">
                    <a:moveTo>
                      <a:pt x="22431" y="0"/>
                    </a:moveTo>
                    <a:cubicBezTo>
                      <a:pt x="19925" y="9700"/>
                      <a:pt x="16154" y="19029"/>
                      <a:pt x="11216" y="27746"/>
                    </a:cubicBezTo>
                    <a:cubicBezTo>
                      <a:pt x="6277" y="19029"/>
                      <a:pt x="2506" y="9700"/>
                      <a:pt x="0" y="0"/>
                    </a:cubicBezTo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7697" y="4319588"/>
                <a:ext cx="43596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596" h="28575">
                    <a:moveTo>
                      <a:pt x="43596" y="0"/>
                    </a:moveTo>
                    <a:cubicBezTo>
                      <a:pt x="42535" y="9495"/>
                      <a:pt x="42535" y="19080"/>
                      <a:pt x="43596" y="28575"/>
                    </a:cubicBezTo>
                    <a:lnTo>
                      <a:pt x="1934" y="28575"/>
                    </a:lnTo>
                    <a:cubicBezTo>
                      <a:pt x="5" y="19148"/>
                      <a:pt x="0" y="9429"/>
                      <a:pt x="192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94485" y="4319588"/>
                <a:ext cx="302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0280" h="28575">
                    <a:moveTo>
                      <a:pt x="29085" y="0"/>
                    </a:moveTo>
                    <a:cubicBezTo>
                      <a:pt x="30280" y="9487"/>
                      <a:pt x="30280" y="19088"/>
                      <a:pt x="29085" y="28575"/>
                    </a:cubicBezTo>
                    <a:lnTo>
                      <a:pt x="1195" y="28575"/>
                    </a:lnTo>
                    <a:cubicBezTo>
                      <a:pt x="0" y="19088"/>
                      <a:pt x="0" y="9487"/>
                      <a:pt x="1195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7957" y="4319588"/>
                <a:ext cx="435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587" h="28575">
                    <a:moveTo>
                      <a:pt x="41677" y="0"/>
                    </a:moveTo>
                    <a:cubicBezTo>
                      <a:pt x="43587" y="9430"/>
                      <a:pt x="43582" y="19147"/>
                      <a:pt x="41662" y="28575"/>
                    </a:cubicBezTo>
                    <a:lnTo>
                      <a:pt x="0" y="28575"/>
                    </a:lnTo>
                    <a:cubicBezTo>
                      <a:pt x="1064" y="19081"/>
                      <a:pt x="1064" y="9501"/>
                      <a:pt x="0" y="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4131" y="4262630"/>
                <a:ext cx="60258" cy="42670"/>
              </a:xfrm>
              <a:custGeom>
                <a:avLst/>
                <a:gdLst/>
                <a:ahLst/>
                <a:cxnLst/>
                <a:rect l="l" t="t" r="r" b="b"/>
                <a:pathLst>
                  <a:path w="60258" h="42670">
                    <a:moveTo>
                      <a:pt x="60258" y="0"/>
                    </a:moveTo>
                    <a:cubicBezTo>
                      <a:pt x="58433" y="439"/>
                      <a:pt x="56855" y="1579"/>
                      <a:pt x="55864" y="3172"/>
                    </a:cubicBezTo>
                    <a:cubicBezTo>
                      <a:pt x="48270" y="15337"/>
                      <a:pt x="42765" y="28688"/>
                      <a:pt x="39576" y="42670"/>
                    </a:cubicBezTo>
                    <a:lnTo>
                      <a:pt x="0" y="42670"/>
                    </a:lnTo>
                    <a:cubicBezTo>
                      <a:pt x="10514" y="18607"/>
                      <a:pt x="33369" y="2243"/>
                      <a:pt x="59536" y="43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98409" y="4277554"/>
                <a:ext cx="22431" cy="27753"/>
              </a:xfrm>
              <a:custGeom>
                <a:avLst/>
                <a:gdLst/>
                <a:ahLst/>
                <a:cxnLst/>
                <a:rect l="l" t="t" r="r" b="b"/>
                <a:pathLst>
                  <a:path w="22431" h="27753">
                    <a:moveTo>
                      <a:pt x="11216" y="0"/>
                    </a:moveTo>
                    <a:cubicBezTo>
                      <a:pt x="16155" y="8719"/>
                      <a:pt x="19926" y="18051"/>
                      <a:pt x="22431" y="27753"/>
                    </a:cubicBezTo>
                    <a:lnTo>
                      <a:pt x="0" y="27753"/>
                    </a:lnTo>
                    <a:cubicBezTo>
                      <a:pt x="2429" y="18345"/>
                      <a:pt x="6072" y="9180"/>
                      <a:pt x="10930" y="48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4861" y="4262623"/>
                <a:ext cx="60258" cy="42677"/>
              </a:xfrm>
              <a:custGeom>
                <a:avLst/>
                <a:gdLst/>
                <a:ahLst/>
                <a:cxnLst/>
                <a:rect l="l" t="t" r="r" b="b"/>
                <a:pathLst>
                  <a:path w="60258" h="42677">
                    <a:moveTo>
                      <a:pt x="0" y="0"/>
                    </a:moveTo>
                    <a:cubicBezTo>
                      <a:pt x="26445" y="1953"/>
                      <a:pt x="49638" y="18379"/>
                      <a:pt x="60258" y="42677"/>
                    </a:cubicBezTo>
                    <a:lnTo>
                      <a:pt x="20681" y="42677"/>
                    </a:lnTo>
                    <a:cubicBezTo>
                      <a:pt x="17493" y="28692"/>
                      <a:pt x="11988" y="15340"/>
                      <a:pt x="4393" y="3172"/>
                    </a:cubicBezTo>
                    <a:cubicBezTo>
                      <a:pt x="3534" y="1795"/>
                      <a:pt x="2231" y="752"/>
                      <a:pt x="700" y="214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0118" y="4276249"/>
              <a:ext cx="8097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Foundation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2470" y="4531995"/>
              <a:ext cx="10218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所有 skill 都引用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2470" y="46843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的账号路由表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572500" y="3238500"/>
            <a:ext cx="3056477" cy="771525"/>
            <a:chOff x="8572500" y="3238500"/>
            <a:chExt cx="3056477" cy="771525"/>
          </a:xfrm>
        </p:grpSpPr>
        <p:sp>
          <p:nvSpPr>
            <p:cNvPr id="41" name="Line 41"/>
            <p:cNvSpPr/>
            <p:nvPr/>
          </p:nvSpPr>
          <p:spPr>
            <a:xfrm>
              <a:off x="8572500" y="35718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4288">
              <a:solidFill>
                <a:srgbClr val="FF980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048875" y="3524250"/>
              <a:ext cx="95250" cy="95250"/>
            </a:xfrm>
            <a:prstGeom prst="ellipse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44125" y="323850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FF9800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03357" y="3419475"/>
              <a:ext cx="157467" cy="114300"/>
            </a:xfrm>
            <a:custGeom>
              <a:avLst/>
              <a:gdLst/>
              <a:ahLst/>
              <a:cxnLst/>
              <a:rect l="l" t="t" r="r" b="b"/>
              <a:pathLst>
                <a:path w="157467" h="114300">
                  <a:moveTo>
                    <a:pt x="78893" y="0"/>
                  </a:moveTo>
                  <a:cubicBezTo>
                    <a:pt x="109539" y="0"/>
                    <a:pt x="135064" y="17352"/>
                    <a:pt x="155081" y="51106"/>
                  </a:cubicBezTo>
                  <a:lnTo>
                    <a:pt x="156652" y="53814"/>
                  </a:lnTo>
                  <a:lnTo>
                    <a:pt x="156974" y="54528"/>
                  </a:lnTo>
                  <a:lnTo>
                    <a:pt x="157188" y="55121"/>
                  </a:lnTo>
                  <a:lnTo>
                    <a:pt x="157288" y="55514"/>
                  </a:lnTo>
                  <a:lnTo>
                    <a:pt x="157388" y="56100"/>
                  </a:lnTo>
                  <a:lnTo>
                    <a:pt x="157467" y="56814"/>
                  </a:lnTo>
                  <a:lnTo>
                    <a:pt x="157467" y="57600"/>
                  </a:lnTo>
                  <a:lnTo>
                    <a:pt x="157367" y="58393"/>
                  </a:lnTo>
                  <a:cubicBezTo>
                    <a:pt x="157320" y="58658"/>
                    <a:pt x="157258" y="58921"/>
                    <a:pt x="157181" y="59179"/>
                  </a:cubicBezTo>
                  <a:lnTo>
                    <a:pt x="156902" y="59950"/>
                  </a:lnTo>
                  <a:lnTo>
                    <a:pt x="156645" y="60486"/>
                  </a:lnTo>
                  <a:lnTo>
                    <a:pt x="156531" y="60700"/>
                  </a:lnTo>
                  <a:cubicBezTo>
                    <a:pt x="136785" y="95248"/>
                    <a:pt x="111525" y="113421"/>
                    <a:pt x="81128" y="114271"/>
                  </a:cubicBezTo>
                  <a:lnTo>
                    <a:pt x="78893" y="114300"/>
                  </a:lnTo>
                  <a:cubicBezTo>
                    <a:pt x="47489" y="114300"/>
                    <a:pt x="21478" y="96091"/>
                    <a:pt x="1254" y="60693"/>
                  </a:cubicBezTo>
                  <a:cubicBezTo>
                    <a:pt x="0" y="58498"/>
                    <a:pt x="0" y="55802"/>
                    <a:pt x="1254" y="53607"/>
                  </a:cubicBezTo>
                  <a:cubicBezTo>
                    <a:pt x="21478" y="18209"/>
                    <a:pt x="47489" y="0"/>
                    <a:pt x="78893" y="0"/>
                  </a:cubicBezTo>
                  <a:close/>
                  <a:moveTo>
                    <a:pt x="78893" y="35719"/>
                  </a:moveTo>
                  <a:cubicBezTo>
                    <a:pt x="67056" y="35719"/>
                    <a:pt x="57461" y="45314"/>
                    <a:pt x="57461" y="57150"/>
                  </a:cubicBezTo>
                  <a:cubicBezTo>
                    <a:pt x="57461" y="68986"/>
                    <a:pt x="67056" y="78581"/>
                    <a:pt x="78893" y="78581"/>
                  </a:cubicBezTo>
                  <a:cubicBezTo>
                    <a:pt x="90729" y="78581"/>
                    <a:pt x="100324" y="68986"/>
                    <a:pt x="100324" y="57150"/>
                  </a:cubicBezTo>
                  <a:cubicBezTo>
                    <a:pt x="100324" y="45314"/>
                    <a:pt x="90729" y="35719"/>
                    <a:pt x="78893" y="35719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12742" y="3418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分析层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85095" y="3674745"/>
              <a:ext cx="11204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用户主动 query 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85095" y="3827145"/>
              <a:ext cx="1343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激活 (Generic agent)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429500" y="2476500"/>
            <a:ext cx="3048000" cy="771525"/>
            <a:chOff x="7429500" y="2476500"/>
            <a:chExt cx="3048000" cy="771525"/>
          </a:xfrm>
        </p:grpSpPr>
        <p:sp>
          <p:nvSpPr>
            <p:cNvPr id="49" name="Line 49"/>
            <p:cNvSpPr/>
            <p:nvPr/>
          </p:nvSpPr>
          <p:spPr>
            <a:xfrm>
              <a:off x="7429500" y="28098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905875" y="2762250"/>
              <a:ext cx="95250" cy="9525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001125" y="2476500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F44336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181777" y="2643188"/>
              <a:ext cx="114947" cy="145525"/>
            </a:xfrm>
            <a:custGeom>
              <a:avLst/>
              <a:gdLst/>
              <a:ahLst/>
              <a:cxnLst/>
              <a:rect l="l" t="t" r="r" b="b"/>
              <a:pathLst>
                <a:path w="114947" h="145525">
                  <a:moveTo>
                    <a:pt x="64617" y="0"/>
                  </a:moveTo>
                  <a:lnTo>
                    <a:pt x="64746" y="7"/>
                  </a:lnTo>
                  <a:lnTo>
                    <a:pt x="64860" y="14"/>
                  </a:lnTo>
                  <a:lnTo>
                    <a:pt x="65453" y="50"/>
                  </a:lnTo>
                  <a:lnTo>
                    <a:pt x="65532" y="64"/>
                  </a:lnTo>
                  <a:lnTo>
                    <a:pt x="65610" y="64"/>
                  </a:lnTo>
                  <a:lnTo>
                    <a:pt x="65882" y="129"/>
                  </a:lnTo>
                  <a:lnTo>
                    <a:pt x="66253" y="186"/>
                  </a:lnTo>
                  <a:lnTo>
                    <a:pt x="66367" y="229"/>
                  </a:lnTo>
                  <a:lnTo>
                    <a:pt x="66446" y="236"/>
                  </a:lnTo>
                  <a:lnTo>
                    <a:pt x="66653" y="314"/>
                  </a:lnTo>
                  <a:lnTo>
                    <a:pt x="67025" y="414"/>
                  </a:lnTo>
                  <a:lnTo>
                    <a:pt x="67160" y="479"/>
                  </a:lnTo>
                  <a:lnTo>
                    <a:pt x="67268" y="507"/>
                  </a:lnTo>
                  <a:lnTo>
                    <a:pt x="67468" y="607"/>
                  </a:lnTo>
                  <a:lnTo>
                    <a:pt x="67753" y="729"/>
                  </a:lnTo>
                  <a:lnTo>
                    <a:pt x="67903" y="814"/>
                  </a:lnTo>
                  <a:lnTo>
                    <a:pt x="68060" y="886"/>
                  </a:lnTo>
                  <a:lnTo>
                    <a:pt x="68225" y="993"/>
                  </a:lnTo>
                  <a:lnTo>
                    <a:pt x="68446" y="1114"/>
                  </a:lnTo>
                  <a:lnTo>
                    <a:pt x="68689" y="1286"/>
                  </a:lnTo>
                  <a:lnTo>
                    <a:pt x="68818" y="1364"/>
                  </a:lnTo>
                  <a:lnTo>
                    <a:pt x="68911" y="1450"/>
                  </a:lnTo>
                  <a:lnTo>
                    <a:pt x="69082" y="1572"/>
                  </a:lnTo>
                  <a:lnTo>
                    <a:pt x="69353" y="1815"/>
                  </a:lnTo>
                  <a:lnTo>
                    <a:pt x="69511" y="1936"/>
                  </a:lnTo>
                  <a:lnTo>
                    <a:pt x="69568" y="2007"/>
                  </a:lnTo>
                  <a:lnTo>
                    <a:pt x="69668" y="2093"/>
                  </a:lnTo>
                  <a:lnTo>
                    <a:pt x="69925" y="2386"/>
                  </a:lnTo>
                  <a:lnTo>
                    <a:pt x="70111" y="2579"/>
                  </a:lnTo>
                  <a:lnTo>
                    <a:pt x="70154" y="2643"/>
                  </a:lnTo>
                  <a:cubicBezTo>
                    <a:pt x="71011" y="3693"/>
                    <a:pt x="71554" y="4943"/>
                    <a:pt x="71711" y="6308"/>
                  </a:cubicBezTo>
                  <a:lnTo>
                    <a:pt x="71718" y="6394"/>
                  </a:lnTo>
                  <a:lnTo>
                    <a:pt x="71732" y="6687"/>
                  </a:lnTo>
                  <a:lnTo>
                    <a:pt x="71761" y="7144"/>
                  </a:lnTo>
                  <a:lnTo>
                    <a:pt x="71761" y="50006"/>
                  </a:lnTo>
                  <a:lnTo>
                    <a:pt x="107480" y="50006"/>
                  </a:lnTo>
                  <a:cubicBezTo>
                    <a:pt x="110028" y="50006"/>
                    <a:pt x="112383" y="51362"/>
                    <a:pt x="113662" y="53567"/>
                  </a:cubicBezTo>
                  <a:cubicBezTo>
                    <a:pt x="114940" y="55771"/>
                    <a:pt x="114947" y="58489"/>
                    <a:pt x="113680" y="60700"/>
                  </a:cubicBezTo>
                  <a:lnTo>
                    <a:pt x="113252" y="61351"/>
                  </a:lnTo>
                  <a:lnTo>
                    <a:pt x="56102" y="139932"/>
                  </a:lnTo>
                  <a:cubicBezTo>
                    <a:pt x="52044" y="145525"/>
                    <a:pt x="43186" y="142646"/>
                    <a:pt x="43186" y="135731"/>
                  </a:cubicBezTo>
                  <a:lnTo>
                    <a:pt x="43186" y="92869"/>
                  </a:lnTo>
                  <a:lnTo>
                    <a:pt x="7467" y="92869"/>
                  </a:lnTo>
                  <a:cubicBezTo>
                    <a:pt x="4919" y="92869"/>
                    <a:pt x="2564" y="91513"/>
                    <a:pt x="1285" y="89308"/>
                  </a:cubicBezTo>
                  <a:cubicBezTo>
                    <a:pt x="7" y="87104"/>
                    <a:pt x="0" y="84386"/>
                    <a:pt x="1266" y="82175"/>
                  </a:cubicBezTo>
                  <a:lnTo>
                    <a:pt x="1695" y="81524"/>
                  </a:lnTo>
                  <a:lnTo>
                    <a:pt x="58845" y="2943"/>
                  </a:lnTo>
                  <a:lnTo>
                    <a:pt x="58916" y="2850"/>
                  </a:lnTo>
                  <a:lnTo>
                    <a:pt x="59045" y="2679"/>
                  </a:lnTo>
                  <a:lnTo>
                    <a:pt x="59281" y="2407"/>
                  </a:lnTo>
                  <a:lnTo>
                    <a:pt x="59409" y="2250"/>
                  </a:lnTo>
                  <a:lnTo>
                    <a:pt x="59474" y="2193"/>
                  </a:lnTo>
                  <a:lnTo>
                    <a:pt x="59567" y="2093"/>
                  </a:lnTo>
                  <a:lnTo>
                    <a:pt x="59852" y="1836"/>
                  </a:lnTo>
                  <a:lnTo>
                    <a:pt x="60052" y="1650"/>
                  </a:lnTo>
                  <a:lnTo>
                    <a:pt x="60109" y="1607"/>
                  </a:lnTo>
                  <a:cubicBezTo>
                    <a:pt x="60947" y="922"/>
                    <a:pt x="61929" y="436"/>
                    <a:pt x="62981" y="186"/>
                  </a:cubicBezTo>
                  <a:lnTo>
                    <a:pt x="63060" y="179"/>
                  </a:lnTo>
                  <a:lnTo>
                    <a:pt x="63253" y="143"/>
                  </a:lnTo>
                  <a:lnTo>
                    <a:pt x="63781" y="50"/>
                  </a:lnTo>
                  <a:lnTo>
                    <a:pt x="63860" y="43"/>
                  </a:lnTo>
                  <a:lnTo>
                    <a:pt x="64153" y="29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69742" y="2656999"/>
              <a:ext cx="570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44336"/>
                  </a:solidFill>
                  <a:latin typeface="Arial"/>
                  <a:ea typeface="SimHei"/>
                  <a:cs typeface="Arial"/>
                </a:rPr>
                <a:t>Pipeline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42095" y="2912745"/>
              <a:ext cx="10612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Webhook 触发后,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42095" y="30651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逐级 handoff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14500" y="1952625"/>
            <a:ext cx="3048000" cy="771525"/>
            <a:chOff x="1714500" y="1952625"/>
            <a:chExt cx="3048000" cy="771525"/>
          </a:xfrm>
        </p:grpSpPr>
        <p:sp>
          <p:nvSpPr>
            <p:cNvPr id="57" name="Line 57"/>
            <p:cNvSpPr/>
            <p:nvPr/>
          </p:nvSpPr>
          <p:spPr>
            <a:xfrm>
              <a:off x="3238500" y="2286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4CAF50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190875" y="223837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714500" y="1952625"/>
              <a:ext cx="1476375" cy="7620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4CAF50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881187" y="2116113"/>
              <a:ext cx="150425" cy="151012"/>
            </a:xfrm>
            <a:custGeom>
              <a:avLst/>
              <a:gdLst/>
              <a:ahLst/>
              <a:cxnLst/>
              <a:rect l="l" t="t" r="r" b="b"/>
              <a:pathLst>
                <a:path w="150425" h="151012">
                  <a:moveTo>
                    <a:pt x="107157" y="12773"/>
                  </a:moveTo>
                  <a:cubicBezTo>
                    <a:pt x="137181" y="30107"/>
                    <a:pt x="150425" y="66495"/>
                    <a:pt x="138567" y="99073"/>
                  </a:cubicBezTo>
                  <a:cubicBezTo>
                    <a:pt x="126710" y="131650"/>
                    <a:pt x="93174" y="151012"/>
                    <a:pt x="59032" y="144991"/>
                  </a:cubicBezTo>
                  <a:cubicBezTo>
                    <a:pt x="24891" y="138971"/>
                    <a:pt x="0" y="109306"/>
                    <a:pt x="1" y="74637"/>
                  </a:cubicBezTo>
                  <a:lnTo>
                    <a:pt x="37" y="72323"/>
                  </a:lnTo>
                  <a:cubicBezTo>
                    <a:pt x="850" y="47227"/>
                    <a:pt x="14780" y="24400"/>
                    <a:pt x="36726" y="12200"/>
                  </a:cubicBezTo>
                  <a:cubicBezTo>
                    <a:pt x="58672" y="0"/>
                    <a:pt x="85412" y="217"/>
                    <a:pt x="107157" y="12773"/>
                  </a:cubicBezTo>
                  <a:moveTo>
                    <a:pt x="62202" y="55299"/>
                  </a:moveTo>
                  <a:cubicBezTo>
                    <a:pt x="59412" y="52511"/>
                    <a:pt x="54890" y="52511"/>
                    <a:pt x="52100" y="55299"/>
                  </a:cubicBezTo>
                  <a:lnTo>
                    <a:pt x="37813" y="69587"/>
                  </a:lnTo>
                  <a:cubicBezTo>
                    <a:pt x="35024" y="72376"/>
                    <a:pt x="35024" y="76898"/>
                    <a:pt x="37813" y="79688"/>
                  </a:cubicBezTo>
                  <a:lnTo>
                    <a:pt x="52100" y="93976"/>
                  </a:lnTo>
                  <a:cubicBezTo>
                    <a:pt x="54890" y="96764"/>
                    <a:pt x="59412" y="96764"/>
                    <a:pt x="62202" y="93976"/>
                  </a:cubicBezTo>
                  <a:lnTo>
                    <a:pt x="62794" y="93304"/>
                  </a:lnTo>
                  <a:cubicBezTo>
                    <a:pt x="65000" y="90460"/>
                    <a:pt x="64746" y="86419"/>
                    <a:pt x="62202" y="83874"/>
                  </a:cubicBezTo>
                  <a:lnTo>
                    <a:pt x="52972" y="74637"/>
                  </a:lnTo>
                  <a:lnTo>
                    <a:pt x="62202" y="65401"/>
                  </a:lnTo>
                  <a:cubicBezTo>
                    <a:pt x="64990" y="62611"/>
                    <a:pt x="64990" y="58089"/>
                    <a:pt x="62202" y="55299"/>
                  </a:cubicBezTo>
                  <a:moveTo>
                    <a:pt x="90777" y="55299"/>
                  </a:moveTo>
                  <a:cubicBezTo>
                    <a:pt x="87987" y="52511"/>
                    <a:pt x="83465" y="52511"/>
                    <a:pt x="80675" y="55299"/>
                  </a:cubicBezTo>
                  <a:lnTo>
                    <a:pt x="80082" y="55971"/>
                  </a:lnTo>
                  <a:cubicBezTo>
                    <a:pt x="77876" y="58815"/>
                    <a:pt x="78130" y="62856"/>
                    <a:pt x="80675" y="65401"/>
                  </a:cubicBezTo>
                  <a:lnTo>
                    <a:pt x="89905" y="74637"/>
                  </a:lnTo>
                  <a:lnTo>
                    <a:pt x="80675" y="83874"/>
                  </a:lnTo>
                  <a:cubicBezTo>
                    <a:pt x="77968" y="86677"/>
                    <a:pt x="78007" y="91133"/>
                    <a:pt x="80762" y="93889"/>
                  </a:cubicBezTo>
                  <a:cubicBezTo>
                    <a:pt x="83518" y="96644"/>
                    <a:pt x="87973" y="96683"/>
                    <a:pt x="90777" y="93976"/>
                  </a:cubicBezTo>
                  <a:lnTo>
                    <a:pt x="105064" y="79688"/>
                  </a:lnTo>
                  <a:cubicBezTo>
                    <a:pt x="107853" y="76898"/>
                    <a:pt x="107853" y="72376"/>
                    <a:pt x="105064" y="69587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083118" y="21331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领域知识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55470" y="2388870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补 agent 的中国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855470" y="2541270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区 partition 盲区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5286375"/>
            <a:ext cx="11049000" cy="1100137"/>
            <a:chOff x="571500" y="5286375"/>
            <a:chExt cx="11049000" cy="1100137"/>
          </a:xfrm>
        </p:grpSpPr>
        <p:sp>
          <p:nvSpPr>
            <p:cNvPr id="65" name="Rectangle 65"/>
            <p:cNvSpPr/>
            <p:nvPr/>
          </p:nvSpPr>
          <p:spPr>
            <a:xfrm>
              <a:off x="571500" y="5286375"/>
              <a:ext cx="11049000" cy="952500"/>
            </a:xfrm>
            <a:prstGeom prst="roundRect">
              <a:avLst>
                <a:gd name="adj" fmla="val 10000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6760" y="54711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分层为什么有用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8665" y="5754052"/>
              <a:ext cx="49799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1.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复用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Foundation 层一份知识，6 个上层 skill 隐式继承；不重复维护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8665" y="5963602"/>
              <a:ext cx="64981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2.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按需激活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Pipeline 4 个 skill 用 Agent Type 锁死，避免 Generic agent 加载浪费 context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8665" y="6173152"/>
              <a:ext cx="58003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3. 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演进路径清晰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 — 加新领域知识 = 加 partition skill；加新 case = 加 pipeline skill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1022" y="6521291"/>
            <a:ext cx="11069956" cy="167640"/>
            <a:chOff x="561022" y="6521291"/>
            <a:chExt cx="11069956" cy="167640"/>
          </a:xfrm>
        </p:grpSpPr>
        <p:sp>
          <p:nvSpPr>
            <p:cNvPr id="71" name="TextBox 71"/>
            <p:cNvSpPr txBox="1"/>
            <p:nvPr/>
          </p:nvSpPr>
          <p:spPr>
            <a:xfrm>
              <a:off x="561022" y="6521291"/>
              <a:ext cx="28223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来源：blog/03-skills-in-action.md §3 三层架构图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36500" y="6521291"/>
              <a:ext cx="3944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3" grpId="0"/>
      <p:bldP spid="40" grpId="0"/>
      <p:bldP spid="48" grpId="0"/>
      <p:bldP spid="56" grpId="0"/>
      <p:bldP spid="64" grpId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9364042" cy="1162050"/>
            <a:chOff x="537210" y="476250"/>
            <a:chExt cx="9364042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4436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SKILL ≠ AGENTS.MD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93640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Skill 是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选择性激活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的策略库 — 不是大而全的指令集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59630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Description 是 picker 选 skill 的依据 · 200-1024 字符 · 中英触发词全覆盖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1905000"/>
            <a:ext cx="5381625" cy="4095750"/>
            <a:chOff x="571500" y="1905000"/>
            <a:chExt cx="5381625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5381625" cy="4095750"/>
            </a:xfrm>
            <a:prstGeom prst="roundRect">
              <a:avLst>
                <a:gd name="adj" fmla="val 3256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5381625" cy="476250"/>
            </a:xfrm>
            <a:prstGeom prst="roundRect">
              <a:avLst>
                <a:gd name="adj" fmla="val 28000"/>
              </a:avLst>
            </a:prstGeom>
            <a:solidFill>
              <a:srgbClr val="4CAF50">
                <a:alpha val="1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2286000"/>
              <a:ext cx="5381625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82638" y="2035315"/>
              <a:ext cx="217004" cy="217359"/>
            </a:xfrm>
            <a:custGeom>
              <a:avLst/>
              <a:gdLst/>
              <a:ahLst/>
              <a:cxnLst/>
              <a:rect l="l" t="t" r="r" b="b"/>
              <a:pathLst>
                <a:path w="217004" h="217359">
                  <a:moveTo>
                    <a:pt x="154781" y="18449"/>
                  </a:moveTo>
                  <a:cubicBezTo>
                    <a:pt x="197784" y="43278"/>
                    <a:pt x="217004" y="95214"/>
                    <a:pt x="200524" y="142056"/>
                  </a:cubicBezTo>
                  <a:cubicBezTo>
                    <a:pt x="184045" y="188897"/>
                    <a:pt x="136540" y="217359"/>
                    <a:pt x="87464" y="209794"/>
                  </a:cubicBezTo>
                  <a:cubicBezTo>
                    <a:pt x="38388" y="202229"/>
                    <a:pt x="1660" y="160783"/>
                    <a:pt x="52" y="111153"/>
                  </a:cubicBezTo>
                  <a:lnTo>
                    <a:pt x="0" y="107810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8" y="17623"/>
                  </a:cubicBezTo>
                  <a:cubicBezTo>
                    <a:pt x="84748" y="0"/>
                    <a:pt x="123372" y="314"/>
                    <a:pt x="154781" y="18449"/>
                  </a:cubicBezTo>
                  <a:close/>
                  <a:moveTo>
                    <a:pt x="141439" y="79877"/>
                  </a:moveTo>
                  <a:cubicBezTo>
                    <a:pt x="137763" y="76201"/>
                    <a:pt x="131926" y="75834"/>
                    <a:pt x="127818" y="79020"/>
                  </a:cubicBezTo>
                  <a:lnTo>
                    <a:pt x="126848" y="79877"/>
                  </a:lnTo>
                  <a:lnTo>
                    <a:pt x="92869" y="113846"/>
                  </a:lnTo>
                  <a:lnTo>
                    <a:pt x="79527" y="100514"/>
                  </a:lnTo>
                  <a:lnTo>
                    <a:pt x="78557" y="99658"/>
                  </a:lnTo>
                  <a:cubicBezTo>
                    <a:pt x="74449" y="96474"/>
                    <a:pt x="68614" y="96842"/>
                    <a:pt x="64939" y="100517"/>
                  </a:cubicBezTo>
                  <a:cubicBezTo>
                    <a:pt x="61263" y="104192"/>
                    <a:pt x="60895" y="110027"/>
                    <a:pt x="64079" y="114135"/>
                  </a:cubicBezTo>
                  <a:lnTo>
                    <a:pt x="64936" y="115105"/>
                  </a:lnTo>
                  <a:lnTo>
                    <a:pt x="85573" y="135743"/>
                  </a:lnTo>
                  <a:lnTo>
                    <a:pt x="86543" y="136599"/>
                  </a:lnTo>
                  <a:cubicBezTo>
                    <a:pt x="90266" y="139487"/>
                    <a:pt x="95472" y="139487"/>
                    <a:pt x="99194" y="136599"/>
                  </a:cubicBezTo>
                  <a:lnTo>
                    <a:pt x="100164" y="135743"/>
                  </a:lnTo>
                  <a:lnTo>
                    <a:pt x="141439" y="94468"/>
                  </a:lnTo>
                  <a:lnTo>
                    <a:pt x="142296" y="93498"/>
                  </a:lnTo>
                  <a:cubicBezTo>
                    <a:pt x="145482" y="89390"/>
                    <a:pt x="145115" y="83553"/>
                    <a:pt x="141439" y="79877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5850" y="2047875"/>
              <a:ext cx="14872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Skill 能做什么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98195" y="2584132"/>
              <a:ext cx="4552331" cy="706756"/>
              <a:chOff x="798195" y="2584132"/>
              <a:chExt cx="4552331" cy="706756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98195" y="25841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①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26808" y="2624614"/>
                <a:ext cx="120553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注入领域知识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29665" y="2896552"/>
                <a:ext cx="42208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cn-partition ARN / aws-cn 与 aws-cn-2 区分 / 中国区独有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29665" y="3077528"/>
                <a:ext cx="12458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的 fault pattern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98195" y="3422332"/>
              <a:ext cx="4237958" cy="706756"/>
              <a:chOff x="798195" y="3422332"/>
              <a:chExt cx="4237958" cy="70675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98195" y="34223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②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26808" y="3462814"/>
                <a:ext cx="164546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统一 RCA 输出格式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29665" y="3734752"/>
                <a:ext cx="39064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Triage Card → RCA Report → Mitigation Plan，每一级都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29665" y="3915728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是结构化输出，可被下一级解析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98195" y="4260532"/>
              <a:ext cx="4184285" cy="706756"/>
              <a:chOff x="798195" y="4260532"/>
              <a:chExt cx="4184285" cy="706756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98195" y="42605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③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26808" y="4301014"/>
                <a:ext cx="261330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规约 Mitigation 4-field 模板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29665" y="4572952"/>
                <a:ext cx="3852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Command · What it does · Rollback · Approval — 每一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29665" y="4753928"/>
                <a:ext cx="22962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条都要带回滚命令和审核 prompt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98195" y="5098732"/>
              <a:ext cx="3946588" cy="706756"/>
              <a:chOff x="798195" y="5098732"/>
              <a:chExt cx="3946588" cy="706756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798195" y="50987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④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26808" y="5139214"/>
                <a:ext cx="22124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加锁 Approval Contract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129665" y="5411152"/>
                <a:ext cx="36151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每条 prod 写操作要求显式 "approve step N"，单步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9665" y="5592128"/>
                <a:ext cx="25109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授权 — 抗 LLM "嗯/yes" 的语义漂移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238875" y="1905000"/>
            <a:ext cx="5381625" cy="4095750"/>
            <a:chOff x="6238875" y="1905000"/>
            <a:chExt cx="5381625" cy="4095750"/>
          </a:xfrm>
        </p:grpSpPr>
        <p:sp>
          <p:nvSpPr>
            <p:cNvPr id="34" name="Rectangle 34"/>
            <p:cNvSpPr/>
            <p:nvPr/>
          </p:nvSpPr>
          <p:spPr>
            <a:xfrm>
              <a:off x="6238875" y="1905000"/>
              <a:ext cx="5381625" cy="4095750"/>
            </a:xfrm>
            <a:prstGeom prst="roundRect">
              <a:avLst>
                <a:gd name="adj" fmla="val 3256"/>
              </a:avLst>
            </a:prstGeom>
            <a:solidFill>
              <a:srgbClr val="1A2332"/>
            </a:solidFill>
            <a:ln w="14288">
              <a:solidFill>
                <a:srgbClr val="F4433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38875" y="1905000"/>
              <a:ext cx="5381625" cy="476250"/>
            </a:xfrm>
            <a:prstGeom prst="roundRect">
              <a:avLst>
                <a:gd name="adj" fmla="val 28000"/>
              </a:avLst>
            </a:prstGeom>
            <a:solidFill>
              <a:srgbClr val="F44336">
                <a:alpha val="16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38875" y="2286000"/>
              <a:ext cx="5381625" cy="95250"/>
            </a:xfrm>
            <a:prstGeom prst="rect">
              <a:avLst/>
            </a:prstGeom>
            <a:solidFill>
              <a:srgbClr val="1A2332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450012" y="2035315"/>
              <a:ext cx="217004" cy="217359"/>
            </a:xfrm>
            <a:custGeom>
              <a:avLst/>
              <a:gdLst/>
              <a:ahLst/>
              <a:cxnLst/>
              <a:rect l="l" t="t" r="r" b="b"/>
              <a:pathLst>
                <a:path w="217004" h="217359">
                  <a:moveTo>
                    <a:pt x="154781" y="18449"/>
                  </a:moveTo>
                  <a:cubicBezTo>
                    <a:pt x="197784" y="43278"/>
                    <a:pt x="217004" y="95214"/>
                    <a:pt x="200524" y="142056"/>
                  </a:cubicBezTo>
                  <a:cubicBezTo>
                    <a:pt x="184045" y="188897"/>
                    <a:pt x="136540" y="217359"/>
                    <a:pt x="87464" y="209794"/>
                  </a:cubicBezTo>
                  <a:cubicBezTo>
                    <a:pt x="38388" y="202229"/>
                    <a:pt x="1660" y="160783"/>
                    <a:pt x="52" y="111153"/>
                  </a:cubicBezTo>
                  <a:lnTo>
                    <a:pt x="0" y="107810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8" y="17623"/>
                  </a:cubicBezTo>
                  <a:cubicBezTo>
                    <a:pt x="84748" y="0"/>
                    <a:pt x="123372" y="314"/>
                    <a:pt x="154781" y="18449"/>
                  </a:cubicBezTo>
                  <a:close/>
                  <a:moveTo>
                    <a:pt x="87823" y="78298"/>
                  </a:moveTo>
                  <a:cubicBezTo>
                    <a:pt x="83349" y="75635"/>
                    <a:pt x="77593" y="76722"/>
                    <a:pt x="74398" y="80832"/>
                  </a:cubicBezTo>
                  <a:cubicBezTo>
                    <a:pt x="71203" y="84943"/>
                    <a:pt x="71570" y="90789"/>
                    <a:pt x="75255" y="94468"/>
                  </a:cubicBezTo>
                  <a:lnTo>
                    <a:pt x="88586" y="107810"/>
                  </a:lnTo>
                  <a:lnTo>
                    <a:pt x="75255" y="121152"/>
                  </a:lnTo>
                  <a:lnTo>
                    <a:pt x="74398" y="122122"/>
                  </a:lnTo>
                  <a:cubicBezTo>
                    <a:pt x="71070" y="126426"/>
                    <a:pt x="71656" y="132575"/>
                    <a:pt x="75737" y="136173"/>
                  </a:cubicBezTo>
                  <a:cubicBezTo>
                    <a:pt x="79818" y="139772"/>
                    <a:pt x="85992" y="139583"/>
                    <a:pt x="89845" y="135743"/>
                  </a:cubicBezTo>
                  <a:lnTo>
                    <a:pt x="103188" y="122411"/>
                  </a:lnTo>
                  <a:lnTo>
                    <a:pt x="116530" y="135743"/>
                  </a:lnTo>
                  <a:lnTo>
                    <a:pt x="117500" y="136599"/>
                  </a:lnTo>
                  <a:cubicBezTo>
                    <a:pt x="121804" y="139927"/>
                    <a:pt x="127953" y="139341"/>
                    <a:pt x="131551" y="135260"/>
                  </a:cubicBezTo>
                  <a:cubicBezTo>
                    <a:pt x="135150" y="131179"/>
                    <a:pt x="134961" y="125006"/>
                    <a:pt x="131120" y="121152"/>
                  </a:cubicBezTo>
                  <a:lnTo>
                    <a:pt x="117789" y="107810"/>
                  </a:lnTo>
                  <a:lnTo>
                    <a:pt x="131120" y="94468"/>
                  </a:lnTo>
                  <a:lnTo>
                    <a:pt x="131977" y="93498"/>
                  </a:lnTo>
                  <a:cubicBezTo>
                    <a:pt x="135305" y="89193"/>
                    <a:pt x="134719" y="83044"/>
                    <a:pt x="130638" y="79446"/>
                  </a:cubicBezTo>
                  <a:cubicBezTo>
                    <a:pt x="126557" y="75848"/>
                    <a:pt x="120383" y="76036"/>
                    <a:pt x="116530" y="79877"/>
                  </a:cubicBezTo>
                  <a:lnTo>
                    <a:pt x="103188" y="93209"/>
                  </a:lnTo>
                  <a:lnTo>
                    <a:pt x="89845" y="79877"/>
                  </a:lnTo>
                  <a:lnTo>
                    <a:pt x="88875" y="79020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3225" y="2047875"/>
              <a:ext cx="1717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44336"/>
                  </a:solidFill>
                  <a:latin typeface="Arial"/>
                  <a:ea typeface="SimHei"/>
                  <a:cs typeface="Arial"/>
                </a:rPr>
                <a:t>Skill 不替代什么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465570" y="2584132"/>
              <a:ext cx="3846909" cy="706756"/>
              <a:chOff x="6465570" y="2584132"/>
              <a:chExt cx="3846909" cy="706756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6465570" y="25841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44336"/>
                    </a:solidFill>
                    <a:latin typeface="Arial"/>
                    <a:ea typeface="SimHei"/>
                    <a:cs typeface="Arial"/>
                  </a:rPr>
                  <a:t>①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794182" y="2624614"/>
                <a:ext cx="22124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不替代 MCP（能力来源）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797040" y="2896552"/>
                <a:ext cx="35154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Skill 是策略，不是工具。Skill 写得再好，没有 MCP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797040" y="3077528"/>
                <a:ext cx="29096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就调不到 cn API。能力 vs 策略，缺一不可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465570" y="3422332"/>
              <a:ext cx="3340846" cy="706756"/>
              <a:chOff x="6465570" y="3422332"/>
              <a:chExt cx="3340846" cy="706756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6465570" y="34223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44336"/>
                    </a:solidFill>
                    <a:latin typeface="Arial"/>
                    <a:ea typeface="SimHei"/>
                    <a:cs typeface="Arial"/>
                  </a:rPr>
                  <a:t>②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794182" y="3462814"/>
                <a:ext cx="191919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不替代 Webhook 链路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797040" y="3734752"/>
                <a:ext cx="30093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没有 SNS → bridge Lambda → webhook 这条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797040" y="3915728"/>
                <a:ext cx="24879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基础设施，agent 看不到中国区告警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465570" y="4260532"/>
              <a:ext cx="3846909" cy="706756"/>
              <a:chOff x="6465570" y="4260532"/>
              <a:chExt cx="3846909" cy="706756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6465570" y="42605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44336"/>
                    </a:solidFill>
                    <a:latin typeface="Arial"/>
                    <a:ea typeface="SimHei"/>
                    <a:cs typeface="Arial"/>
                  </a:rPr>
                  <a:t>③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794182" y="4301014"/>
                <a:ext cx="183121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不替代 Console 配置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797040" y="4572952"/>
                <a:ext cx="35001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Slack OAuth / GitHub OAuth / Webhook URL 生成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797040" y="4753928"/>
                <a:ext cx="35154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这些 Agent Space console UI 步骤，skill 上传也是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465570" y="5098732"/>
              <a:ext cx="3747230" cy="706756"/>
              <a:chOff x="6465570" y="5098732"/>
              <a:chExt cx="3747230" cy="706756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6465570" y="50987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44336"/>
                    </a:solidFill>
                    <a:latin typeface="Arial"/>
                    <a:ea typeface="SimHei"/>
                    <a:cs typeface="Arial"/>
                  </a:rPr>
                  <a:t>④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794182" y="5139214"/>
                <a:ext cx="205606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不能强迫 agent 做某事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797040" y="5411152"/>
                <a:ext cx="34157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Skill 是 picker 看 description 决定加载，加载后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797040" y="5592128"/>
                <a:ext cx="28176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agent 仍可自主决策 — 不是脚本，是建议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60" name="Rectangle 60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16707" y="6325552"/>
              <a:ext cx="69585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"MCP 给的是</a:t>
              </a:r>
              <a:r>
                <a:rPr lang="zh-CN" sz="105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能力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（tools），Skill 给的是</a:t>
              </a:r>
              <a:r>
                <a:rPr lang="zh-CN" sz="105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策略</a:t>
              </a:r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（什么场景调什么、怎么调、调完怎么组织输出）"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236500" y="66736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08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9" grpId="0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18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209550" y="-409575"/>
            <a:ext cx="11049000" cy="6148388"/>
            <a:chOff x="209550" y="-409575"/>
            <a:chExt cx="11049000" cy="6148388"/>
          </a:xfrm>
        </p:grpSpPr>
        <p:sp>
          <p:nvSpPr>
            <p:cNvPr id="6" name="TextBox 6"/>
            <p:cNvSpPr txBox="1"/>
            <p:nvPr/>
          </p:nvSpPr>
          <p:spPr>
            <a:xfrm>
              <a:off x="209550" y="-409575"/>
              <a:ext cx="4438864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1565C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C1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829925" y="1495425"/>
              <a:ext cx="57150" cy="57150"/>
            </a:xfrm>
            <a:prstGeom prst="ellipse">
              <a:avLst/>
            </a:prstGeom>
            <a:solidFill>
              <a:srgbClr val="42A5F5">
                <a:alpha val="6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20450" y="2076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453688" y="5691188"/>
              <a:ext cx="47625" cy="47625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21725" y="1501775"/>
            <a:ext cx="4376119" cy="307975"/>
            <a:chOff x="621725" y="1501775"/>
            <a:chExt cx="4376119" cy="307975"/>
          </a:xfrm>
        </p:grpSpPr>
        <p:sp>
          <p:nvSpPr>
            <p:cNvPr id="12" name="Freeform 12"/>
            <p:cNvSpPr/>
            <p:nvPr/>
          </p:nvSpPr>
          <p:spPr>
            <a:xfrm>
              <a:off x="621725" y="1501775"/>
              <a:ext cx="204350" cy="258712"/>
            </a:xfrm>
            <a:custGeom>
              <a:avLst/>
              <a:gdLst/>
              <a:ahLst/>
              <a:cxnLst/>
              <a:rect l="l" t="t" r="r" b="b"/>
              <a:pathLst>
                <a:path w="204350" h="258712">
                  <a:moveTo>
                    <a:pt x="114875" y="0"/>
                  </a:moveTo>
                  <a:lnTo>
                    <a:pt x="115104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1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7" y="406"/>
                  </a:lnTo>
                  <a:lnTo>
                    <a:pt x="118126" y="419"/>
                  </a:lnTo>
                  <a:lnTo>
                    <a:pt x="118495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7" y="902"/>
                  </a:lnTo>
                  <a:lnTo>
                    <a:pt x="119942" y="1080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9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3" y="2426"/>
                  </a:lnTo>
                  <a:lnTo>
                    <a:pt x="122508" y="2578"/>
                  </a:lnTo>
                  <a:lnTo>
                    <a:pt x="122813" y="2794"/>
                  </a:lnTo>
                  <a:lnTo>
                    <a:pt x="123295" y="3226"/>
                  </a:lnTo>
                  <a:lnTo>
                    <a:pt x="123575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8" y="4699"/>
                  </a:lnTo>
                  <a:cubicBezTo>
                    <a:pt x="126242" y="6566"/>
                    <a:pt x="127207" y="8788"/>
                    <a:pt x="127486" y="11214"/>
                  </a:cubicBezTo>
                  <a:lnTo>
                    <a:pt x="127499" y="11366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3" y="91311"/>
                    <a:pt x="202065" y="95230"/>
                  </a:cubicBezTo>
                  <a:cubicBezTo>
                    <a:pt x="204337" y="99148"/>
                    <a:pt x="204350" y="103981"/>
                    <a:pt x="202099" y="107912"/>
                  </a:cubicBezTo>
                  <a:lnTo>
                    <a:pt x="201337" y="109068"/>
                  </a:lnTo>
                  <a:lnTo>
                    <a:pt x="99737" y="248768"/>
                  </a:lnTo>
                  <a:cubicBezTo>
                    <a:pt x="92523" y="258712"/>
                    <a:pt x="76775" y="253594"/>
                    <a:pt x="76775" y="241300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2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7" y="4001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60" y="2934"/>
                  </a:lnTo>
                  <a:lnTo>
                    <a:pt x="106861" y="2858"/>
                  </a:lnTo>
                  <a:cubicBezTo>
                    <a:pt x="108350" y="1639"/>
                    <a:pt x="110095" y="775"/>
                    <a:pt x="111967" y="330"/>
                  </a:cubicBezTo>
                  <a:lnTo>
                    <a:pt x="112106" y="317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50" y="51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7260" y="1565910"/>
              <a:ext cx="4060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CASE 1 · WEBHOOK AUTONOMOUS INVESTIGATION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5300" y="2400300"/>
            <a:ext cx="12159901" cy="1981200"/>
            <a:chOff x="495300" y="2400300"/>
            <a:chExt cx="12159901" cy="1981200"/>
          </a:xfrm>
        </p:grpSpPr>
        <p:sp>
          <p:nvSpPr>
            <p:cNvPr id="15" name="TextBox 15"/>
            <p:cNvSpPr txBox="1"/>
            <p:nvPr/>
          </p:nvSpPr>
          <p:spPr>
            <a:xfrm>
              <a:off x="495300" y="2400300"/>
              <a:ext cx="78353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Webhook 自主调查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5300" y="3162300"/>
              <a:ext cx="1215990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42A5F5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人没碰按钮，agent 全程接管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0545" y="4381500"/>
            <a:ext cx="6934010" cy="804862"/>
            <a:chOff x="550545" y="4381500"/>
            <a:chExt cx="6934010" cy="804862"/>
          </a:xfrm>
        </p:grpSpPr>
        <p:sp>
          <p:nvSpPr>
            <p:cNvPr id="18" name="Line 18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FF980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0545" y="4584382"/>
              <a:ext cx="54278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alarm 触发 90 秒，bridge POST webhook 200 OK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545" y="4851082"/>
              <a:ext cx="69340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12 分钟出 RCA + 4 阶段 Mitigation Plan + Slack 自主投递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524500"/>
            <a:ext cx="7396067" cy="762000"/>
            <a:chOff x="571500" y="5524500"/>
            <a:chExt cx="7396067" cy="76200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5524500"/>
              <a:ext cx="2462784" cy="762000"/>
              <a:chOff x="571500" y="5524500"/>
              <a:chExt cx="2462784" cy="762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31520" y="5627370"/>
                <a:ext cx="4658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90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91565" y="57731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秒 alarm 触发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0570" y="6046470"/>
                <a:ext cx="22837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CloudWatch period 60s + 1 datapoint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048000" y="5524500"/>
              <a:ext cx="2935986" cy="762000"/>
              <a:chOff x="3048000" y="5524500"/>
              <a:chExt cx="2935986" cy="762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2080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568065" y="5773102"/>
                <a:ext cx="7704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步调查链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227070" y="6046470"/>
                <a:ext cx="27569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kubectl describe + EKS list + GitHub commit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524500" y="5524500"/>
              <a:ext cx="2443067" cy="762000"/>
              <a:chOff x="5524500" y="5524500"/>
              <a:chExt cx="2443067" cy="762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684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0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30265" y="5773102"/>
                <a:ext cx="8011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人工 query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703570" y="6046470"/>
                <a:ext cx="2263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webhook 触发 + 主动 sub-agent 调度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1236500" y="65212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09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1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8266805" cy="1000125"/>
            <a:chOff x="537210" y="476250"/>
            <a:chExt cx="8266805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C1 · 端到端流程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2668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90 秒自主调查 → 12 分钟出 RCA — 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人没碰按钮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2000250"/>
            <a:ext cx="2095500" cy="857250"/>
            <a:chOff x="571500" y="2000250"/>
            <a:chExt cx="2095500" cy="857250"/>
          </a:xfrm>
        </p:grpSpPr>
        <p:sp>
          <p:nvSpPr>
            <p:cNvPr id="7" name="Polygon 7"/>
            <p:cNvSpPr/>
            <p:nvPr/>
          </p:nvSpPr>
          <p:spPr>
            <a:xfrm>
              <a:off x="571500" y="2000250"/>
              <a:ext cx="2095500" cy="857250"/>
            </a:xfrm>
            <a:custGeom>
              <a:avLst/>
              <a:gdLst/>
              <a:ahLst/>
              <a:cxnLst/>
              <a:rect l="l" t="t" r="r" b="b"/>
              <a:pathLst>
                <a:path w="2095500" h="857250">
                  <a:moveTo>
                    <a:pt x="0" y="0"/>
                  </a:moveTo>
                  <a:lnTo>
                    <a:pt x="1714500" y="0"/>
                  </a:lnTo>
                  <a:lnTo>
                    <a:pt x="2095500" y="428625"/>
                  </a:lnTo>
                  <a:lnTo>
                    <a:pt x="1714500" y="857250"/>
                  </a:lnTo>
                  <a:lnTo>
                    <a:pt x="0" y="857250"/>
                  </a:lnTo>
                  <a:close/>
                </a:path>
              </a:pathLst>
            </a:custGeom>
            <a:gradFill>
              <a:gsLst>
                <a:gs pos="0">
                  <a:srgbClr val="F44336">
                    <a:alpha val="85000"/>
                  </a:srgbClr>
                </a:gs>
                <a:gs pos="100000">
                  <a:srgbClr val="FF7043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93762" y="2244725"/>
              <a:ext cx="174625" cy="147715"/>
            </a:xfrm>
            <a:custGeom>
              <a:avLst/>
              <a:gdLst/>
              <a:ahLst/>
              <a:cxnLst/>
              <a:rect l="l" t="t" r="r" b="b"/>
              <a:pathLst>
                <a:path w="174625" h="147715">
                  <a:moveTo>
                    <a:pt x="87313" y="0"/>
                  </a:moveTo>
                  <a:cubicBezTo>
                    <a:pt x="105922" y="0"/>
                    <a:pt x="121263" y="14592"/>
                    <a:pt x="122194" y="33179"/>
                  </a:cubicBezTo>
                  <a:lnTo>
                    <a:pt x="122238" y="34925"/>
                  </a:lnTo>
                  <a:cubicBezTo>
                    <a:pt x="123530" y="34924"/>
                    <a:pt x="124806" y="35211"/>
                    <a:pt x="125974" y="35763"/>
                  </a:cubicBezTo>
                  <a:lnTo>
                    <a:pt x="152456" y="18842"/>
                  </a:lnTo>
                  <a:cubicBezTo>
                    <a:pt x="155084" y="17075"/>
                    <a:pt x="158462" y="16869"/>
                    <a:pt x="161285" y="18303"/>
                  </a:cubicBezTo>
                  <a:cubicBezTo>
                    <a:pt x="164108" y="19738"/>
                    <a:pt x="165933" y="22589"/>
                    <a:pt x="166054" y="25753"/>
                  </a:cubicBezTo>
                  <a:cubicBezTo>
                    <a:pt x="166175" y="28917"/>
                    <a:pt x="164574" y="31899"/>
                    <a:pt x="161869" y="33545"/>
                  </a:cubicBezTo>
                  <a:lnTo>
                    <a:pt x="135544" y="50406"/>
                  </a:lnTo>
                  <a:cubicBezTo>
                    <a:pt x="137956" y="56624"/>
                    <a:pt x="139359" y="63188"/>
                    <a:pt x="139700" y="69850"/>
                  </a:cubicBezTo>
                  <a:lnTo>
                    <a:pt x="165894" y="69850"/>
                  </a:lnTo>
                  <a:cubicBezTo>
                    <a:pt x="170716" y="69850"/>
                    <a:pt x="174625" y="73759"/>
                    <a:pt x="174625" y="78581"/>
                  </a:cubicBezTo>
                  <a:cubicBezTo>
                    <a:pt x="174625" y="83403"/>
                    <a:pt x="170716" y="87313"/>
                    <a:pt x="165894" y="87313"/>
                  </a:cubicBezTo>
                  <a:lnTo>
                    <a:pt x="139700" y="87313"/>
                  </a:lnTo>
                  <a:lnTo>
                    <a:pt x="139700" y="96044"/>
                  </a:lnTo>
                  <a:cubicBezTo>
                    <a:pt x="139705" y="100537"/>
                    <a:pt x="139133" y="105012"/>
                    <a:pt x="137997" y="109359"/>
                  </a:cubicBezTo>
                  <a:lnTo>
                    <a:pt x="161642" y="123469"/>
                  </a:lnTo>
                  <a:cubicBezTo>
                    <a:pt x="165784" y="125942"/>
                    <a:pt x="167136" y="131306"/>
                    <a:pt x="164663" y="135448"/>
                  </a:cubicBezTo>
                  <a:cubicBezTo>
                    <a:pt x="162189" y="139590"/>
                    <a:pt x="156826" y="140943"/>
                    <a:pt x="152683" y="138469"/>
                  </a:cubicBezTo>
                  <a:lnTo>
                    <a:pt x="130733" y="125363"/>
                  </a:lnTo>
                  <a:cubicBezTo>
                    <a:pt x="122714" y="137245"/>
                    <a:pt x="110177" y="145323"/>
                    <a:pt x="96044" y="147715"/>
                  </a:cubicBezTo>
                  <a:lnTo>
                    <a:pt x="96044" y="96044"/>
                  </a:lnTo>
                  <a:cubicBezTo>
                    <a:pt x="96044" y="91222"/>
                    <a:pt x="92135" y="87313"/>
                    <a:pt x="87313" y="87313"/>
                  </a:cubicBezTo>
                  <a:cubicBezTo>
                    <a:pt x="82490" y="87313"/>
                    <a:pt x="78581" y="91222"/>
                    <a:pt x="78581" y="96044"/>
                  </a:cubicBezTo>
                  <a:lnTo>
                    <a:pt x="78581" y="147707"/>
                  </a:lnTo>
                  <a:cubicBezTo>
                    <a:pt x="64448" y="145314"/>
                    <a:pt x="51911" y="137236"/>
                    <a:pt x="43892" y="125355"/>
                  </a:cubicBezTo>
                  <a:lnTo>
                    <a:pt x="21942" y="138478"/>
                  </a:lnTo>
                  <a:cubicBezTo>
                    <a:pt x="17799" y="140951"/>
                    <a:pt x="12436" y="139599"/>
                    <a:pt x="9962" y="135457"/>
                  </a:cubicBezTo>
                  <a:cubicBezTo>
                    <a:pt x="7489" y="131314"/>
                    <a:pt x="8841" y="125951"/>
                    <a:pt x="12983" y="123477"/>
                  </a:cubicBezTo>
                  <a:lnTo>
                    <a:pt x="36628" y="109368"/>
                  </a:lnTo>
                  <a:cubicBezTo>
                    <a:pt x="35492" y="105018"/>
                    <a:pt x="34919" y="100540"/>
                    <a:pt x="34925" y="96044"/>
                  </a:cubicBezTo>
                  <a:lnTo>
                    <a:pt x="34925" y="87313"/>
                  </a:lnTo>
                  <a:lnTo>
                    <a:pt x="8731" y="87313"/>
                  </a:lnTo>
                  <a:cubicBezTo>
                    <a:pt x="3909" y="87313"/>
                    <a:pt x="0" y="83403"/>
                    <a:pt x="0" y="78581"/>
                  </a:cubicBezTo>
                  <a:cubicBezTo>
                    <a:pt x="0" y="73759"/>
                    <a:pt x="3909" y="69850"/>
                    <a:pt x="8731" y="69850"/>
                  </a:cubicBezTo>
                  <a:lnTo>
                    <a:pt x="34934" y="69850"/>
                  </a:lnTo>
                  <a:lnTo>
                    <a:pt x="34934" y="69370"/>
                  </a:lnTo>
                  <a:cubicBezTo>
                    <a:pt x="35293" y="62865"/>
                    <a:pt x="36690" y="56460"/>
                    <a:pt x="39072" y="50397"/>
                  </a:cubicBezTo>
                  <a:lnTo>
                    <a:pt x="12756" y="33545"/>
                  </a:lnTo>
                  <a:cubicBezTo>
                    <a:pt x="10051" y="31899"/>
                    <a:pt x="8450" y="28917"/>
                    <a:pt x="8571" y="25753"/>
                  </a:cubicBezTo>
                  <a:cubicBezTo>
                    <a:pt x="8692" y="22589"/>
                    <a:pt x="10517" y="19738"/>
                    <a:pt x="13340" y="18303"/>
                  </a:cubicBezTo>
                  <a:cubicBezTo>
                    <a:pt x="16163" y="16869"/>
                    <a:pt x="19541" y="17075"/>
                    <a:pt x="22169" y="18842"/>
                  </a:cubicBezTo>
                  <a:lnTo>
                    <a:pt x="48642" y="35772"/>
                  </a:lnTo>
                  <a:lnTo>
                    <a:pt x="48851" y="35667"/>
                  </a:lnTo>
                  <a:lnTo>
                    <a:pt x="49445" y="35431"/>
                  </a:lnTo>
                  <a:lnTo>
                    <a:pt x="49611" y="35388"/>
                  </a:lnTo>
                  <a:lnTo>
                    <a:pt x="49751" y="35335"/>
                  </a:lnTo>
                  <a:lnTo>
                    <a:pt x="50030" y="35266"/>
                  </a:lnTo>
                  <a:lnTo>
                    <a:pt x="50379" y="35152"/>
                  </a:lnTo>
                  <a:lnTo>
                    <a:pt x="50676" y="35091"/>
                  </a:lnTo>
                  <a:lnTo>
                    <a:pt x="50973" y="35056"/>
                  </a:lnTo>
                  <a:lnTo>
                    <a:pt x="51366" y="34986"/>
                  </a:lnTo>
                  <a:lnTo>
                    <a:pt x="51497" y="34977"/>
                  </a:lnTo>
                  <a:lnTo>
                    <a:pt x="51628" y="34960"/>
                  </a:lnTo>
                  <a:lnTo>
                    <a:pt x="52388" y="34925"/>
                  </a:lnTo>
                  <a:cubicBezTo>
                    <a:pt x="52388" y="15636"/>
                    <a:pt x="68024" y="0"/>
                    <a:pt x="87313" y="0"/>
                  </a:cubicBezTo>
                  <a:close/>
                  <a:moveTo>
                    <a:pt x="87313" y="17463"/>
                  </a:moveTo>
                  <a:cubicBezTo>
                    <a:pt x="77668" y="17463"/>
                    <a:pt x="69850" y="25281"/>
                    <a:pt x="69850" y="34925"/>
                  </a:cubicBezTo>
                  <a:lnTo>
                    <a:pt x="104775" y="34925"/>
                  </a:lnTo>
                  <a:cubicBezTo>
                    <a:pt x="104775" y="25281"/>
                    <a:pt x="96957" y="17463"/>
                    <a:pt x="87313" y="174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7760" y="2251710"/>
              <a:ext cx="554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① 注入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3918" y="2542699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L6: 错误 image tag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71750" y="2000250"/>
            <a:ext cx="2286000" cy="857250"/>
            <a:chOff x="2571750" y="2000250"/>
            <a:chExt cx="2286000" cy="857250"/>
          </a:xfrm>
        </p:grpSpPr>
        <p:sp>
          <p:nvSpPr>
            <p:cNvPr id="12" name="Polygon 12"/>
            <p:cNvSpPr/>
            <p:nvPr/>
          </p:nvSpPr>
          <p:spPr>
            <a:xfrm>
              <a:off x="257175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FF9800">
                    <a:alpha val="85000"/>
                  </a:srgbClr>
                </a:gs>
                <a:gs pos="100000">
                  <a:srgbClr val="FFB74D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46412" y="2217330"/>
              <a:ext cx="174625" cy="194441"/>
            </a:xfrm>
            <a:custGeom>
              <a:avLst/>
              <a:gdLst/>
              <a:ahLst/>
              <a:cxnLst/>
              <a:rect l="l" t="t" r="r" b="b"/>
              <a:pathLst>
                <a:path w="174625" h="194441">
                  <a:moveTo>
                    <a:pt x="73561" y="4816"/>
                  </a:moveTo>
                  <a:cubicBezTo>
                    <a:pt x="81723" y="315"/>
                    <a:pt x="91548" y="0"/>
                    <a:pt x="99982" y="3969"/>
                  </a:cubicBezTo>
                  <a:lnTo>
                    <a:pt x="101640" y="4816"/>
                  </a:lnTo>
                  <a:lnTo>
                    <a:pt x="160795" y="39697"/>
                  </a:lnTo>
                  <a:lnTo>
                    <a:pt x="161633" y="40247"/>
                  </a:lnTo>
                  <a:lnTo>
                    <a:pt x="162436" y="40920"/>
                  </a:lnTo>
                  <a:lnTo>
                    <a:pt x="163370" y="41574"/>
                  </a:lnTo>
                  <a:cubicBezTo>
                    <a:pt x="169502" y="46172"/>
                    <a:pt x="173494" y="53071"/>
                    <a:pt x="174424" y="60678"/>
                  </a:cubicBezTo>
                  <a:lnTo>
                    <a:pt x="174581" y="62442"/>
                  </a:lnTo>
                  <a:lnTo>
                    <a:pt x="174625" y="64223"/>
                  </a:lnTo>
                  <a:lnTo>
                    <a:pt x="174625" y="127822"/>
                  </a:lnTo>
                  <a:cubicBezTo>
                    <a:pt x="174625" y="137479"/>
                    <a:pt x="169648" y="146411"/>
                    <a:pt x="161930" y="151335"/>
                  </a:cubicBezTo>
                  <a:lnTo>
                    <a:pt x="160445" y="152208"/>
                  </a:lnTo>
                  <a:lnTo>
                    <a:pt x="101047" y="189770"/>
                  </a:lnTo>
                  <a:cubicBezTo>
                    <a:pt x="93031" y="194171"/>
                    <a:pt x="83418" y="194441"/>
                    <a:pt x="74818" y="190364"/>
                  </a:cubicBezTo>
                  <a:lnTo>
                    <a:pt x="73107" y="189491"/>
                  </a:lnTo>
                  <a:lnTo>
                    <a:pt x="14651" y="152496"/>
                  </a:lnTo>
                  <a:cubicBezTo>
                    <a:pt x="6195" y="147873"/>
                    <a:pt x="691" y="139246"/>
                    <a:pt x="61" y="129629"/>
                  </a:cubicBezTo>
                  <a:lnTo>
                    <a:pt x="0" y="127822"/>
                  </a:lnTo>
                  <a:lnTo>
                    <a:pt x="0" y="64215"/>
                  </a:lnTo>
                  <a:cubicBezTo>
                    <a:pt x="0" y="54558"/>
                    <a:pt x="4977" y="45634"/>
                    <a:pt x="12887" y="40597"/>
                  </a:cubicBezTo>
                  <a:lnTo>
                    <a:pt x="73570" y="4816"/>
                  </a:lnTo>
                  <a:close/>
                  <a:moveTo>
                    <a:pt x="87400" y="123439"/>
                  </a:moveTo>
                  <a:lnTo>
                    <a:pt x="86291" y="123500"/>
                  </a:lnTo>
                  <a:cubicBezTo>
                    <a:pt x="81899" y="124022"/>
                    <a:pt x="78591" y="127747"/>
                    <a:pt x="78591" y="132170"/>
                  </a:cubicBezTo>
                  <a:cubicBezTo>
                    <a:pt x="78591" y="136593"/>
                    <a:pt x="81899" y="140318"/>
                    <a:pt x="86291" y="140840"/>
                  </a:cubicBezTo>
                  <a:lnTo>
                    <a:pt x="87313" y="140901"/>
                  </a:lnTo>
                  <a:lnTo>
                    <a:pt x="88421" y="140840"/>
                  </a:lnTo>
                  <a:cubicBezTo>
                    <a:pt x="92814" y="140318"/>
                    <a:pt x="96121" y="136593"/>
                    <a:pt x="96121" y="132170"/>
                  </a:cubicBezTo>
                  <a:cubicBezTo>
                    <a:pt x="96121" y="127747"/>
                    <a:pt x="92814" y="124022"/>
                    <a:pt x="88421" y="123500"/>
                  </a:cubicBezTo>
                  <a:lnTo>
                    <a:pt x="87400" y="123439"/>
                  </a:lnTo>
                  <a:close/>
                  <a:moveTo>
                    <a:pt x="87313" y="53589"/>
                  </a:moveTo>
                  <a:cubicBezTo>
                    <a:pt x="82886" y="53589"/>
                    <a:pt x="79160" y="56902"/>
                    <a:pt x="78642" y="61298"/>
                  </a:cubicBezTo>
                  <a:lnTo>
                    <a:pt x="78581" y="62320"/>
                  </a:lnTo>
                  <a:lnTo>
                    <a:pt x="78581" y="97245"/>
                  </a:lnTo>
                  <a:lnTo>
                    <a:pt x="78642" y="98266"/>
                  </a:lnTo>
                  <a:cubicBezTo>
                    <a:pt x="79165" y="102659"/>
                    <a:pt x="82889" y="105966"/>
                    <a:pt x="87313" y="105966"/>
                  </a:cubicBezTo>
                  <a:cubicBezTo>
                    <a:pt x="91736" y="105966"/>
                    <a:pt x="95460" y="102659"/>
                    <a:pt x="95983" y="98266"/>
                  </a:cubicBezTo>
                  <a:lnTo>
                    <a:pt x="96044" y="97245"/>
                  </a:lnTo>
                  <a:lnTo>
                    <a:pt x="96044" y="62320"/>
                  </a:lnTo>
                  <a:lnTo>
                    <a:pt x="95983" y="61298"/>
                  </a:lnTo>
                  <a:cubicBezTo>
                    <a:pt x="95465" y="56902"/>
                    <a:pt x="91739" y="53589"/>
                    <a:pt x="87313" y="535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80410" y="2251710"/>
              <a:ext cx="9137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② Pod 失败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6568" y="254269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ImagePullBackOff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62500" y="2000250"/>
            <a:ext cx="2286000" cy="857250"/>
            <a:chOff x="4762500" y="2000250"/>
            <a:chExt cx="2286000" cy="857250"/>
          </a:xfrm>
        </p:grpSpPr>
        <p:sp>
          <p:nvSpPr>
            <p:cNvPr id="17" name="Polygon 17"/>
            <p:cNvSpPr/>
            <p:nvPr/>
          </p:nvSpPr>
          <p:spPr>
            <a:xfrm>
              <a:off x="476250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1565C0">
                    <a:alpha val="85000"/>
                  </a:srgbClr>
                </a:gs>
                <a:gs pos="100000">
                  <a:srgbClr val="42A5F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254230" y="2227262"/>
              <a:ext cx="140491" cy="177864"/>
            </a:xfrm>
            <a:custGeom>
              <a:avLst/>
              <a:gdLst/>
              <a:ahLst/>
              <a:cxnLst/>
              <a:rect l="l" t="t" r="r" b="b"/>
              <a:pathLst>
                <a:path w="140491" h="177864">
                  <a:moveTo>
                    <a:pt x="78977" y="0"/>
                  </a:moveTo>
                  <a:lnTo>
                    <a:pt x="79134" y="9"/>
                  </a:lnTo>
                  <a:lnTo>
                    <a:pt x="79273" y="17"/>
                  </a:lnTo>
                  <a:lnTo>
                    <a:pt x="79998" y="61"/>
                  </a:lnTo>
                  <a:lnTo>
                    <a:pt x="80094" y="79"/>
                  </a:lnTo>
                  <a:lnTo>
                    <a:pt x="80190" y="79"/>
                  </a:lnTo>
                  <a:lnTo>
                    <a:pt x="80522" y="157"/>
                  </a:lnTo>
                  <a:lnTo>
                    <a:pt x="80976" y="227"/>
                  </a:lnTo>
                  <a:lnTo>
                    <a:pt x="81116" y="279"/>
                  </a:lnTo>
                  <a:lnTo>
                    <a:pt x="81212" y="288"/>
                  </a:lnTo>
                  <a:lnTo>
                    <a:pt x="81465" y="384"/>
                  </a:lnTo>
                  <a:lnTo>
                    <a:pt x="81919" y="506"/>
                  </a:lnTo>
                  <a:lnTo>
                    <a:pt x="82085" y="585"/>
                  </a:lnTo>
                  <a:lnTo>
                    <a:pt x="82216" y="620"/>
                  </a:lnTo>
                  <a:lnTo>
                    <a:pt x="82460" y="742"/>
                  </a:lnTo>
                  <a:lnTo>
                    <a:pt x="82810" y="891"/>
                  </a:lnTo>
                  <a:lnTo>
                    <a:pt x="82993" y="995"/>
                  </a:lnTo>
                  <a:lnTo>
                    <a:pt x="83185" y="1083"/>
                  </a:lnTo>
                  <a:lnTo>
                    <a:pt x="83386" y="1214"/>
                  </a:lnTo>
                  <a:lnTo>
                    <a:pt x="83657" y="1362"/>
                  </a:lnTo>
                  <a:lnTo>
                    <a:pt x="83953" y="1572"/>
                  </a:lnTo>
                  <a:lnTo>
                    <a:pt x="84111" y="1668"/>
                  </a:lnTo>
                  <a:lnTo>
                    <a:pt x="84224" y="1772"/>
                  </a:lnTo>
                  <a:lnTo>
                    <a:pt x="84434" y="1921"/>
                  </a:lnTo>
                  <a:lnTo>
                    <a:pt x="84765" y="2218"/>
                  </a:lnTo>
                  <a:lnTo>
                    <a:pt x="84957" y="2366"/>
                  </a:lnTo>
                  <a:lnTo>
                    <a:pt x="85027" y="2453"/>
                  </a:lnTo>
                  <a:lnTo>
                    <a:pt x="85150" y="2558"/>
                  </a:lnTo>
                  <a:lnTo>
                    <a:pt x="85464" y="2916"/>
                  </a:lnTo>
                  <a:lnTo>
                    <a:pt x="85691" y="3152"/>
                  </a:lnTo>
                  <a:lnTo>
                    <a:pt x="85743" y="3231"/>
                  </a:lnTo>
                  <a:cubicBezTo>
                    <a:pt x="86791" y="4514"/>
                    <a:pt x="87455" y="6042"/>
                    <a:pt x="87647" y="7710"/>
                  </a:cubicBezTo>
                  <a:lnTo>
                    <a:pt x="87655" y="7814"/>
                  </a:lnTo>
                  <a:lnTo>
                    <a:pt x="87673" y="8172"/>
                  </a:lnTo>
                  <a:lnTo>
                    <a:pt x="87708" y="8731"/>
                  </a:lnTo>
                  <a:lnTo>
                    <a:pt x="87708" y="61119"/>
                  </a:lnTo>
                  <a:lnTo>
                    <a:pt x="131364" y="61119"/>
                  </a:lnTo>
                  <a:cubicBezTo>
                    <a:pt x="134478" y="61118"/>
                    <a:pt x="137357" y="62776"/>
                    <a:pt x="138920" y="65470"/>
                  </a:cubicBezTo>
                  <a:cubicBezTo>
                    <a:pt x="140482" y="68165"/>
                    <a:pt x="140491" y="71487"/>
                    <a:pt x="138943" y="74189"/>
                  </a:cubicBezTo>
                  <a:lnTo>
                    <a:pt x="138419" y="74984"/>
                  </a:lnTo>
                  <a:lnTo>
                    <a:pt x="68569" y="171028"/>
                  </a:lnTo>
                  <a:cubicBezTo>
                    <a:pt x="63610" y="177864"/>
                    <a:pt x="52783" y="174346"/>
                    <a:pt x="52783" y="165894"/>
                  </a:cubicBezTo>
                  <a:lnTo>
                    <a:pt x="52783" y="113506"/>
                  </a:lnTo>
                  <a:lnTo>
                    <a:pt x="9127" y="113506"/>
                  </a:lnTo>
                  <a:cubicBezTo>
                    <a:pt x="6012" y="113507"/>
                    <a:pt x="3133" y="111849"/>
                    <a:pt x="1571" y="109155"/>
                  </a:cubicBezTo>
                  <a:cubicBezTo>
                    <a:pt x="9" y="106460"/>
                    <a:pt x="0" y="103138"/>
                    <a:pt x="1548" y="100436"/>
                  </a:cubicBezTo>
                  <a:lnTo>
                    <a:pt x="2072" y="99641"/>
                  </a:lnTo>
                  <a:lnTo>
                    <a:pt x="71922" y="3597"/>
                  </a:lnTo>
                  <a:lnTo>
                    <a:pt x="72009" y="3484"/>
                  </a:lnTo>
                  <a:lnTo>
                    <a:pt x="72166" y="3274"/>
                  </a:lnTo>
                  <a:lnTo>
                    <a:pt x="72454" y="2942"/>
                  </a:lnTo>
                  <a:lnTo>
                    <a:pt x="72611" y="2750"/>
                  </a:lnTo>
                  <a:lnTo>
                    <a:pt x="72690" y="2680"/>
                  </a:lnTo>
                  <a:lnTo>
                    <a:pt x="72804" y="2558"/>
                  </a:lnTo>
                  <a:lnTo>
                    <a:pt x="73153" y="2244"/>
                  </a:lnTo>
                  <a:lnTo>
                    <a:pt x="73397" y="2017"/>
                  </a:lnTo>
                  <a:lnTo>
                    <a:pt x="73467" y="1965"/>
                  </a:lnTo>
                  <a:cubicBezTo>
                    <a:pt x="74490" y="1127"/>
                    <a:pt x="75691" y="533"/>
                    <a:pt x="76977" y="227"/>
                  </a:cubicBezTo>
                  <a:lnTo>
                    <a:pt x="77073" y="218"/>
                  </a:lnTo>
                  <a:lnTo>
                    <a:pt x="77309" y="175"/>
                  </a:lnTo>
                  <a:lnTo>
                    <a:pt x="77955" y="61"/>
                  </a:lnTo>
                  <a:lnTo>
                    <a:pt x="78051" y="52"/>
                  </a:lnTo>
                  <a:lnTo>
                    <a:pt x="78409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71160" y="2251710"/>
              <a:ext cx="683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③ Alarm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07318" y="2542699"/>
              <a:ext cx="7937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OK → ALARM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53250" y="2000250"/>
            <a:ext cx="2286000" cy="857250"/>
            <a:chOff x="6953250" y="2000250"/>
            <a:chExt cx="2286000" cy="857250"/>
          </a:xfrm>
        </p:grpSpPr>
        <p:sp>
          <p:nvSpPr>
            <p:cNvPr id="22" name="Polygon 22"/>
            <p:cNvSpPr/>
            <p:nvPr/>
          </p:nvSpPr>
          <p:spPr>
            <a:xfrm>
              <a:off x="695325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42A5F5">
                    <a:alpha val="85000"/>
                  </a:srgbClr>
                </a:gs>
                <a:gs pos="100000">
                  <a:srgbClr val="42A5F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436644" y="2262188"/>
              <a:ext cx="157162" cy="122238"/>
            </a:xfrm>
            <a:custGeom>
              <a:avLst/>
              <a:gdLst/>
              <a:ahLst/>
              <a:cxnLst/>
              <a:rect l="l" t="t" r="r" b="b"/>
              <a:pathLst>
                <a:path w="157162" h="122238">
                  <a:moveTo>
                    <a:pt x="130969" y="0"/>
                  </a:moveTo>
                  <a:cubicBezTo>
                    <a:pt x="145435" y="0"/>
                    <a:pt x="157162" y="11727"/>
                    <a:pt x="157162" y="26194"/>
                  </a:cubicBezTo>
                  <a:lnTo>
                    <a:pt x="157162" y="104775"/>
                  </a:lnTo>
                  <a:cubicBezTo>
                    <a:pt x="157162" y="114419"/>
                    <a:pt x="149344" y="122238"/>
                    <a:pt x="139700" y="122238"/>
                  </a:cubicBezTo>
                  <a:lnTo>
                    <a:pt x="122238" y="122238"/>
                  </a:lnTo>
                  <a:cubicBezTo>
                    <a:pt x="112593" y="122238"/>
                    <a:pt x="104775" y="114419"/>
                    <a:pt x="104775" y="104775"/>
                  </a:cubicBezTo>
                  <a:lnTo>
                    <a:pt x="104775" y="87312"/>
                  </a:lnTo>
                  <a:cubicBezTo>
                    <a:pt x="104775" y="72846"/>
                    <a:pt x="93048" y="61119"/>
                    <a:pt x="78581" y="61119"/>
                  </a:cubicBezTo>
                  <a:cubicBezTo>
                    <a:pt x="64115" y="61119"/>
                    <a:pt x="52388" y="72846"/>
                    <a:pt x="52388" y="87312"/>
                  </a:cubicBezTo>
                  <a:lnTo>
                    <a:pt x="52388" y="104775"/>
                  </a:lnTo>
                  <a:cubicBezTo>
                    <a:pt x="52388" y="114419"/>
                    <a:pt x="44569" y="122238"/>
                    <a:pt x="34925" y="122238"/>
                  </a:cubicBezTo>
                  <a:lnTo>
                    <a:pt x="17463" y="122238"/>
                  </a:lnTo>
                  <a:cubicBezTo>
                    <a:pt x="7818" y="122238"/>
                    <a:pt x="0" y="114419"/>
                    <a:pt x="0" y="104775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61910" y="2251710"/>
              <a:ext cx="7481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④ Bridge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98068" y="254269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SNS → Lambda → 200 OK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0" y="2000250"/>
            <a:ext cx="2286000" cy="857250"/>
            <a:chOff x="9144000" y="2000250"/>
            <a:chExt cx="2286000" cy="857250"/>
          </a:xfrm>
        </p:grpSpPr>
        <p:sp>
          <p:nvSpPr>
            <p:cNvPr id="27" name="Polygon 27"/>
            <p:cNvSpPr/>
            <p:nvPr/>
          </p:nvSpPr>
          <p:spPr>
            <a:xfrm>
              <a:off x="9144000" y="20002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05000" y="0"/>
                  </a:lnTo>
                  <a:lnTo>
                    <a:pt x="2286000" y="428625"/>
                  </a:lnTo>
                  <a:lnTo>
                    <a:pt x="1905000" y="857250"/>
                  </a:lnTo>
                  <a:lnTo>
                    <a:pt x="0" y="857250"/>
                  </a:lnTo>
                  <a:lnTo>
                    <a:pt x="381000" y="428625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85000"/>
                  </a:srgbClr>
                </a:gs>
                <a:gs pos="100000">
                  <a:srgbClr val="81C784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609551" y="2244725"/>
              <a:ext cx="192459" cy="139700"/>
            </a:xfrm>
            <a:custGeom>
              <a:avLst/>
              <a:gdLst/>
              <a:ahLst/>
              <a:cxnLst/>
              <a:rect l="l" t="t" r="r" b="b"/>
              <a:pathLst>
                <a:path w="192459" h="139700">
                  <a:moveTo>
                    <a:pt x="96424" y="0"/>
                  </a:moveTo>
                  <a:cubicBezTo>
                    <a:pt x="133881" y="0"/>
                    <a:pt x="165078" y="21208"/>
                    <a:pt x="189543" y="62463"/>
                  </a:cubicBezTo>
                  <a:lnTo>
                    <a:pt x="191464" y="65773"/>
                  </a:lnTo>
                  <a:lnTo>
                    <a:pt x="191857" y="66646"/>
                  </a:lnTo>
                  <a:lnTo>
                    <a:pt x="192119" y="67370"/>
                  </a:lnTo>
                  <a:lnTo>
                    <a:pt x="192241" y="67851"/>
                  </a:lnTo>
                  <a:lnTo>
                    <a:pt x="192363" y="68567"/>
                  </a:lnTo>
                  <a:lnTo>
                    <a:pt x="192459" y="69440"/>
                  </a:lnTo>
                  <a:lnTo>
                    <a:pt x="192459" y="70400"/>
                  </a:lnTo>
                  <a:lnTo>
                    <a:pt x="192337" y="71369"/>
                  </a:lnTo>
                  <a:cubicBezTo>
                    <a:pt x="192280" y="71693"/>
                    <a:pt x="192204" y="72014"/>
                    <a:pt x="192110" y="72330"/>
                  </a:cubicBezTo>
                  <a:lnTo>
                    <a:pt x="191769" y="73273"/>
                  </a:lnTo>
                  <a:lnTo>
                    <a:pt x="191455" y="73927"/>
                  </a:lnTo>
                  <a:lnTo>
                    <a:pt x="191315" y="74189"/>
                  </a:lnTo>
                  <a:cubicBezTo>
                    <a:pt x="167182" y="116414"/>
                    <a:pt x="136309" y="138626"/>
                    <a:pt x="99157" y="139665"/>
                  </a:cubicBezTo>
                  <a:lnTo>
                    <a:pt x="96424" y="139700"/>
                  </a:lnTo>
                  <a:cubicBezTo>
                    <a:pt x="58042" y="139700"/>
                    <a:pt x="26251" y="117444"/>
                    <a:pt x="1533" y="74181"/>
                  </a:cubicBezTo>
                  <a:cubicBezTo>
                    <a:pt x="0" y="71497"/>
                    <a:pt x="0" y="68203"/>
                    <a:pt x="1533" y="65519"/>
                  </a:cubicBezTo>
                  <a:cubicBezTo>
                    <a:pt x="26251" y="22256"/>
                    <a:pt x="58042" y="0"/>
                    <a:pt x="96424" y="0"/>
                  </a:cubicBezTo>
                  <a:close/>
                  <a:moveTo>
                    <a:pt x="96424" y="43656"/>
                  </a:moveTo>
                  <a:cubicBezTo>
                    <a:pt x="81958" y="43656"/>
                    <a:pt x="70230" y="55384"/>
                    <a:pt x="70230" y="69850"/>
                  </a:cubicBezTo>
                  <a:cubicBezTo>
                    <a:pt x="70230" y="84316"/>
                    <a:pt x="81958" y="96044"/>
                    <a:pt x="96424" y="96044"/>
                  </a:cubicBezTo>
                  <a:cubicBezTo>
                    <a:pt x="110891" y="96044"/>
                    <a:pt x="122618" y="84316"/>
                    <a:pt x="122618" y="69850"/>
                  </a:cubicBezTo>
                  <a:cubicBezTo>
                    <a:pt x="122618" y="55384"/>
                    <a:pt x="110891" y="43656"/>
                    <a:pt x="96424" y="436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52660" y="2251710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⑤ Agent 调查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88818" y="2542699"/>
              <a:ext cx="779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15 步 · 自主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095750" y="3429000"/>
            <a:ext cx="6953250" cy="1143000"/>
            <a:chOff x="4095750" y="3429000"/>
            <a:chExt cx="6953250" cy="1143000"/>
          </a:xfrm>
        </p:grpSpPr>
        <p:sp>
          <p:nvSpPr>
            <p:cNvPr id="32" name="Polygon 32"/>
            <p:cNvSpPr/>
            <p:nvPr/>
          </p:nvSpPr>
          <p:spPr>
            <a:xfrm>
              <a:off x="4095750" y="3429000"/>
              <a:ext cx="6953250" cy="1143000"/>
            </a:xfrm>
            <a:custGeom>
              <a:avLst/>
              <a:gdLst/>
              <a:ahLst/>
              <a:cxnLst/>
              <a:rect l="l" t="t" r="r" b="b"/>
              <a:pathLst>
                <a:path w="6953250" h="1143000">
                  <a:moveTo>
                    <a:pt x="0" y="0"/>
                  </a:moveTo>
                  <a:lnTo>
                    <a:pt x="6381750" y="0"/>
                  </a:lnTo>
                  <a:lnTo>
                    <a:pt x="6953250" y="571500"/>
                  </a:lnTo>
                  <a:lnTo>
                    <a:pt x="6381750" y="1143000"/>
                  </a:lnTo>
                  <a:lnTo>
                    <a:pt x="0" y="1143000"/>
                  </a:lnTo>
                  <a:lnTo>
                    <a:pt x="571500" y="571500"/>
                  </a:lnTo>
                  <a:close/>
                </a:path>
              </a:pathLst>
            </a:custGeom>
            <a:gradFill>
              <a:gsLst>
                <a:gs pos="0">
                  <a:srgbClr val="4CAF50">
                    <a:alpha val="85000"/>
                  </a:srgbClr>
                </a:gs>
                <a:gs pos="100000">
                  <a:srgbClr val="9CCC65">
                    <a:alpha val="85000"/>
                  </a:srgbClr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578350" y="3787775"/>
              <a:ext cx="254001" cy="258280"/>
              <a:chOff x="4578350" y="3787775"/>
              <a:chExt cx="254001" cy="2582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667250" y="3787775"/>
                <a:ext cx="165101" cy="16512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20">
                    <a:moveTo>
                      <a:pt x="151143" y="165036"/>
                    </a:moveTo>
                    <a:lnTo>
                      <a:pt x="150584" y="164960"/>
                    </a:lnTo>
                    <a:cubicBezTo>
                      <a:pt x="150143" y="164932"/>
                      <a:pt x="149707" y="164847"/>
                      <a:pt x="149289" y="164706"/>
                    </a:cubicBezTo>
                    <a:lnTo>
                      <a:pt x="148717" y="164554"/>
                    </a:lnTo>
                    <a:lnTo>
                      <a:pt x="148107" y="164338"/>
                    </a:lnTo>
                    <a:lnTo>
                      <a:pt x="147536" y="164135"/>
                    </a:lnTo>
                    <a:lnTo>
                      <a:pt x="146990" y="163881"/>
                    </a:lnTo>
                    <a:lnTo>
                      <a:pt x="146418" y="163601"/>
                    </a:lnTo>
                    <a:lnTo>
                      <a:pt x="145910" y="163297"/>
                    </a:lnTo>
                    <a:lnTo>
                      <a:pt x="145351" y="162966"/>
                    </a:lnTo>
                    <a:lnTo>
                      <a:pt x="144805" y="162560"/>
                    </a:lnTo>
                    <a:lnTo>
                      <a:pt x="144348" y="162217"/>
                    </a:lnTo>
                    <a:cubicBezTo>
                      <a:pt x="144026" y="161953"/>
                      <a:pt x="143716" y="161673"/>
                      <a:pt x="143421" y="161379"/>
                    </a:cubicBezTo>
                    <a:lnTo>
                      <a:pt x="109042" y="127000"/>
                    </a:ln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39700" y="0"/>
                    </a:lnTo>
                    <a:cubicBezTo>
                      <a:pt x="153728" y="0"/>
                      <a:pt x="165100" y="11372"/>
                      <a:pt x="165100" y="25400"/>
                    </a:cubicBezTo>
                    <a:lnTo>
                      <a:pt x="165100" y="152400"/>
                    </a:lnTo>
                    <a:cubicBezTo>
                      <a:pt x="165101" y="154069"/>
                      <a:pt x="164773" y="155722"/>
                      <a:pt x="164135" y="157264"/>
                    </a:cubicBezTo>
                    <a:lnTo>
                      <a:pt x="163881" y="157810"/>
                    </a:lnTo>
                    <a:lnTo>
                      <a:pt x="163601" y="158382"/>
                    </a:lnTo>
                    <a:lnTo>
                      <a:pt x="163297" y="158890"/>
                    </a:lnTo>
                    <a:lnTo>
                      <a:pt x="162966" y="159448"/>
                    </a:lnTo>
                    <a:lnTo>
                      <a:pt x="162560" y="159995"/>
                    </a:lnTo>
                    <a:lnTo>
                      <a:pt x="162217" y="160452"/>
                    </a:lnTo>
                    <a:cubicBezTo>
                      <a:pt x="160354" y="162726"/>
                      <a:pt x="157760" y="164284"/>
                      <a:pt x="154876" y="164859"/>
                    </a:cubicBezTo>
                    <a:lnTo>
                      <a:pt x="154216" y="164960"/>
                    </a:lnTo>
                    <a:lnTo>
                      <a:pt x="153657" y="165036"/>
                    </a:lnTo>
                    <a:cubicBezTo>
                      <a:pt x="152821" y="165120"/>
                      <a:pt x="151979" y="165120"/>
                      <a:pt x="151143" y="1650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578350" y="3876662"/>
                <a:ext cx="165100" cy="169393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9393">
                    <a:moveTo>
                      <a:pt x="63500" y="0"/>
                    </a:moveTo>
                    <a:lnTo>
                      <a:pt x="63500" y="12713"/>
                    </a:lnTo>
                    <a:cubicBezTo>
                      <a:pt x="63500" y="40769"/>
                      <a:pt x="86244" y="63513"/>
                      <a:pt x="114300" y="63513"/>
                    </a:cubicBezTo>
                    <a:lnTo>
                      <a:pt x="165100" y="63513"/>
                    </a:lnTo>
                    <a:lnTo>
                      <a:pt x="165100" y="101613"/>
                    </a:lnTo>
                    <a:cubicBezTo>
                      <a:pt x="165100" y="115641"/>
                      <a:pt x="153728" y="127013"/>
                      <a:pt x="139700" y="127013"/>
                    </a:cubicBezTo>
                    <a:lnTo>
                      <a:pt x="56058" y="127013"/>
                    </a:lnTo>
                    <a:lnTo>
                      <a:pt x="21679" y="161392"/>
                    </a:lnTo>
                    <a:cubicBezTo>
                      <a:pt x="13678" y="169393"/>
                      <a:pt x="0" y="163728"/>
                      <a:pt x="0" y="152413"/>
                    </a:cubicBezTo>
                    <a:lnTo>
                      <a:pt x="0" y="25413"/>
                    </a:lnTo>
                    <a:cubicBezTo>
                      <a:pt x="0" y="11385"/>
                      <a:pt x="11372" y="13"/>
                      <a:pt x="2540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4981575" y="3762375"/>
              <a:ext cx="45696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SimHei"/>
                  <a:cs typeface="Arial"/>
                </a:rPr>
                <a:t>⑥ RCA + 4 阶段 Mitigation + Slack 自主投递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7290" y="4134802"/>
              <a:ext cx="50873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5000"/>
                    </a:srgbClr>
                  </a:solidFill>
                  <a:latin typeface="Arial"/>
                  <a:ea typeface="Microsoft YaHei"/>
                  <a:cs typeface="Arial"/>
                </a:rPr>
                <a:t>Investigation started → Pod ImagePullBackOff → kubectl rollout undo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88242" y="4333399"/>
              <a:ext cx="38980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 val="85000"/>
                    </a:srgbClr>
                  </a:solidFill>
                  <a:latin typeface="Arial"/>
                  <a:ea typeface="Microsoft YaHei"/>
                  <a:cs typeface="Arial"/>
                </a:rPr>
                <a:t>每条命令带 rollback + approval contract，等用户单步授权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9118" y="5095875"/>
            <a:ext cx="11061382" cy="330994"/>
            <a:chOff x="559118" y="5095875"/>
            <a:chExt cx="11061382" cy="330994"/>
          </a:xfrm>
        </p:grpSpPr>
        <p:sp>
          <p:nvSpPr>
            <p:cNvPr id="40" name="Line 40"/>
            <p:cNvSpPr/>
            <p:nvPr/>
          </p:nvSpPr>
          <p:spPr>
            <a:xfrm>
              <a:off x="571500" y="514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2D374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9118" y="522874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T+0s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0118" y="52287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注入故障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4375" y="5095875"/>
              <a:ext cx="95250" cy="9525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511742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T+30s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40368" y="522874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Pod ImagePullBackOff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2667000" y="5095875"/>
              <a:ext cx="95250" cy="95250"/>
            </a:xfrm>
            <a:prstGeom prst="ellipse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845368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T+90s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73992" y="5228749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Alarm + Bridge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000625" y="5095875"/>
              <a:ext cx="95250" cy="952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40868" y="5228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T+93s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9492" y="5228749"/>
              <a:ext cx="10286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Agent 自主接管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96125" y="5095875"/>
              <a:ext cx="95250" cy="95250"/>
            </a:xfrm>
            <a:prstGeom prst="ellipse">
              <a:avLst/>
            </a:prstGeom>
            <a:solidFill>
              <a:srgbClr val="42A5F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07868" y="5228749"/>
              <a:ext cx="5302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T+12min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26992" y="5228749"/>
              <a:ext cx="645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RCA Done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763125" y="5095875"/>
              <a:ext cx="95250" cy="95250"/>
            </a:xfrm>
            <a:prstGeom prst="ellipse">
              <a:avLst/>
            </a:prstGeom>
            <a:solidFill>
              <a:srgbClr val="4CAF50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71500" y="5715000"/>
            <a:ext cx="11049000" cy="709612"/>
            <a:chOff x="571500" y="5715000"/>
            <a:chExt cx="11049000" cy="709612"/>
          </a:xfrm>
        </p:grpSpPr>
        <p:sp>
          <p:nvSpPr>
            <p:cNvPr id="57" name="Rectangle 57"/>
            <p:cNvSpPr/>
            <p:nvPr/>
          </p:nvSpPr>
          <p:spPr>
            <a:xfrm>
              <a:off x="571500" y="5715000"/>
              <a:ext cx="11049000" cy="704850"/>
            </a:xfrm>
            <a:prstGeom prst="roundRect">
              <a:avLst>
                <a:gd name="adj" fmla="val 13514"/>
              </a:avLst>
            </a:prstGeom>
            <a:solidFill>
              <a:srgbClr val="1A2332"/>
            </a:solidFill>
            <a:ln w="9525">
              <a:solidFill>
                <a:srgbClr val="FF9800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00100" y="59626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76200" y="0"/>
                  </a:moveTo>
                  <a:cubicBezTo>
                    <a:pt x="102503" y="0"/>
                    <a:pt x="123825" y="21322"/>
                    <a:pt x="123825" y="47625"/>
                  </a:cubicBezTo>
                  <a:lnTo>
                    <a:pt x="123825" y="76200"/>
                  </a:lnTo>
                  <a:cubicBezTo>
                    <a:pt x="139607" y="76200"/>
                    <a:pt x="152400" y="88993"/>
                    <a:pt x="152400" y="104775"/>
                  </a:cubicBezTo>
                  <a:lnTo>
                    <a:pt x="152400" y="161925"/>
                  </a:lnTo>
                  <a:cubicBezTo>
                    <a:pt x="152400" y="177707"/>
                    <a:pt x="139607" y="190500"/>
                    <a:pt x="12382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104775"/>
                  </a:lnTo>
                  <a:cubicBezTo>
                    <a:pt x="0" y="88993"/>
                    <a:pt x="12793" y="76200"/>
                    <a:pt x="28575" y="76200"/>
                  </a:cubicBezTo>
                  <a:lnTo>
                    <a:pt x="28575" y="47625"/>
                  </a:lnTo>
                  <a:cubicBezTo>
                    <a:pt x="28575" y="21322"/>
                    <a:pt x="49897" y="0"/>
                    <a:pt x="76200" y="0"/>
                  </a:cubicBezTo>
                  <a:moveTo>
                    <a:pt x="76200" y="114300"/>
                  </a:moveTo>
                  <a:cubicBezTo>
                    <a:pt x="66231" y="114297"/>
                    <a:pt x="57945" y="121980"/>
                    <a:pt x="57198" y="131921"/>
                  </a:cubicBezTo>
                  <a:lnTo>
                    <a:pt x="57150" y="133350"/>
                  </a:lnTo>
                  <a:cubicBezTo>
                    <a:pt x="57150" y="143871"/>
                    <a:pt x="65679" y="152400"/>
                    <a:pt x="76200" y="152400"/>
                  </a:cubicBezTo>
                  <a:cubicBezTo>
                    <a:pt x="86721" y="152400"/>
                    <a:pt x="95250" y="143871"/>
                    <a:pt x="95250" y="133350"/>
                  </a:cubicBezTo>
                  <a:cubicBezTo>
                    <a:pt x="95250" y="122829"/>
                    <a:pt x="86721" y="114300"/>
                    <a:pt x="76200" y="114300"/>
                  </a:cubicBezTo>
                  <a:moveTo>
                    <a:pt x="76200" y="19050"/>
                  </a:moveTo>
                  <a:cubicBezTo>
                    <a:pt x="60418" y="19050"/>
                    <a:pt x="47625" y="31843"/>
                    <a:pt x="47625" y="47625"/>
                  </a:cubicBezTo>
                  <a:lnTo>
                    <a:pt x="47625" y="76200"/>
                  </a:lnTo>
                  <a:lnTo>
                    <a:pt x="104775" y="76200"/>
                  </a:lnTo>
                  <a:lnTo>
                    <a:pt x="104775" y="47625"/>
                  </a:lnTo>
                  <a:cubicBezTo>
                    <a:pt x="104775" y="31843"/>
                    <a:pt x="91982" y="19050"/>
                    <a:pt x="76200" y="19050"/>
                  </a:cubicBezTo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08710" y="5947410"/>
              <a:ext cx="16590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Approval Contract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0615" y="6211252"/>
              <a:ext cx="80623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Mitigation 命令 </a:t>
              </a:r>
              <a:r>
                <a:rPr lang="zh-CN" sz="1050" b="1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不会自动执行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— 每步等用户输入 "approve step N" 才动；这是 Skill 的 hard rule，抗 LLM 语义漂移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10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  <p:bldP spid="31" grpId="0"/>
      <p:bldP spid="39" grpId="0"/>
      <p:bldP spid="56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6362167" cy="1000125"/>
            <a:chOff x="537210" y="476250"/>
            <a:chExt cx="6362167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C1 · 现场证据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63621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不是手画占位 — 是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真 agent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真截图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809750"/>
            <a:ext cx="5524500" cy="2095500"/>
            <a:chOff x="571500" y="1809750"/>
            <a:chExt cx="5524500" cy="2095500"/>
          </a:xfrm>
        </p:grpSpPr>
        <p:sp>
          <p:nvSpPr>
            <p:cNvPr id="7" name="Rectangle 7"/>
            <p:cNvSpPr/>
            <p:nvPr/>
          </p:nvSpPr>
          <p:spPr>
            <a:xfrm>
              <a:off x="571500" y="1809750"/>
              <a:ext cx="55245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962150"/>
              <a:ext cx="5219700" cy="13144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709612" y="3450431"/>
              <a:ext cx="3893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① kubectl 终端：3 Running + 1 ImagePullBackOff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518" y="3666649"/>
              <a:ext cx="40261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L6 注入 30 秒后，新 pod 卡在 ImagePullBackOff（红字证据）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1809750"/>
            <a:ext cx="5334000" cy="2095500"/>
            <a:chOff x="6286500" y="1809750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809750"/>
              <a:ext cx="5334000" cy="2095500"/>
            </a:xfrm>
            <a:prstGeom prst="roundRect">
              <a:avLst>
                <a:gd name="adj" fmla="val 4545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325" y="1962150"/>
              <a:ext cx="2418350" cy="14097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424612" y="3450431"/>
              <a:ext cx="3013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② CloudWatch Alarm 跳变 OK → ALARM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26518" y="3666649"/>
              <a:ext cx="34565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告警状态条从绿色翻红色（pod_status_pending ≥ 1）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095750"/>
            <a:ext cx="5524500" cy="2286000"/>
            <a:chOff x="571500" y="4095750"/>
            <a:chExt cx="5524500" cy="2286000"/>
          </a:xfrm>
        </p:grpSpPr>
        <p:sp>
          <p:nvSpPr>
            <p:cNvPr id="17" name="Rectangle 17"/>
            <p:cNvSpPr/>
            <p:nvPr/>
          </p:nvSpPr>
          <p:spPr>
            <a:xfrm>
              <a:off x="571500" y="4095750"/>
              <a:ext cx="5524500" cy="2286000"/>
            </a:xfrm>
            <a:prstGeom prst="roundRect">
              <a:avLst>
                <a:gd name="adj" fmla="val 416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4009" y="4248150"/>
              <a:ext cx="2559482" cy="14859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09612" y="5879306"/>
              <a:ext cx="35221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③ RCA 报告 — 调查摘要 + 根本原因 + 主要发现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1518" y="6105049"/>
              <a:ext cx="4396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"image tag v1.2.4-DOES-NOT-EXIST 拉取失败" — 引用具体 commit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4095750"/>
            <a:ext cx="5334000" cy="2286000"/>
            <a:chOff x="6286500" y="4095750"/>
            <a:chExt cx="5334000" cy="2286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4095750"/>
              <a:ext cx="5334000" cy="2286000"/>
            </a:xfrm>
            <a:prstGeom prst="roundRect">
              <a:avLst>
                <a:gd name="adj" fmla="val 4167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88352" y="4248150"/>
              <a:ext cx="2530297" cy="14859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424612" y="5879306"/>
              <a:ext cx="40828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④ Slack — agent 自主投递 "Investigation started"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6518" y="6105049"/>
              <a:ext cx="37200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12:17 BJ — 凌晨 3 点 on-call 工程师没醒，agent 已经接手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1022" y="6521291"/>
            <a:ext cx="11069955" cy="167640"/>
            <a:chOff x="561022" y="6521291"/>
            <a:chExt cx="11069955" cy="167640"/>
          </a:xfrm>
        </p:grpSpPr>
        <p:sp>
          <p:nvSpPr>
            <p:cNvPr id="27" name="TextBox 27"/>
            <p:cNvSpPr txBox="1"/>
            <p:nvPr/>
          </p:nvSpPr>
          <p:spPr>
            <a:xfrm>
              <a:off x="561022" y="6521291"/>
              <a:ext cx="4936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所有截图保存于 blog/screenshots/case-1-*.png · 完整 7 张存档于 cli-evidence/case1/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96745" y="6521291"/>
              <a:ext cx="3342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9800">
                    <a:alpha val="22000"/>
                  </a:srgbClr>
                </a:gs>
                <a:gs pos="100000">
                  <a:srgbClr val="FF98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09550" y="-409575"/>
            <a:ext cx="11049000" cy="5791200"/>
            <a:chOff x="209550" y="-409575"/>
            <a:chExt cx="11049000" cy="5791200"/>
          </a:xfrm>
        </p:grpSpPr>
        <p:sp>
          <p:nvSpPr>
            <p:cNvPr id="5" name="TextBox 5"/>
            <p:cNvSpPr txBox="1"/>
            <p:nvPr/>
          </p:nvSpPr>
          <p:spPr>
            <a:xfrm>
              <a:off x="209550" y="-409575"/>
              <a:ext cx="5531501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FF980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C2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829925" y="1495425"/>
              <a:ext cx="57150" cy="57150"/>
            </a:xfrm>
            <a:prstGeom prst="ellipse">
              <a:avLst/>
            </a:prstGeom>
            <a:solidFill>
              <a:srgbClr val="FF9800">
                <a:alpha val="6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2076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6898" y="1496086"/>
            <a:ext cx="2845951" cy="313664"/>
            <a:chOff x="596898" y="1496086"/>
            <a:chExt cx="2845951" cy="313664"/>
          </a:xfrm>
        </p:grpSpPr>
        <p:sp>
          <p:nvSpPr>
            <p:cNvPr id="10" name="Freeform 10"/>
            <p:cNvSpPr/>
            <p:nvPr/>
          </p:nvSpPr>
          <p:spPr>
            <a:xfrm>
              <a:off x="596898" y="1496086"/>
              <a:ext cx="267422" cy="268466"/>
            </a:xfrm>
            <a:custGeom>
              <a:avLst/>
              <a:gdLst/>
              <a:ahLst/>
              <a:cxnLst/>
              <a:rect l="l" t="t" r="r" b="b"/>
              <a:pathLst>
                <a:path w="267422" h="268466">
                  <a:moveTo>
                    <a:pt x="190502" y="22707"/>
                  </a:moveTo>
                  <a:cubicBezTo>
                    <a:pt x="243877" y="53523"/>
                    <a:pt x="267422" y="118214"/>
                    <a:pt x="246342" y="176130"/>
                  </a:cubicBezTo>
                  <a:cubicBezTo>
                    <a:pt x="225262" y="234045"/>
                    <a:pt x="165642" y="268466"/>
                    <a:pt x="104946" y="257762"/>
                  </a:cubicBezTo>
                  <a:cubicBezTo>
                    <a:pt x="44250" y="247059"/>
                    <a:pt x="0" y="194322"/>
                    <a:pt x="2" y="132689"/>
                  </a:cubicBezTo>
                  <a:lnTo>
                    <a:pt x="65" y="128574"/>
                  </a:lnTo>
                  <a:cubicBezTo>
                    <a:pt x="1512" y="83959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2" y="22707"/>
                  </a:cubicBezTo>
                  <a:moveTo>
                    <a:pt x="121909" y="144322"/>
                  </a:moveTo>
                  <a:lnTo>
                    <a:pt x="122569" y="144589"/>
                  </a:lnTo>
                  <a:lnTo>
                    <a:pt x="123585" y="144919"/>
                  </a:lnTo>
                  <a:lnTo>
                    <a:pt x="124601" y="145160"/>
                  </a:lnTo>
                  <a:lnTo>
                    <a:pt x="125516" y="145300"/>
                  </a:lnTo>
                  <a:lnTo>
                    <a:pt x="127002" y="145389"/>
                  </a:lnTo>
                  <a:lnTo>
                    <a:pt x="127967" y="145351"/>
                  </a:lnTo>
                  <a:lnTo>
                    <a:pt x="129681" y="145097"/>
                  </a:lnTo>
                  <a:lnTo>
                    <a:pt x="130723" y="144843"/>
                  </a:lnTo>
                  <a:lnTo>
                    <a:pt x="132031" y="144347"/>
                  </a:lnTo>
                  <a:lnTo>
                    <a:pt x="132958" y="143903"/>
                  </a:lnTo>
                  <a:lnTo>
                    <a:pt x="133948" y="143319"/>
                  </a:lnTo>
                  <a:lnTo>
                    <a:pt x="134710" y="142785"/>
                  </a:lnTo>
                  <a:lnTo>
                    <a:pt x="135726" y="141909"/>
                  </a:lnTo>
                  <a:lnTo>
                    <a:pt x="136781" y="140791"/>
                  </a:lnTo>
                  <a:lnTo>
                    <a:pt x="137568" y="139737"/>
                  </a:lnTo>
                  <a:lnTo>
                    <a:pt x="162968" y="101637"/>
                  </a:lnTo>
                  <a:cubicBezTo>
                    <a:pt x="166861" y="95802"/>
                    <a:pt x="165286" y="87915"/>
                    <a:pt x="159450" y="84022"/>
                  </a:cubicBezTo>
                  <a:cubicBezTo>
                    <a:pt x="153614" y="80130"/>
                    <a:pt x="145728" y="81705"/>
                    <a:pt x="141835" y="87540"/>
                  </a:cubicBezTo>
                  <a:lnTo>
                    <a:pt x="139702" y="90728"/>
                  </a:lnTo>
                  <a:lnTo>
                    <a:pt x="139702" y="69189"/>
                  </a:lnTo>
                  <a:cubicBezTo>
                    <a:pt x="139701" y="62750"/>
                    <a:pt x="134882" y="57331"/>
                    <a:pt x="128487" y="56578"/>
                  </a:cubicBezTo>
                  <a:lnTo>
                    <a:pt x="127002" y="56489"/>
                  </a:lnTo>
                  <a:cubicBezTo>
                    <a:pt x="119988" y="56489"/>
                    <a:pt x="114302" y="62175"/>
                    <a:pt x="114302" y="69189"/>
                  </a:cubicBezTo>
                  <a:lnTo>
                    <a:pt x="114302" y="133019"/>
                  </a:lnTo>
                  <a:lnTo>
                    <a:pt x="114416" y="134353"/>
                  </a:lnTo>
                  <a:lnTo>
                    <a:pt x="114670" y="135711"/>
                  </a:lnTo>
                  <a:lnTo>
                    <a:pt x="115178" y="137350"/>
                  </a:lnTo>
                  <a:lnTo>
                    <a:pt x="115787" y="138645"/>
                  </a:lnTo>
                  <a:lnTo>
                    <a:pt x="116372" y="139636"/>
                  </a:lnTo>
                  <a:lnTo>
                    <a:pt x="116905" y="140398"/>
                  </a:lnTo>
                  <a:lnTo>
                    <a:pt x="117781" y="141414"/>
                  </a:lnTo>
                  <a:lnTo>
                    <a:pt x="118899" y="142468"/>
                  </a:lnTo>
                  <a:lnTo>
                    <a:pt x="119953" y="143255"/>
                  </a:lnTo>
                  <a:lnTo>
                    <a:pt x="121096" y="143928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7260" y="1565910"/>
              <a:ext cx="2505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CASE 2 · TIME-ANCHORED RCA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2400300"/>
            <a:ext cx="8571452" cy="1981200"/>
            <a:chOff x="495300" y="2400300"/>
            <a:chExt cx="8571452" cy="1981200"/>
          </a:xfrm>
        </p:grpSpPr>
        <p:sp>
          <p:nvSpPr>
            <p:cNvPr id="13" name="TextBox 13"/>
            <p:cNvSpPr txBox="1"/>
            <p:nvPr/>
          </p:nvSpPr>
          <p:spPr>
            <a:xfrm>
              <a:off x="495300" y="2400300"/>
              <a:ext cx="857145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时间锚定 + 跨源关联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5300" y="3162300"/>
              <a:ext cx="654719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FF9800"/>
                      </a:gs>
                      <a:gs pos="100000">
                        <a:srgbClr val="FFB74D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精确到秒的 RCA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0545" y="4381500"/>
            <a:ext cx="7909989" cy="804862"/>
            <a:chOff x="550545" y="4381500"/>
            <a:chExt cx="7909989" cy="804862"/>
          </a:xfrm>
        </p:grpSpPr>
        <p:sp>
          <p:nvSpPr>
            <p:cNvPr id="16" name="Line 16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FF98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0545" y="4584382"/>
              <a:ext cx="51025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ALB p99 突变点 → 锚到 k8s pod 创建 </a:t>
              </a:r>
              <a:r>
                <a:rPr lang="zh-CN" sz="16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05:19:19Z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4851082"/>
              <a:ext cx="79099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同时关联 ALB metric / RDS CPU / Pod logs / CloudTrail 事件 — 完整跨源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5524500"/>
            <a:ext cx="7239000" cy="762000"/>
            <a:chOff x="571500" y="5524500"/>
            <a:chExt cx="7239000" cy="7620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524500"/>
              <a:ext cx="2318194" cy="762000"/>
              <a:chOff x="571500" y="5524500"/>
              <a:chExt cx="2318194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1520" y="5627370"/>
                <a:ext cx="4658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98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91565" y="5773102"/>
                <a:ext cx="10081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次 cn API 调用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0570" y="6046470"/>
                <a:ext cx="21391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单次 incident · 100% 经 MCP Bridge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048000" y="5524500"/>
              <a:ext cx="2594229" cy="762000"/>
              <a:chOff x="3048000" y="5524500"/>
              <a:chExt cx="2594229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2080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453765" y="5773102"/>
                <a:ext cx="13378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个 sub-agent 并行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227070" y="6046470"/>
                <a:ext cx="24151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alb · eks · rds · cloudtrail · pod-logs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524500" y="5524500"/>
              <a:ext cx="2286000" cy="762000"/>
              <a:chOff x="5524500" y="5524500"/>
              <a:chExt cx="2286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684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930265" y="5773102"/>
                <a:ext cx="13455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个 cause + 6+ 观察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03570" y="6046470"/>
                <a:ext cx="182365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根因层级清晰 · 9 分 49 秒完成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11266622" y="65212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76250"/>
            <a:ext cx="5268811" cy="971550"/>
            <a:chOff x="541020" y="476250"/>
            <a:chExt cx="5268811" cy="9715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20313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C2 · 13 分钟 → 3 cause 锁定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1020" y="960120"/>
              <a:ext cx="5268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关键数据 + Agent 自己写的 RCA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619250"/>
            <a:ext cx="4095750" cy="4705350"/>
            <a:chOff x="571500" y="1619250"/>
            <a:chExt cx="4095750" cy="470535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619250"/>
              <a:ext cx="4095750" cy="1123950"/>
              <a:chOff x="571500" y="1619250"/>
              <a:chExt cx="4095750" cy="11239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61925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F44336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49618" y="1799749"/>
                <a:ext cx="690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SYMPTOM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5808" y="2053114"/>
                <a:ext cx="29554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bjs-web-p99-latency-high 触发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2333149"/>
                <a:ext cx="24597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ALB p99 TargetResponseTime &gt; 0.5s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2531745"/>
                <a:ext cx="15147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@ 2026-05-14 05:23:53Z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71500" y="2895600"/>
              <a:ext cx="4095750" cy="1123950"/>
              <a:chOff x="571500" y="2895600"/>
              <a:chExt cx="4095750" cy="1123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289560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9618" y="3076099"/>
                <a:ext cx="10414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★ TIME ANCHOR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5808" y="3329464"/>
                <a:ext cx="292614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 xml:space="preserve">c2-load-gen Pod 创建 </a:t>
                </a:r>
                <a:r>
                  <a:rPr lang="zh-CN" sz="1275" b="1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05:19:19Z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9618" y="3609499"/>
                <a:ext cx="21180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= ALB p99 0.33s → 0.74s 突变点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0570" y="3808095"/>
                <a:ext cx="17710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"精确吻合" — agent 自己写的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4171950"/>
              <a:ext cx="4095750" cy="1123950"/>
              <a:chOff x="571500" y="4171950"/>
              <a:chExt cx="4095750" cy="1123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71500" y="4171950"/>
                <a:ext cx="4095750" cy="1123950"/>
              </a:xfrm>
              <a:prstGeom prst="roundRect">
                <a:avLst>
                  <a:gd name="adj" fmla="val 8475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9618" y="4352449"/>
                <a:ext cx="8695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2A5F5"/>
                    </a:solidFill>
                    <a:latin typeface="Arial"/>
                    <a:ea typeface="Microsoft YaHei"/>
                    <a:cs typeface="Arial"/>
                  </a:rPr>
                  <a:t>ROOT CAUSE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5808" y="4605814"/>
                <a:ext cx="27501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合成负载 ~26K req/min 超容量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49618" y="4885849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RDS db.t3.micro CPU 100%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9618" y="5076349"/>
                <a:ext cx="18617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+ users.search 走 SeqScan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5448300"/>
              <a:ext cx="4095750" cy="876300"/>
              <a:chOff x="571500" y="5448300"/>
              <a:chExt cx="4095750" cy="8763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5448300"/>
                <a:ext cx="4095750" cy="876300"/>
              </a:xfrm>
              <a:prstGeom prst="roundRect">
                <a:avLst>
                  <a:gd name="adj" fmla="val 10870"/>
                </a:avLst>
              </a:prstGeom>
              <a:solidFill>
                <a:srgbClr val="1A2332"/>
              </a:solidFill>
              <a:ln w="14288">
                <a:solidFill>
                  <a:srgbClr val="4CAF5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9618" y="5628799"/>
                <a:ext cx="14900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SUB-AGENTS &amp; TOOLS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9618" y="5895499"/>
                <a:ext cx="26164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alb · eks · rds · cloudtrail · pod-logs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49618" y="6105049"/>
                <a:ext cx="26093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→ 98 calls via aws_cn_2_mcp_call_aws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4953000" y="1619250"/>
            <a:ext cx="6667500" cy="4705350"/>
            <a:chOff x="4953000" y="1619250"/>
            <a:chExt cx="6667500" cy="4705350"/>
          </a:xfrm>
        </p:grpSpPr>
        <p:sp>
          <p:nvSpPr>
            <p:cNvPr id="31" name="Rectangle 31"/>
            <p:cNvSpPr/>
            <p:nvPr/>
          </p:nvSpPr>
          <p:spPr>
            <a:xfrm>
              <a:off x="4953000" y="1619250"/>
              <a:ext cx="6667500" cy="4705350"/>
            </a:xfrm>
            <a:prstGeom prst="roundRect">
              <a:avLst>
                <a:gd name="adj" fmla="val 2429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9810" y="1809750"/>
              <a:ext cx="3633880" cy="4333875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5130165" y="6211252"/>
            <a:ext cx="3601317" cy="213360"/>
            <a:chOff x="5130165" y="6211252"/>
            <a:chExt cx="3601317" cy="213360"/>
          </a:xfrm>
        </p:grpSpPr>
        <p:sp>
          <p:nvSpPr>
            <p:cNvPr id="34" name="TextBox 34"/>
            <p:cNvSpPr txBox="1"/>
            <p:nvPr/>
          </p:nvSpPr>
          <p:spPr>
            <a:xfrm>
              <a:off x="5130165" y="6211252"/>
              <a:ext cx="36013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RCA 报告 — agent 自动生成的 3 cause + 多源观察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1022" y="6521291"/>
            <a:ext cx="11069955" cy="167640"/>
            <a:chOff x="561022" y="6521291"/>
            <a:chExt cx="11069955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61022" y="6521291"/>
              <a:ext cx="4455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完整 journal 100 records · cli-evidence/case2/c2-journal-real.json (300 KB)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66622" y="65212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13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8391020" cy="1000125"/>
            <a:chOff x="537210" y="476250"/>
            <a:chExt cx="8391020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711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C2 · 铁证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3910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100%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cn-* AWS API 经 MCP Bridge — 0 次绕过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714500"/>
            <a:ext cx="7429500" cy="4286250"/>
            <a:chOff x="571500" y="1714500"/>
            <a:chExt cx="74295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7429500" cy="4286250"/>
            </a:xfrm>
            <a:prstGeom prst="roundRect">
              <a:avLst>
                <a:gd name="adj" fmla="val 266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929874"/>
              <a:ext cx="7048500" cy="3874552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8191500" y="1714500"/>
            <a:ext cx="3429000" cy="4286250"/>
            <a:chOff x="8191500" y="1714500"/>
            <a:chExt cx="3429000" cy="4286250"/>
          </a:xfrm>
        </p:grpSpPr>
        <p:sp>
          <p:nvSpPr>
            <p:cNvPr id="10" name="Rectangle 10"/>
            <p:cNvSpPr/>
            <p:nvPr/>
          </p:nvSpPr>
          <p:spPr>
            <a:xfrm>
              <a:off x="8191500" y="1714500"/>
              <a:ext cx="3429000" cy="4286250"/>
            </a:xfrm>
            <a:prstGeom prst="roundRect">
              <a:avLst>
                <a:gd name="adj" fmla="val 3333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64855" y="1892618"/>
              <a:ext cx="22287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 类 cn API 全经 Bridge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382000" y="21717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361045" y="2298382"/>
              <a:ext cx="2028254" cy="335280"/>
              <a:chOff x="8361045" y="2298382"/>
              <a:chExt cx="2028254" cy="33528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361045" y="22983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36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69668" y="2371249"/>
                <a:ext cx="16196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cloudwatch get-metric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361045" y="2584132"/>
              <a:ext cx="1615298" cy="335280"/>
              <a:chOff x="8361045" y="2584132"/>
              <a:chExt cx="1615298" cy="33528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361045" y="25841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20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69668" y="2656999"/>
                <a:ext cx="12066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logs start-query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361045" y="2869882"/>
              <a:ext cx="2049614" cy="335280"/>
              <a:chOff x="8361045" y="2869882"/>
              <a:chExt cx="2049614" cy="33528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361045" y="286988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19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69668" y="2942749"/>
                <a:ext cx="1640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logs get-query-results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361045" y="3155632"/>
              <a:ext cx="2135053" cy="335280"/>
              <a:chOff x="8361045" y="3155632"/>
              <a:chExt cx="2135053" cy="33528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361045" y="3155632"/>
                <a:ext cx="19372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69668" y="3228499"/>
                <a:ext cx="17264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cloudtrail lookup-events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361045" y="3441382"/>
              <a:ext cx="1797725" cy="335280"/>
              <a:chOff x="8361045" y="3441382"/>
              <a:chExt cx="1797725" cy="33528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361045" y="344138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4418" y="3514249"/>
                <a:ext cx="14843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eks describe-cluster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361045" y="3727132"/>
              <a:ext cx="2182202" cy="423387"/>
              <a:chOff x="8361045" y="3727132"/>
              <a:chExt cx="2182202" cy="423387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361045" y="3727132"/>
                <a:ext cx="1810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9AA0A6"/>
                    </a:solidFill>
                    <a:latin typeface="Arial"/>
                    <a:ea typeface="SimHei"/>
                    <a:cs typeface="Arial"/>
                  </a:rPr>
                  <a:t>9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74418" y="3799999"/>
                <a:ext cx="18688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elbv2 / cloudwatch alarm /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74418" y="3952399"/>
                <a:ext cx="17691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AED"/>
                    </a:solidFill>
                    <a:latin typeface="Consolas"/>
                    <a:ea typeface="Microsoft YaHei"/>
                    <a:cs typeface="Consolas"/>
                  </a:rPr>
                  <a:t>eks node / log groups ...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8382000" y="4286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49615" y="4277678"/>
              <a:ext cx="100328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 xml:space="preserve">98 </a:t>
              </a:r>
              <a:r>
                <a:rPr lang="zh-CN" sz="1350" b="1" dirty="0">
                  <a:solidFill>
                    <a:srgbClr val="9AA0A6"/>
                  </a:solidFill>
                  <a:latin typeface="Arial"/>
                  <a:ea typeface="SimHei"/>
                  <a:cs typeface="Arial"/>
                </a:rPr>
                <a:t>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69618" y="4657249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总计 cn-northwest-1 API 调用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382000" y="4953000"/>
              <a:ext cx="3048000" cy="876300"/>
            </a:xfrm>
            <a:prstGeom prst="roundRect">
              <a:avLst>
                <a:gd name="adj" fmla="val 6522"/>
              </a:avLst>
            </a:prstGeom>
            <a:solidFill>
              <a:srgbClr val="0F1419"/>
            </a:solidFill>
            <a:ln w="9525">
              <a:solidFill>
                <a:srgbClr val="4CAF5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550275" y="511771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87765" y="5125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0 次绕过 MCP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22970" y="540829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每一次都从 mcp-aws-cn-2 pod 出去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22970" y="5579745"/>
              <a:ext cx="15081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access log 全程审计可查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41" name="Rectangle 41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8263" y="6333649"/>
              <a:ext cx="104554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来源：</a:t>
              </a:r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kubectl logs deployment/mcp-aws-cn-2</a:t>
              </a:r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· 时间窗 05:20-05:35 UTC · 完整 196 行日志归档于 cli-evidence/case2/10-mcp-server-c2-window-calls.log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14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0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4CAF50">
                    <a:alpha val="18000"/>
                  </a:srgbClr>
                </a:gs>
                <a:gs pos="100000">
                  <a:srgbClr val="4CAF5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09550" y="-409575"/>
            <a:ext cx="11049000" cy="5791200"/>
            <a:chOff x="209550" y="-409575"/>
            <a:chExt cx="11049000" cy="5791200"/>
          </a:xfrm>
        </p:grpSpPr>
        <p:sp>
          <p:nvSpPr>
            <p:cNvPr id="5" name="TextBox 5"/>
            <p:cNvSpPr txBox="1"/>
            <p:nvPr/>
          </p:nvSpPr>
          <p:spPr>
            <a:xfrm>
              <a:off x="209550" y="-409575"/>
              <a:ext cx="5531501" cy="5791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0" b="1" dirty="0">
                  <a:solidFill>
                    <a:srgbClr val="4CAF50">
                      <a:alpha val="10000"/>
                    </a:srgbClr>
                  </a:solidFill>
                  <a:latin typeface="Arial"/>
                  <a:ea typeface="SimHei"/>
                  <a:cs typeface="Arial"/>
                </a:rPr>
                <a:t>C3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639425" y="1685925"/>
              <a:ext cx="57150" cy="57150"/>
            </a:xfrm>
            <a:prstGeom prst="ellipse">
              <a:avLst/>
            </a:prstGeom>
            <a:solidFill>
              <a:srgbClr val="42A5F5">
                <a:alpha val="5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220450" y="2266950"/>
              <a:ext cx="38100" cy="38100"/>
            </a:xfrm>
            <a:prstGeom prst="ellipse">
              <a:avLst/>
            </a:prstGeom>
            <a:solidFill>
              <a:srgbClr val="FF9800">
                <a:alpha val="55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83647" y="1527175"/>
            <a:ext cx="3429674" cy="282575"/>
            <a:chOff x="583647" y="1527175"/>
            <a:chExt cx="3429674" cy="282575"/>
          </a:xfrm>
        </p:grpSpPr>
        <p:sp>
          <p:nvSpPr>
            <p:cNvPr id="10" name="Freeform 10"/>
            <p:cNvSpPr/>
            <p:nvPr/>
          </p:nvSpPr>
          <p:spPr>
            <a:xfrm>
              <a:off x="583647" y="1527175"/>
              <a:ext cx="279941" cy="203200"/>
            </a:xfrm>
            <a:custGeom>
              <a:avLst/>
              <a:gdLst/>
              <a:ahLst/>
              <a:cxnLst/>
              <a:rect l="l" t="t" r="r" b="b"/>
              <a:pathLst>
                <a:path w="279941" h="203200">
                  <a:moveTo>
                    <a:pt x="140253" y="0"/>
                  </a:moveTo>
                  <a:cubicBezTo>
                    <a:pt x="194736" y="0"/>
                    <a:pt x="240113" y="30848"/>
                    <a:pt x="275699" y="90856"/>
                  </a:cubicBezTo>
                  <a:lnTo>
                    <a:pt x="278493" y="95669"/>
                  </a:lnTo>
                  <a:lnTo>
                    <a:pt x="279064" y="96939"/>
                  </a:lnTo>
                  <a:lnTo>
                    <a:pt x="279445" y="97993"/>
                  </a:lnTo>
                  <a:lnTo>
                    <a:pt x="279623" y="98692"/>
                  </a:lnTo>
                  <a:lnTo>
                    <a:pt x="279801" y="99733"/>
                  </a:lnTo>
                  <a:lnTo>
                    <a:pt x="279941" y="101003"/>
                  </a:lnTo>
                  <a:lnTo>
                    <a:pt x="279941" y="102400"/>
                  </a:lnTo>
                  <a:lnTo>
                    <a:pt x="279763" y="103810"/>
                  </a:lnTo>
                  <a:cubicBezTo>
                    <a:pt x="279679" y="104281"/>
                    <a:pt x="279569" y="104748"/>
                    <a:pt x="279433" y="105207"/>
                  </a:cubicBezTo>
                  <a:lnTo>
                    <a:pt x="278937" y="106578"/>
                  </a:lnTo>
                  <a:lnTo>
                    <a:pt x="278480" y="107531"/>
                  </a:lnTo>
                  <a:lnTo>
                    <a:pt x="278277" y="107912"/>
                  </a:lnTo>
                  <a:cubicBezTo>
                    <a:pt x="243174" y="169329"/>
                    <a:pt x="198267" y="201638"/>
                    <a:pt x="144228" y="203149"/>
                  </a:cubicBezTo>
                  <a:lnTo>
                    <a:pt x="140253" y="203200"/>
                  </a:lnTo>
                  <a:cubicBezTo>
                    <a:pt x="84424" y="203200"/>
                    <a:pt x="38183" y="170828"/>
                    <a:pt x="2230" y="107899"/>
                  </a:cubicBezTo>
                  <a:cubicBezTo>
                    <a:pt x="0" y="103996"/>
                    <a:pt x="0" y="99204"/>
                    <a:pt x="2230" y="95301"/>
                  </a:cubicBezTo>
                  <a:cubicBezTo>
                    <a:pt x="38183" y="32372"/>
                    <a:pt x="84424" y="0"/>
                    <a:pt x="140253" y="0"/>
                  </a:cubicBezTo>
                  <a:close/>
                  <a:moveTo>
                    <a:pt x="140253" y="63500"/>
                  </a:moveTo>
                  <a:cubicBezTo>
                    <a:pt x="119211" y="63500"/>
                    <a:pt x="102153" y="80558"/>
                    <a:pt x="102153" y="101600"/>
                  </a:cubicBezTo>
                  <a:cubicBezTo>
                    <a:pt x="102153" y="122642"/>
                    <a:pt x="119211" y="139700"/>
                    <a:pt x="140253" y="139700"/>
                  </a:cubicBezTo>
                  <a:cubicBezTo>
                    <a:pt x="161295" y="139700"/>
                    <a:pt x="178353" y="122642"/>
                    <a:pt x="178353" y="101600"/>
                  </a:cubicBezTo>
                  <a:cubicBezTo>
                    <a:pt x="178353" y="80558"/>
                    <a:pt x="161295" y="63500"/>
                    <a:pt x="140253" y="63500"/>
                  </a:cubicBezTo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7260" y="1565910"/>
              <a:ext cx="3076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CASE 3 · MULTI-HOP TOPOLOGY RCA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2400300"/>
            <a:ext cx="11055763" cy="1981200"/>
            <a:chOff x="495300" y="2400300"/>
            <a:chExt cx="11055763" cy="1981200"/>
          </a:xfrm>
        </p:grpSpPr>
        <p:sp>
          <p:nvSpPr>
            <p:cNvPr id="13" name="TextBox 13"/>
            <p:cNvSpPr txBox="1"/>
            <p:nvPr/>
          </p:nvSpPr>
          <p:spPr>
            <a:xfrm>
              <a:off x="495300" y="2400300"/>
              <a:ext cx="645518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4 跳追溯到根因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5300" y="3162300"/>
              <a:ext cx="1105576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gradFill>
                    <a:gsLst>
                      <a:gs pos="0">
                        <a:srgbClr val="4CAF50"/>
                      </a:gs>
                      <a:gs pos="100000">
                        <a:srgbClr val="81C784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不是表层，是 manual 操作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0545" y="4381500"/>
            <a:ext cx="7922038" cy="804862"/>
            <a:chOff x="550545" y="4381500"/>
            <a:chExt cx="7922038" cy="804862"/>
          </a:xfrm>
        </p:grpSpPr>
        <p:sp>
          <p:nvSpPr>
            <p:cNvPr id="16" name="Line 16"/>
            <p:cNvSpPr/>
            <p:nvPr/>
          </p:nvSpPr>
          <p:spPr>
            <a:xfrm>
              <a:off x="571500" y="4381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rgbClr val="4CAF5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0545" y="4584382"/>
              <a:ext cx="49579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DDB throttle alarm → 沿 4 跳依赖链向上溯源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4851082"/>
              <a:ext cx="79220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最终锁定 CloudTrail 中 </a:t>
              </a:r>
              <a:r>
                <a:rPr lang="zh-CN" sz="16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手动 ModifyTable</a:t>
              </a:r>
              <a:r>
                <a:rPr lang="zh-CN" sz="16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操作 — 区分 Terraform vs CLI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5524500"/>
            <a:ext cx="7239000" cy="762000"/>
            <a:chOff x="571500" y="5524500"/>
            <a:chExt cx="7239000" cy="7620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5524500"/>
              <a:ext cx="2286000" cy="762000"/>
              <a:chOff x="571500" y="5524500"/>
              <a:chExt cx="2286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1520" y="5627370"/>
                <a:ext cx="26338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CAF50"/>
                    </a:solidFill>
                    <a:latin typeface="Arial"/>
                    <a:ea typeface="SimHei"/>
                    <a:cs typeface="Arial"/>
                  </a:rPr>
                  <a:t>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77265" y="57731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跳依赖链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0570" y="6046470"/>
                <a:ext cx="17776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DDB → SQS → ECS → CloudTrail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048000" y="5524500"/>
              <a:ext cx="2286000" cy="762000"/>
              <a:chOff x="3048000" y="5524500"/>
              <a:chExt cx="2286000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0480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2080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14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68065" y="5773102"/>
                <a:ext cx="1130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次 cn API（C3）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227070" y="6046470"/>
                <a:ext cx="15213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100% 经 mcp-aws-cn pod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524500" y="5524500"/>
              <a:ext cx="2286000" cy="762000"/>
              <a:chOff x="5524500" y="5524500"/>
              <a:chExt cx="2286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524500" y="5524500"/>
                <a:ext cx="2286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1A2332"/>
              </a:solidFill>
              <a:ln w="9525">
                <a:solidFill>
                  <a:srgbClr val="42A5F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684520" y="5627370"/>
                <a:ext cx="37379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13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82665" y="57731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分钟收官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03570" y="6046470"/>
                <a:ext cx="11532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07:46 → 07:59 UTC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11266622" y="65212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15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7210" y="476250"/>
            <a:ext cx="8991395" cy="1000125"/>
            <a:chOff x="537210" y="476250"/>
            <a:chExt cx="8991395" cy="1000125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2182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C3 · 沿 4 跳追溯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99139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DDB → SQS → ECS → CloudTrail — Agent 自动跳转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905000"/>
            <a:ext cx="11049000" cy="1143000"/>
            <a:chOff x="571500" y="1905000"/>
            <a:chExt cx="11049000" cy="114300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905000"/>
              <a:ext cx="2558998" cy="1143000"/>
              <a:chOff x="571500" y="1905000"/>
              <a:chExt cx="2558998" cy="1143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48665" y="2077402"/>
                <a:ext cx="7915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1 · 表象</a:t>
                </a:r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785812" y="2359025"/>
                <a:ext cx="142876" cy="158750"/>
                <a:chOff x="785812" y="2359025"/>
                <a:chExt cx="142876" cy="15875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785812" y="2468015"/>
                  <a:ext cx="142875" cy="49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49760">
                      <a:moveTo>
                        <a:pt x="0" y="0"/>
                      </a:moveTo>
                      <a:cubicBezTo>
                        <a:pt x="15621" y="11962"/>
                        <a:pt x="41545" y="18010"/>
                        <a:pt x="71438" y="18010"/>
                      </a:cubicBezTo>
                      <a:cubicBezTo>
                        <a:pt x="101282" y="18010"/>
                        <a:pt x="127198" y="11978"/>
                        <a:pt x="142875" y="135"/>
                      </a:cubicBezTo>
                      <a:lnTo>
                        <a:pt x="142875" y="18010"/>
                      </a:lnTo>
                      <a:cubicBezTo>
                        <a:pt x="142875" y="37259"/>
                        <a:pt x="111958" y="49252"/>
                        <a:pt x="73874" y="49744"/>
                      </a:cubicBezTo>
                      <a:lnTo>
                        <a:pt x="71438" y="49760"/>
                      </a:lnTo>
                      <a:cubicBezTo>
                        <a:pt x="32242" y="49760"/>
                        <a:pt x="0" y="37671"/>
                        <a:pt x="0" y="18010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785812" y="2420390"/>
                  <a:ext cx="142875" cy="49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49760">
                      <a:moveTo>
                        <a:pt x="0" y="0"/>
                      </a:moveTo>
                      <a:cubicBezTo>
                        <a:pt x="15621" y="11962"/>
                        <a:pt x="41545" y="18010"/>
                        <a:pt x="71438" y="18010"/>
                      </a:cubicBezTo>
                      <a:cubicBezTo>
                        <a:pt x="101282" y="18010"/>
                        <a:pt x="127198" y="11978"/>
                        <a:pt x="142875" y="135"/>
                      </a:cubicBezTo>
                      <a:lnTo>
                        <a:pt x="142875" y="18010"/>
                      </a:lnTo>
                      <a:cubicBezTo>
                        <a:pt x="142875" y="37671"/>
                        <a:pt x="110633" y="49760"/>
                        <a:pt x="71438" y="49760"/>
                      </a:cubicBezTo>
                      <a:cubicBezTo>
                        <a:pt x="33353" y="49760"/>
                        <a:pt x="1826" y="38346"/>
                        <a:pt x="167" y="19637"/>
                      </a:cubicBezTo>
                      <a:lnTo>
                        <a:pt x="40" y="18836"/>
                      </a:lnTo>
                      <a:lnTo>
                        <a:pt x="0" y="18010"/>
                      </a:ln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85812" y="2359025"/>
                  <a:ext cx="142876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6" h="63500">
                      <a:moveTo>
                        <a:pt x="71438" y="0"/>
                      </a:moveTo>
                      <a:cubicBezTo>
                        <a:pt x="79701" y="0"/>
                        <a:pt x="87662" y="540"/>
                        <a:pt x="95068" y="1572"/>
                      </a:cubicBezTo>
                      <a:lnTo>
                        <a:pt x="98791" y="2135"/>
                      </a:lnTo>
                      <a:cubicBezTo>
                        <a:pt x="103236" y="2876"/>
                        <a:pt x="107432" y="3797"/>
                        <a:pt x="111380" y="4897"/>
                      </a:cubicBezTo>
                      <a:lnTo>
                        <a:pt x="114872" y="5937"/>
                      </a:lnTo>
                      <a:lnTo>
                        <a:pt x="115467" y="6128"/>
                      </a:lnTo>
                      <a:cubicBezTo>
                        <a:pt x="117628" y="6838"/>
                        <a:pt x="119759" y="7632"/>
                        <a:pt x="121857" y="8509"/>
                      </a:cubicBezTo>
                      <a:lnTo>
                        <a:pt x="123437" y="9192"/>
                      </a:lnTo>
                      <a:cubicBezTo>
                        <a:pt x="126268" y="10472"/>
                        <a:pt x="128826" y="11875"/>
                        <a:pt x="131112" y="13398"/>
                      </a:cubicBezTo>
                      <a:cubicBezTo>
                        <a:pt x="131985" y="13981"/>
                        <a:pt x="132814" y="14576"/>
                        <a:pt x="133597" y="15184"/>
                      </a:cubicBezTo>
                      <a:cubicBezTo>
                        <a:pt x="135581" y="16724"/>
                        <a:pt x="137364" y="18505"/>
                        <a:pt x="138907" y="20487"/>
                      </a:cubicBezTo>
                      <a:lnTo>
                        <a:pt x="139629" y="21503"/>
                      </a:lnTo>
                      <a:cubicBezTo>
                        <a:pt x="140000" y="22058"/>
                        <a:pt x="140341" y="22617"/>
                        <a:pt x="140653" y="23178"/>
                      </a:cubicBezTo>
                      <a:lnTo>
                        <a:pt x="141209" y="24281"/>
                      </a:lnTo>
                      <a:cubicBezTo>
                        <a:pt x="142071" y="26133"/>
                        <a:pt x="142600" y="28064"/>
                        <a:pt x="142796" y="30075"/>
                      </a:cubicBezTo>
                      <a:lnTo>
                        <a:pt x="142876" y="31750"/>
                      </a:lnTo>
                      <a:cubicBezTo>
                        <a:pt x="142876" y="51411"/>
                        <a:pt x="110633" y="63500"/>
                        <a:pt x="71438" y="63500"/>
                      </a:cubicBezTo>
                      <a:cubicBezTo>
                        <a:pt x="33354" y="63500"/>
                        <a:pt x="1826" y="52086"/>
                        <a:pt x="167" y="33377"/>
                      </a:cubicBezTo>
                      <a:cubicBezTo>
                        <a:pt x="56" y="32842"/>
                        <a:pt x="0" y="32297"/>
                        <a:pt x="1" y="31750"/>
                      </a:cubicBezTo>
                      <a:lnTo>
                        <a:pt x="40" y="30925"/>
                      </a:lnTo>
                      <a:lnTo>
                        <a:pt x="167" y="30131"/>
                      </a:lnTo>
                      <a:cubicBezTo>
                        <a:pt x="1794" y="11827"/>
                        <a:pt x="31997" y="500"/>
                        <a:pt x="68962" y="16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014412" y="2374106"/>
                <a:ext cx="21160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DynamoDB describe-table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0570" y="266509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看到 PROVISIONED 5 WCU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0570" y="28365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"为啥不是按需？" → 上溯</a:t>
                </a:r>
              </a:p>
            </p:txBody>
          </p:sp>
        </p:grpSp>
        <p:sp>
          <p:nvSpPr>
            <p:cNvPr id="17" name="Polygon 17"/>
            <p:cNvSpPr/>
            <p:nvPr/>
          </p:nvSpPr>
          <p:spPr>
            <a:xfrm>
              <a:off x="304800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0480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3524250" y="1905000"/>
              <a:ext cx="2697015" cy="1143000"/>
              <a:chOff x="3524250" y="1905000"/>
              <a:chExt cx="2697015" cy="1143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52425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0141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2 · 压力来源</a:t>
                </a:r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3730625" y="2359025"/>
                <a:ext cx="158751" cy="161425"/>
                <a:chOff x="3730625" y="2359025"/>
                <a:chExt cx="158751" cy="1614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3786188" y="2359025"/>
                  <a:ext cx="103188" cy="10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8" h="103200">
                      <a:moveTo>
                        <a:pt x="94464" y="103148"/>
                      </a:moveTo>
                      <a:lnTo>
                        <a:pt x="94115" y="103100"/>
                      </a:lnTo>
                      <a:cubicBezTo>
                        <a:pt x="93839" y="103083"/>
                        <a:pt x="93567" y="103029"/>
                        <a:pt x="93305" y="102941"/>
                      </a:cubicBezTo>
                      <a:lnTo>
                        <a:pt x="92948" y="102846"/>
                      </a:lnTo>
                      <a:lnTo>
                        <a:pt x="92567" y="102711"/>
                      </a:lnTo>
                      <a:lnTo>
                        <a:pt x="92210" y="102584"/>
                      </a:lnTo>
                      <a:lnTo>
                        <a:pt x="91869" y="102426"/>
                      </a:lnTo>
                      <a:lnTo>
                        <a:pt x="91511" y="102251"/>
                      </a:lnTo>
                      <a:lnTo>
                        <a:pt x="91194" y="102060"/>
                      </a:lnTo>
                      <a:lnTo>
                        <a:pt x="90845" y="101854"/>
                      </a:lnTo>
                      <a:lnTo>
                        <a:pt x="90503" y="101600"/>
                      </a:lnTo>
                      <a:lnTo>
                        <a:pt x="90218" y="101386"/>
                      </a:lnTo>
                      <a:cubicBezTo>
                        <a:pt x="90016" y="101221"/>
                        <a:pt x="89823" y="101046"/>
                        <a:pt x="89638" y="100862"/>
                      </a:cubicBezTo>
                      <a:lnTo>
                        <a:pt x="68151" y="79375"/>
                      </a:lnTo>
                      <a:lnTo>
                        <a:pt x="15875" y="79375"/>
                      </a:lnTo>
                      <a:cubicBezTo>
                        <a:pt x="7107" y="79375"/>
                        <a:pt x="0" y="72268"/>
                        <a:pt x="0" y="63500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87313" y="0"/>
                      </a:lnTo>
                      <a:cubicBezTo>
                        <a:pt x="96080" y="0"/>
                        <a:pt x="103187" y="7107"/>
                        <a:pt x="103187" y="15875"/>
                      </a:cubicBezTo>
                      <a:lnTo>
                        <a:pt x="103187" y="95250"/>
                      </a:lnTo>
                      <a:cubicBezTo>
                        <a:pt x="103188" y="96293"/>
                        <a:pt x="102983" y="97326"/>
                        <a:pt x="102584" y="98290"/>
                      </a:cubicBezTo>
                      <a:lnTo>
                        <a:pt x="102425" y="98631"/>
                      </a:lnTo>
                      <a:lnTo>
                        <a:pt x="102251" y="98989"/>
                      </a:lnTo>
                      <a:lnTo>
                        <a:pt x="102060" y="99306"/>
                      </a:lnTo>
                      <a:lnTo>
                        <a:pt x="101854" y="99655"/>
                      </a:lnTo>
                      <a:lnTo>
                        <a:pt x="101600" y="99997"/>
                      </a:lnTo>
                      <a:lnTo>
                        <a:pt x="101386" y="100282"/>
                      </a:lnTo>
                      <a:cubicBezTo>
                        <a:pt x="100221" y="101704"/>
                        <a:pt x="98600" y="102677"/>
                        <a:pt x="96798" y="103037"/>
                      </a:cubicBezTo>
                      <a:lnTo>
                        <a:pt x="96385" y="103100"/>
                      </a:lnTo>
                      <a:lnTo>
                        <a:pt x="96036" y="103148"/>
                      </a:lnTo>
                      <a:cubicBezTo>
                        <a:pt x="95513" y="103200"/>
                        <a:pt x="94987" y="103200"/>
                        <a:pt x="94464" y="103148"/>
                      </a:cubicBezTo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3730625" y="2414580"/>
                  <a:ext cx="103187" cy="105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105870">
                      <a:moveTo>
                        <a:pt x="39687" y="0"/>
                      </a:moveTo>
                      <a:lnTo>
                        <a:pt x="39687" y="7945"/>
                      </a:lnTo>
                      <a:cubicBezTo>
                        <a:pt x="39687" y="25480"/>
                        <a:pt x="53902" y="39695"/>
                        <a:pt x="71438" y="39695"/>
                      </a:cubicBezTo>
                      <a:lnTo>
                        <a:pt x="103187" y="39695"/>
                      </a:lnTo>
                      <a:lnTo>
                        <a:pt x="103187" y="63508"/>
                      </a:lnTo>
                      <a:cubicBezTo>
                        <a:pt x="103187" y="72275"/>
                        <a:pt x="96080" y="79383"/>
                        <a:pt x="87312" y="79383"/>
                      </a:cubicBezTo>
                      <a:lnTo>
                        <a:pt x="35036" y="79383"/>
                      </a:lnTo>
                      <a:lnTo>
                        <a:pt x="13549" y="100870"/>
                      </a:lnTo>
                      <a:cubicBezTo>
                        <a:pt x="8549" y="105870"/>
                        <a:pt x="0" y="102330"/>
                        <a:pt x="0" y="95258"/>
                      </a:cubicBezTo>
                      <a:lnTo>
                        <a:pt x="0" y="15883"/>
                      </a:lnTo>
                      <a:cubicBezTo>
                        <a:pt x="0" y="7115"/>
                        <a:pt x="7107" y="8"/>
                        <a:pt x="15875" y="8"/>
                      </a:cubicBezTo>
                      <a:close/>
                    </a:path>
                  </a:pathLst>
                </a:custGeom>
                <a:solidFill>
                  <a:srgbClr val="42A5F5"/>
                </a:solidFill>
                <a:ln>
                  <a:noFill/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3967162" y="2374106"/>
                <a:ext cx="22541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SQS get-queue-attributes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03320" y="2665095"/>
                <a:ext cx="104813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14272 条消息积压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03320" y="2836545"/>
                <a:ext cx="137017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"谁在写消息？" → 上溯</a:t>
                </a:r>
              </a:p>
            </p:txBody>
          </p:sp>
        </p:grpSp>
        <p:sp>
          <p:nvSpPr>
            <p:cNvPr id="28" name="Polygon 28"/>
            <p:cNvSpPr/>
            <p:nvPr/>
          </p:nvSpPr>
          <p:spPr>
            <a:xfrm>
              <a:off x="600075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00075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77000" y="1905000"/>
              <a:ext cx="2476500" cy="1143000"/>
              <a:chOff x="6477000" y="1905000"/>
              <a:chExt cx="2476500" cy="1143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477000" y="1905000"/>
                <a:ext cx="2476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42A5F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65416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2A5F5"/>
                    </a:solidFill>
                    <a:latin typeface="Arial"/>
                    <a:ea typeface="SimHei"/>
                    <a:cs typeface="Arial"/>
                  </a:rPr>
                  <a:t>跳 3 · 扩容动作</a:t>
                </a: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6675438" y="2356152"/>
                <a:ext cx="174625" cy="161623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61623">
                    <a:moveTo>
                      <a:pt x="63500" y="145748"/>
                    </a:moveTo>
                    <a:cubicBezTo>
                      <a:pt x="63500" y="154516"/>
                      <a:pt x="56393" y="161623"/>
                      <a:pt x="47625" y="161623"/>
                    </a:cubicBezTo>
                    <a:lnTo>
                      <a:pt x="15875" y="161623"/>
                    </a:lnTo>
                    <a:cubicBezTo>
                      <a:pt x="11491" y="161623"/>
                      <a:pt x="7937" y="158070"/>
                      <a:pt x="7937" y="153686"/>
                    </a:cubicBezTo>
                    <a:cubicBezTo>
                      <a:pt x="7937" y="149302"/>
                      <a:pt x="11491" y="145748"/>
                      <a:pt x="15875" y="145748"/>
                    </a:cubicBezTo>
                    <a:lnTo>
                      <a:pt x="47625" y="145748"/>
                    </a:lnTo>
                    <a:lnTo>
                      <a:pt x="47625" y="121960"/>
                    </a:lnTo>
                    <a:lnTo>
                      <a:pt x="44902" y="121968"/>
                    </a:lnTo>
                    <a:cubicBezTo>
                      <a:pt x="44592" y="121967"/>
                      <a:pt x="44282" y="121949"/>
                      <a:pt x="43974" y="121912"/>
                    </a:cubicBezTo>
                    <a:lnTo>
                      <a:pt x="43140" y="121904"/>
                    </a:lnTo>
                    <a:cubicBezTo>
                      <a:pt x="19804" y="121031"/>
                      <a:pt x="937" y="102862"/>
                      <a:pt x="40" y="80129"/>
                    </a:cubicBezTo>
                    <a:lnTo>
                      <a:pt x="0" y="78415"/>
                    </a:lnTo>
                    <a:cubicBezTo>
                      <a:pt x="0" y="56610"/>
                      <a:pt x="16510" y="38648"/>
                      <a:pt x="37973" y="35417"/>
                    </a:cubicBezTo>
                    <a:lnTo>
                      <a:pt x="38878" y="35290"/>
                    </a:lnTo>
                    <a:lnTo>
                      <a:pt x="39433" y="33853"/>
                    </a:lnTo>
                    <a:cubicBezTo>
                      <a:pt x="44696" y="20995"/>
                      <a:pt x="55753" y="10787"/>
                      <a:pt x="69826" y="5929"/>
                    </a:cubicBezTo>
                    <a:lnTo>
                      <a:pt x="71763" y="5294"/>
                    </a:lnTo>
                    <a:cubicBezTo>
                      <a:pt x="89178" y="0"/>
                      <a:pt x="108387" y="3516"/>
                      <a:pt x="122245" y="14629"/>
                    </a:cubicBezTo>
                    <a:cubicBezTo>
                      <a:pt x="133239" y="23424"/>
                      <a:pt x="139605" y="35949"/>
                      <a:pt x="140105" y="49078"/>
                    </a:cubicBezTo>
                    <a:lnTo>
                      <a:pt x="140137" y="50760"/>
                    </a:lnTo>
                    <a:lnTo>
                      <a:pt x="140859" y="50784"/>
                    </a:lnTo>
                    <a:cubicBezTo>
                      <a:pt x="159115" y="51633"/>
                      <a:pt x="173744" y="66350"/>
                      <a:pt x="174593" y="84677"/>
                    </a:cubicBezTo>
                    <a:lnTo>
                      <a:pt x="174625" y="86352"/>
                    </a:lnTo>
                    <a:cubicBezTo>
                      <a:pt x="174625" y="106021"/>
                      <a:pt x="158774" y="121968"/>
                      <a:pt x="139184" y="121968"/>
                    </a:cubicBezTo>
                    <a:lnTo>
                      <a:pt x="127000" y="121968"/>
                    </a:lnTo>
                    <a:lnTo>
                      <a:pt x="127000" y="145748"/>
                    </a:lnTo>
                    <a:lnTo>
                      <a:pt x="158750" y="145748"/>
                    </a:lnTo>
                    <a:cubicBezTo>
                      <a:pt x="163134" y="145748"/>
                      <a:pt x="166688" y="149302"/>
                      <a:pt x="166688" y="153686"/>
                    </a:cubicBezTo>
                    <a:cubicBezTo>
                      <a:pt x="166688" y="158070"/>
                      <a:pt x="163134" y="161623"/>
                      <a:pt x="158750" y="161623"/>
                    </a:cubicBezTo>
                    <a:lnTo>
                      <a:pt x="127000" y="161623"/>
                    </a:lnTo>
                    <a:cubicBezTo>
                      <a:pt x="118232" y="161623"/>
                      <a:pt x="111125" y="154516"/>
                      <a:pt x="111125" y="145748"/>
                    </a:cubicBezTo>
                    <a:lnTo>
                      <a:pt x="111125" y="121960"/>
                    </a:lnTo>
                    <a:lnTo>
                      <a:pt x="95250" y="121960"/>
                    </a:lnTo>
                    <a:lnTo>
                      <a:pt x="95250" y="153686"/>
                    </a:lnTo>
                    <a:cubicBezTo>
                      <a:pt x="95250" y="158070"/>
                      <a:pt x="91696" y="161623"/>
                      <a:pt x="87312" y="161623"/>
                    </a:cubicBezTo>
                    <a:cubicBezTo>
                      <a:pt x="82929" y="161623"/>
                      <a:pt x="79375" y="158070"/>
                      <a:pt x="79375" y="153686"/>
                    </a:cubicBezTo>
                    <a:lnTo>
                      <a:pt x="79375" y="121960"/>
                    </a:lnTo>
                    <a:lnTo>
                      <a:pt x="63500" y="121960"/>
                    </a:lnTo>
                    <a:close/>
                  </a:path>
                </a:pathLst>
              </a:cu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919912" y="2374106"/>
                <a:ext cx="1891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ECS describe-services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56070" y="2665095"/>
                <a:ext cx="15673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desiredCount=5 (从 1 扩)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56070" y="2836545"/>
                <a:ext cx="17645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"谁改的？什么时候？" → 上溯</a:t>
                </a:r>
              </a:p>
            </p:txBody>
          </p:sp>
        </p:grpSp>
        <p:sp>
          <p:nvSpPr>
            <p:cNvPr id="37" name="Polygon 37"/>
            <p:cNvSpPr/>
            <p:nvPr/>
          </p:nvSpPr>
          <p:spPr>
            <a:xfrm>
              <a:off x="8953500" y="2333625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95250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495300" y="95250"/>
                  </a:lnTo>
                  <a:lnTo>
                    <a:pt x="285750" y="190500"/>
                  </a:lnTo>
                  <a:lnTo>
                    <a:pt x="285750" y="190500"/>
                  </a:lnTo>
                  <a:lnTo>
                    <a:pt x="0" y="190500"/>
                  </a:lnTo>
                  <a:close/>
                </a:path>
              </a:pathLst>
            </a:custGeom>
            <a:gradFill>
              <a:gsLst>
                <a:gs pos="0">
                  <a:srgbClr val="42A5F5"/>
                </a:gs>
                <a:gs pos="100000">
                  <a:srgbClr val="1565C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8953500" y="2476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2A5F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429750" y="1905000"/>
              <a:ext cx="2190750" cy="1143000"/>
              <a:chOff x="9429750" y="1905000"/>
              <a:chExt cx="2190750" cy="11430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9429750" y="1905000"/>
                <a:ext cx="21907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1A2332"/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606915" y="20774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SimHei"/>
                    <a:cs typeface="Arial"/>
                  </a:rPr>
                  <a:t>跳 4 · 锁定根因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9636124" y="2355469"/>
                <a:ext cx="167139" cy="167791"/>
              </a:xfrm>
              <a:custGeom>
                <a:avLst/>
                <a:gdLst/>
                <a:ahLst/>
                <a:cxnLst/>
                <a:rect l="l" t="t" r="r" b="b"/>
                <a:pathLst>
                  <a:path w="167139" h="167791">
                    <a:moveTo>
                      <a:pt x="119063" y="14192"/>
                    </a:moveTo>
                    <a:cubicBezTo>
                      <a:pt x="152423" y="33452"/>
                      <a:pt x="167139" y="73884"/>
                      <a:pt x="153964" y="110081"/>
                    </a:cubicBezTo>
                    <a:cubicBezTo>
                      <a:pt x="140789" y="146278"/>
                      <a:pt x="103526" y="167791"/>
                      <a:pt x="65591" y="161101"/>
                    </a:cubicBezTo>
                    <a:cubicBezTo>
                      <a:pt x="27656" y="154412"/>
                      <a:pt x="0" y="121451"/>
                      <a:pt x="1" y="82931"/>
                    </a:cubicBezTo>
                    <a:lnTo>
                      <a:pt x="41" y="80359"/>
                    </a:lnTo>
                    <a:cubicBezTo>
                      <a:pt x="945" y="52474"/>
                      <a:pt x="16422" y="27112"/>
                      <a:pt x="40807" y="13556"/>
                    </a:cubicBezTo>
                    <a:cubicBezTo>
                      <a:pt x="65191" y="0"/>
                      <a:pt x="94902" y="241"/>
                      <a:pt x="119063" y="14192"/>
                    </a:cubicBezTo>
                    <a:moveTo>
                      <a:pt x="76193" y="90201"/>
                    </a:moveTo>
                    <a:lnTo>
                      <a:pt x="76606" y="90368"/>
                    </a:lnTo>
                    <a:lnTo>
                      <a:pt x="77241" y="90574"/>
                    </a:lnTo>
                    <a:lnTo>
                      <a:pt x="77876" y="90725"/>
                    </a:lnTo>
                    <a:lnTo>
                      <a:pt x="78447" y="90812"/>
                    </a:lnTo>
                    <a:lnTo>
                      <a:pt x="79376" y="90868"/>
                    </a:lnTo>
                    <a:lnTo>
                      <a:pt x="79979" y="90844"/>
                    </a:lnTo>
                    <a:lnTo>
                      <a:pt x="81051" y="90685"/>
                    </a:lnTo>
                    <a:lnTo>
                      <a:pt x="81702" y="90527"/>
                    </a:lnTo>
                    <a:lnTo>
                      <a:pt x="82519" y="90217"/>
                    </a:lnTo>
                    <a:lnTo>
                      <a:pt x="83099" y="89939"/>
                    </a:lnTo>
                    <a:lnTo>
                      <a:pt x="83718" y="89574"/>
                    </a:lnTo>
                    <a:lnTo>
                      <a:pt x="84194" y="89241"/>
                    </a:lnTo>
                    <a:lnTo>
                      <a:pt x="84829" y="88693"/>
                    </a:lnTo>
                    <a:lnTo>
                      <a:pt x="85488" y="87995"/>
                    </a:lnTo>
                    <a:lnTo>
                      <a:pt x="85980" y="87336"/>
                    </a:lnTo>
                    <a:lnTo>
                      <a:pt x="101855" y="63523"/>
                    </a:lnTo>
                    <a:cubicBezTo>
                      <a:pt x="104288" y="59876"/>
                      <a:pt x="103304" y="54947"/>
                      <a:pt x="99656" y="52514"/>
                    </a:cubicBezTo>
                    <a:cubicBezTo>
                      <a:pt x="96009" y="50081"/>
                      <a:pt x="91080" y="51065"/>
                      <a:pt x="88647" y="54713"/>
                    </a:cubicBezTo>
                    <a:lnTo>
                      <a:pt x="87313" y="56705"/>
                    </a:lnTo>
                    <a:lnTo>
                      <a:pt x="87313" y="43243"/>
                    </a:lnTo>
                    <a:cubicBezTo>
                      <a:pt x="87313" y="39219"/>
                      <a:pt x="84301" y="35832"/>
                      <a:pt x="80305" y="35361"/>
                    </a:cubicBezTo>
                    <a:lnTo>
                      <a:pt x="79376" y="35306"/>
                    </a:lnTo>
                    <a:cubicBezTo>
                      <a:pt x="74992" y="35306"/>
                      <a:pt x="71438" y="38859"/>
                      <a:pt x="71438" y="43243"/>
                    </a:cubicBezTo>
                    <a:lnTo>
                      <a:pt x="71438" y="83137"/>
                    </a:lnTo>
                    <a:lnTo>
                      <a:pt x="71510" y="83970"/>
                    </a:lnTo>
                    <a:lnTo>
                      <a:pt x="71669" y="84820"/>
                    </a:lnTo>
                    <a:lnTo>
                      <a:pt x="71986" y="85844"/>
                    </a:lnTo>
                    <a:lnTo>
                      <a:pt x="72367" y="86653"/>
                    </a:lnTo>
                    <a:lnTo>
                      <a:pt x="72732" y="87272"/>
                    </a:lnTo>
                    <a:lnTo>
                      <a:pt x="73066" y="87749"/>
                    </a:lnTo>
                    <a:lnTo>
                      <a:pt x="73613" y="88384"/>
                    </a:lnTo>
                    <a:lnTo>
                      <a:pt x="74312" y="89042"/>
                    </a:lnTo>
                    <a:lnTo>
                      <a:pt x="74971" y="89535"/>
                    </a:lnTo>
                    <a:lnTo>
                      <a:pt x="75685" y="89955"/>
                    </a:ln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872662" y="2374106"/>
                <a:ext cx="1426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CloudTrail lookup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608820" y="2665095"/>
                <a:ext cx="12452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manual ModifyTable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609772" y="2844641"/>
                <a:ext cx="9969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@07:18:17Z by CLI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71500" y="3333750"/>
            <a:ext cx="6667500" cy="3009900"/>
            <a:chOff x="571500" y="3333750"/>
            <a:chExt cx="6667500" cy="3009900"/>
          </a:xfrm>
        </p:grpSpPr>
        <p:sp>
          <p:nvSpPr>
            <p:cNvPr id="47" name="Rectangle 47"/>
            <p:cNvSpPr/>
            <p:nvPr/>
          </p:nvSpPr>
          <p:spPr>
            <a:xfrm>
              <a:off x="571500" y="3333750"/>
              <a:ext cx="6667500" cy="3009900"/>
            </a:xfrm>
            <a:prstGeom prst="roundRect">
              <a:avLst>
                <a:gd name="adj" fmla="val 379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7805" y="3524250"/>
              <a:ext cx="2974889" cy="2628900"/>
            </a:xfrm>
            <a:prstGeom prst="rect">
              <a:avLst/>
            </a:prstGeom>
          </p:spPr>
        </p:pic>
      </p:grpSp>
      <p:grpSp>
        <p:nvGrpSpPr>
          <p:cNvPr id="64" name="Group 64"/>
          <p:cNvGrpSpPr/>
          <p:nvPr/>
        </p:nvGrpSpPr>
        <p:grpSpPr>
          <a:xfrm>
            <a:off x="7524750" y="3333750"/>
            <a:ext cx="4095750" cy="3009900"/>
            <a:chOff x="7524750" y="3333750"/>
            <a:chExt cx="4095750" cy="3009900"/>
          </a:xfrm>
        </p:grpSpPr>
        <p:sp>
          <p:nvSpPr>
            <p:cNvPr id="50" name="Rectangle 50"/>
            <p:cNvSpPr/>
            <p:nvPr/>
          </p:nvSpPr>
          <p:spPr>
            <a:xfrm>
              <a:off x="7524750" y="3333750"/>
              <a:ext cx="4095750" cy="3009900"/>
            </a:xfrm>
            <a:prstGeom prst="roundRect">
              <a:avLst>
                <a:gd name="adj" fmla="val 3797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00010" y="3528060"/>
              <a:ext cx="922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★ 关键洞察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715250" y="37719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00962" y="3974306"/>
              <a:ext cx="2987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Agent 区分 Terraform vs Manual CLI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2868" y="42190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通过 CloudTrail user-agent 字段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715250" y="44577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03820" y="466534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2026-05-13T15:07:50Z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03820" y="483679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Terraform 创建：PAY_PER_REQUEST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03820" y="508444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2026-05-14T07:18:17Z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03820" y="5255895"/>
              <a:ext cx="20586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手动改：ClaudeCode-BH → 5 WCU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7715250" y="55435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03820" y="567499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+ 主动检查 application-autoscaling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03820" y="5827395"/>
              <a:ext cx="24085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describe-scalable-targets → 没配兜底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03820" y="609409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这是真生产 SRE 才会确认的细节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1022" y="6521291"/>
            <a:ext cx="11069955" cy="167640"/>
            <a:chOff x="561022" y="6521291"/>
            <a:chExt cx="11069955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61022" y="6521291"/>
              <a:ext cx="55756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截图：cli-evidence/case3/PPT-NOTES.md · 完整 RCA 在 cli-evidence/case3/c3-journal-real.json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66622" y="6521291"/>
              <a:ext cx="3643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16 / 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9" grpId="0"/>
      <p:bldP spid="6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476250"/>
            <a:ext cx="10844708" cy="971550"/>
            <a:chOff x="541020" y="476250"/>
            <a:chExt cx="10844708" cy="9715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2699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C3 · 调查 timeline + agent 自己的话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1020" y="960120"/>
              <a:ext cx="1084470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第二个中国区账号也同样跑通 — </a:t>
              </a:r>
              <a:r>
                <a:rPr lang="zh-CN" sz="24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aws-cn-2.yingchu.cloud</a:t>
              </a:r>
              <a:r>
                <a:rPr lang="zh-CN" sz="24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Bridge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714500"/>
            <a:ext cx="6858000" cy="4667250"/>
            <a:chOff x="571500" y="1714500"/>
            <a:chExt cx="6858000" cy="466725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6858000" cy="4667250"/>
            </a:xfrm>
            <a:prstGeom prst="roundRect">
              <a:avLst>
                <a:gd name="adj" fmla="val 2449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57150" cy="466725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914525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★ Agent 自己写的根本原因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2098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FF98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6308" y="2510314"/>
              <a:ext cx="4392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手动将 etl-state 表从按需模式降级为预置 5 WCU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9165" y="2915602"/>
              <a:ext cx="35384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"AdminCYC 在 </a:t>
              </a:r>
              <a:r>
                <a:rPr lang="zh-CN" sz="10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2026-05-14T07:18:17Z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通过 AWS CLI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9165" y="3106102"/>
              <a:ext cx="40905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(</a:t>
              </a:r>
              <a:r>
                <a:rPr lang="zh-CN" sz="1050" b="1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ClaudeCode-BH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) 将 etl-state DynamoDB 表的计费模式从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3296602"/>
              <a:ext cx="42131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PAY_PER_REQUEST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手动变更为 </a:t>
              </a:r>
              <a:r>
                <a:rPr lang="zh-CN" sz="1050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PROVISIONED</a:t>
              </a:r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 xml:space="preserve"> 模式，仅设置了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9165" y="3487102"/>
              <a:ext cx="15908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5 WCU 的写入容量..."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3849052"/>
              <a:ext cx="3914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 xml:space="preserve">"CloudTrail 记录显示该表最初由 </a:t>
              </a:r>
              <a:r>
                <a:rPr lang="zh-CN" sz="1050" b="1" dirty="0">
                  <a:solidFill>
                    <a:srgbClr val="42A5F5"/>
                  </a:solidFill>
                  <a:latin typeface="Arial"/>
                  <a:ea typeface="Microsoft YaHei"/>
                  <a:cs typeface="Arial"/>
                </a:rPr>
                <a:t>Terraform 以按需模式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4039552"/>
              <a:ext cx="37147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创建（</a:t>
              </a:r>
              <a:r>
                <a:rPr lang="zh-CN" sz="1050" dirty="0">
                  <a:solidFill>
                    <a:srgbClr val="E8EAED"/>
                  </a:solidFill>
                  <a:latin typeface="Consolas"/>
                  <a:ea typeface="Microsoft YaHei"/>
                  <a:cs typeface="Consolas"/>
                </a:rPr>
                <a:t>2026-05-13T15:07:50Z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），</a:t>
              </a:r>
              <a:r>
                <a:rPr lang="zh-CN" sz="1050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不存在节流风险</a:t>
              </a:r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。"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4420552"/>
              <a:ext cx="36611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"这一手动变更直接引入了每秒 5 次写入的硬性限制，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4611052"/>
              <a:ext cx="46962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而 ETL 工作负载的突发写入需求远超此值（实测约 300 WCU/分钟）"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52500" y="50292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69962" y="5233251"/>
              <a:ext cx="183618" cy="183919"/>
            </a:xfrm>
            <a:custGeom>
              <a:avLst/>
              <a:gdLst/>
              <a:ahLst/>
              <a:cxnLst/>
              <a:rect l="l" t="t" r="r" b="b"/>
              <a:pathLst>
                <a:path w="183618" h="183919">
                  <a:moveTo>
                    <a:pt x="130969" y="15611"/>
                  </a:moveTo>
                  <a:cubicBezTo>
                    <a:pt x="167355" y="36620"/>
                    <a:pt x="183618" y="80566"/>
                    <a:pt x="169674" y="120201"/>
                  </a:cubicBezTo>
                  <a:cubicBezTo>
                    <a:pt x="155730" y="159836"/>
                    <a:pt x="115534" y="183919"/>
                    <a:pt x="74008" y="177518"/>
                  </a:cubicBezTo>
                  <a:cubicBezTo>
                    <a:pt x="32482" y="171117"/>
                    <a:pt x="1405" y="136047"/>
                    <a:pt x="44" y="94052"/>
                  </a:cubicBezTo>
                  <a:lnTo>
                    <a:pt x="0" y="91224"/>
                  </a:lnTo>
                  <a:lnTo>
                    <a:pt x="44" y="88395"/>
                  </a:lnTo>
                  <a:cubicBezTo>
                    <a:pt x="1038" y="57722"/>
                    <a:pt x="18063" y="29823"/>
                    <a:pt x="44886" y="14911"/>
                  </a:cubicBezTo>
                  <a:cubicBezTo>
                    <a:pt x="71709" y="0"/>
                    <a:pt x="104392" y="266"/>
                    <a:pt x="130969" y="15611"/>
                  </a:cubicBezTo>
                  <a:close/>
                  <a:moveTo>
                    <a:pt x="119679" y="67588"/>
                  </a:moveTo>
                  <a:cubicBezTo>
                    <a:pt x="116569" y="64478"/>
                    <a:pt x="111630" y="64167"/>
                    <a:pt x="108154" y="66863"/>
                  </a:cubicBezTo>
                  <a:lnTo>
                    <a:pt x="107333" y="67588"/>
                  </a:lnTo>
                  <a:lnTo>
                    <a:pt x="78581" y="96331"/>
                  </a:lnTo>
                  <a:lnTo>
                    <a:pt x="67292" y="85051"/>
                  </a:lnTo>
                  <a:lnTo>
                    <a:pt x="66471" y="84326"/>
                  </a:lnTo>
                  <a:cubicBezTo>
                    <a:pt x="62995" y="81632"/>
                    <a:pt x="58058" y="81943"/>
                    <a:pt x="54948" y="85053"/>
                  </a:cubicBezTo>
                  <a:cubicBezTo>
                    <a:pt x="51838" y="88163"/>
                    <a:pt x="51527" y="93100"/>
                    <a:pt x="54221" y="96576"/>
                  </a:cubicBezTo>
                  <a:lnTo>
                    <a:pt x="54946" y="97397"/>
                  </a:lnTo>
                  <a:lnTo>
                    <a:pt x="72408" y="114859"/>
                  </a:lnTo>
                  <a:lnTo>
                    <a:pt x="73229" y="115584"/>
                  </a:lnTo>
                  <a:cubicBezTo>
                    <a:pt x="76379" y="118028"/>
                    <a:pt x="80784" y="118028"/>
                    <a:pt x="83934" y="115584"/>
                  </a:cubicBezTo>
                  <a:lnTo>
                    <a:pt x="84754" y="114859"/>
                  </a:lnTo>
                  <a:lnTo>
                    <a:pt x="119679" y="79934"/>
                  </a:lnTo>
                  <a:lnTo>
                    <a:pt x="120404" y="79113"/>
                  </a:lnTo>
                  <a:cubicBezTo>
                    <a:pt x="123100" y="75638"/>
                    <a:pt x="122790" y="70699"/>
                    <a:pt x="119679" y="67588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23962" y="5260181"/>
              <a:ext cx="4039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Agent 通过 user-agent 字段，区分了两种"创建源"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25868" y="5562124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这是经验丰富的 SRE 才会主动确认的细节 — 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868" y="5752624"/>
              <a:ext cx="37271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自己想到去检查 application-autoscaling 是不是配了兜底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5868" y="6085999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— 这就是 6C 框架里的 Continuous Learning 落地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0" y="1714500"/>
            <a:ext cx="4000500" cy="4829175"/>
            <a:chOff x="7620000" y="1714500"/>
            <a:chExt cx="4000500" cy="4829175"/>
          </a:xfrm>
        </p:grpSpPr>
        <p:sp>
          <p:nvSpPr>
            <p:cNvPr id="27" name="Rectangle 27"/>
            <p:cNvSpPr/>
            <p:nvPr/>
          </p:nvSpPr>
          <p:spPr>
            <a:xfrm>
              <a:off x="7620000" y="1714500"/>
              <a:ext cx="4000500" cy="4667250"/>
            </a:xfrm>
            <a:prstGeom prst="roundRect">
              <a:avLst>
                <a:gd name="adj" fmla="val 2857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2400" y="2058524"/>
              <a:ext cx="3695700" cy="3788701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760018" y="6181249"/>
              <a:ext cx="14003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Agent 调查 timeline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0970" y="6360795"/>
              <a:ext cx="30526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DDB / SQS / ECS / CloudTrail 4 个 sub-agent 并行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17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7210" y="476250"/>
            <a:ext cx="8121887" cy="1162050"/>
            <a:chOff x="537210" y="476250"/>
            <a:chExt cx="8121887" cy="1162050"/>
          </a:xfrm>
        </p:grpSpPr>
        <p:sp>
          <p:nvSpPr>
            <p:cNvPr id="3" name="Rectangle 3"/>
            <p:cNvSpPr/>
            <p:nvPr/>
          </p:nvSpPr>
          <p:spPr>
            <a:xfrm>
              <a:off x="571500" y="476250"/>
              <a:ext cx="57150" cy="342900"/>
            </a:xfrm>
            <a:prstGeom prst="roundRect">
              <a:avLst>
                <a:gd name="adj" fmla="val 3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629602"/>
              <a:ext cx="11216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三个 CASE 对照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7210" y="927735"/>
              <a:ext cx="81218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同一个核心 — </a:t>
              </a:r>
              <a:r>
                <a:rPr lang="zh-CN" sz="27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MCP Bridge</a:t>
              </a:r>
              <a:r>
                <a:rPr lang="zh-CN" sz="270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 xml:space="preserve"> 让 cn-* 透明可达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6260" y="1394460"/>
              <a:ext cx="66553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三个 case 用同一套基础设施跑通 — 不同故障类型 / 不同 sub-agent 组合 / 不同账号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905000"/>
            <a:ext cx="3619500" cy="4095750"/>
            <a:chOff x="571500" y="1905000"/>
            <a:chExt cx="3619500" cy="409575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1565C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933575"/>
              <a:ext cx="3619500" cy="2857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1045" y="2145982"/>
              <a:ext cx="256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C1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5855" y="217836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Webhook 自主调查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474595"/>
              <a:ext cx="1343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cn-north-1 · bjs1 EKS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9618" y="2923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8665" y="3106102"/>
              <a:ext cx="27793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L6 错误 image tag → ImagePullBackOff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链路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3620452"/>
              <a:ext cx="28943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alarm → SNS → bridge Lambda → webhook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95239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能力点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4134802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webhook 自主接管，0 query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44667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8665" y="46491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RCA + 4 阶段 Mitigation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4839652"/>
              <a:ext cx="1199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Slack 自主投递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6200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1520" y="5284470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2A5F5"/>
                  </a:solidFill>
                  <a:latin typeface="Arial"/>
                  <a:ea typeface="SimHei"/>
                  <a:cs typeface="Arial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30618" y="5438299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个 sub-agent 走 MCP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57240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12 分钟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16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286250" y="1905000"/>
            <a:ext cx="3619500" cy="4095750"/>
            <a:chOff x="4286250" y="1905000"/>
            <a:chExt cx="3619500" cy="4095750"/>
          </a:xfrm>
        </p:grpSpPr>
        <p:sp>
          <p:nvSpPr>
            <p:cNvPr id="30" name="Rectangle 30"/>
            <p:cNvSpPr/>
            <p:nvPr/>
          </p:nvSpPr>
          <p:spPr>
            <a:xfrm>
              <a:off x="428625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FF980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1933575"/>
              <a:ext cx="3619500" cy="2857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55795" y="21459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C2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40605" y="2178368"/>
              <a:ext cx="1266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时间锚定 RCA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65320" y="2474595"/>
              <a:ext cx="13438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cn-north-1 · bjs1 EKS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47675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64368" y="2923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3415" y="31061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L4 unindexed query → p99 飙升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6436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链路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63415" y="3620452"/>
              <a:ext cx="2556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ALB + RDS + EKS + CloudTrail + Logs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4368" y="395239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能力点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63415" y="41348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5 源并行关联 + 时间锚定到秒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64368" y="44667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3415" y="464915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3 cause + 6+ 观察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63415" y="4839652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"05:19:19Z 精确吻合"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47675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46270" y="52844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98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8242" y="543829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次 cn API 全经 MCP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64368" y="5724049"/>
              <a:ext cx="672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9 分 49 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978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001000" y="1905000"/>
            <a:ext cx="3619500" cy="4095750"/>
            <a:chOff x="8001000" y="1905000"/>
            <a:chExt cx="3619500" cy="4095750"/>
          </a:xfrm>
        </p:grpSpPr>
        <p:sp>
          <p:nvSpPr>
            <p:cNvPr id="52" name="Rectangle 52"/>
            <p:cNvSpPr/>
            <p:nvPr/>
          </p:nvSpPr>
          <p:spPr>
            <a:xfrm>
              <a:off x="8001000" y="1905000"/>
              <a:ext cx="3619500" cy="4095750"/>
            </a:xfrm>
            <a:prstGeom prst="roundRect">
              <a:avLst>
                <a:gd name="adj" fmla="val 3684"/>
              </a:avLst>
            </a:prstGeom>
            <a:solidFill>
              <a:srgbClr val="1A2332"/>
            </a:solidFill>
            <a:ln w="14288">
              <a:solidFill>
                <a:srgbClr val="4CAF5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01000" y="190500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01000" y="1933575"/>
              <a:ext cx="3619500" cy="28575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70545" y="21459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C3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5355" y="2178368"/>
              <a:ext cx="1266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AED"/>
                  </a:solidFill>
                  <a:latin typeface="Arial"/>
                  <a:ea typeface="SimHei"/>
                  <a:cs typeface="Arial"/>
                </a:rPr>
                <a:t>多跳拓扑 RCA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80070" y="2474595"/>
              <a:ext cx="1764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cn-northwest-1 · china ECS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8191500" y="2762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79118" y="2923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触发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78165" y="3106102"/>
              <a:ext cx="2372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L5 DDB throttle + ECS overscale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79118" y="3438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链路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8165" y="36204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DDB → SQS → ECS → CloudTrail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79118" y="395239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能力点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8165" y="41348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沿依赖链 4 跳追溯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79118" y="44667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8165" y="4649152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区分 Terraform vs Manual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78165" y="4839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ED"/>
                  </a:solidFill>
                  <a:latin typeface="Arial"/>
                  <a:ea typeface="Microsoft YaHei"/>
                  <a:cs typeface="Arial"/>
                </a:rPr>
                <a:t>+ 检查 AutoScaling 兜底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191500" y="5219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61020" y="5284470"/>
              <a:ext cx="3737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CAF50"/>
                  </a:solidFill>
                  <a:latin typeface="Arial"/>
                  <a:ea typeface="SimHei"/>
                  <a:cs typeface="Arial"/>
                </a:rPr>
                <a:t>14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36318" y="543829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次 cn API 全经 MCP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79118" y="57240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9800"/>
                  </a:solidFill>
                  <a:latin typeface="Consolas"/>
                  <a:ea typeface="Microsoft YaHei"/>
                  <a:cs typeface="Consolas"/>
                </a:rPr>
                <a:t>13 分钟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41118" y="5724049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Arial"/>
                  <a:ea typeface="Microsoft YaHei"/>
                  <a:cs typeface="Arial"/>
                </a:rPr>
                <a:t>完整 RCA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71500" y="6191250"/>
            <a:ext cx="11049000" cy="381000"/>
            <a:chOff x="571500" y="6191250"/>
            <a:chExt cx="11049000" cy="381000"/>
          </a:xfrm>
        </p:grpSpPr>
        <p:sp>
          <p:nvSpPr>
            <p:cNvPr id="74" name="Rectangle 74"/>
            <p:cNvSpPr/>
            <p:nvPr/>
          </p:nvSpPr>
          <p:spPr>
            <a:xfrm>
              <a:off x="571500" y="6191250"/>
              <a:ext cx="11049000" cy="381000"/>
            </a:xfrm>
            <a:prstGeom prst="roundRect">
              <a:avLst>
                <a:gd name="adj" fmla="val 15000"/>
              </a:avLst>
            </a:prstGeom>
            <a:solidFill>
              <a:srgbClr val="0F1419"/>
            </a:solidFill>
            <a:ln w="9525">
              <a:solidFill>
                <a:srgbClr val="FF980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727746" y="6325552"/>
              <a:ext cx="47365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三个 case 合计 110+ 次 cn-* AWS API 调用 — 0 次绕过 MCP Bridge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266622" y="6673691"/>
            <a:ext cx="364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18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1" grpId="0"/>
      <p:bldP spid="73" grpId="0"/>
      <p:bldP spid="7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419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C0">
                    <a:alpha val="18000"/>
                  </a:srgbClr>
                </a:gs>
                <a:gs pos="100000">
                  <a:srgbClr val="1565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695450" y="1695450"/>
            <a:ext cx="8801100" cy="4038600"/>
            <a:chOff x="1695450" y="1695450"/>
            <a:chExt cx="8801100" cy="4038600"/>
          </a:xfrm>
        </p:grpSpPr>
        <p:sp>
          <p:nvSpPr>
            <p:cNvPr id="5" name="Line 5"/>
            <p:cNvSpPr/>
            <p:nvPr/>
          </p:nvSpPr>
          <p:spPr>
            <a:xfrm>
              <a:off x="5143500" y="2095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FF9800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695450" y="16954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458450" y="188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885950" y="5695950"/>
              <a:ext cx="38100" cy="38100"/>
            </a:xfrm>
            <a:prstGeom prst="ellipse">
              <a:avLst/>
            </a:prstGeom>
            <a:solidFill>
              <a:srgbClr val="FF9800">
                <a:alpha val="5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458450" y="5695950"/>
              <a:ext cx="38100" cy="38100"/>
            </a:xfrm>
            <a:prstGeom prst="ellipse">
              <a:avLst/>
            </a:prstGeom>
            <a:solidFill>
              <a:srgbClr val="42A5F5">
                <a:alpha val="50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601528" y="1791652"/>
            <a:ext cx="2988945" cy="2113598"/>
            <a:chOff x="4601528" y="1791652"/>
            <a:chExt cx="2988945" cy="2113598"/>
          </a:xfrm>
        </p:grpSpPr>
        <p:sp>
          <p:nvSpPr>
            <p:cNvPr id="11" name="TextBox 11"/>
            <p:cNvSpPr txBox="1"/>
            <p:nvPr/>
          </p:nvSpPr>
          <p:spPr>
            <a:xfrm>
              <a:off x="4802555" y="1791652"/>
              <a:ext cx="25868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THANK YOU · QUESTIONS WELCOME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1528" y="2076450"/>
              <a:ext cx="2988945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FF9800"/>
                      </a:gs>
                    </a:gsLst>
                    <a:lin ang="0" scaled="1"/>
                  </a:gradFill>
                  <a:latin typeface="Arial"/>
                  <a:ea typeface="SimHei"/>
                  <a:cs typeface="Arial"/>
                </a:rPr>
                <a:t>谢谢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43000" y="3810000"/>
            <a:ext cx="9906000" cy="1950244"/>
            <a:chOff x="1143000" y="3810000"/>
            <a:chExt cx="9906000" cy="1950244"/>
          </a:xfrm>
        </p:grpSpPr>
        <p:sp>
          <p:nvSpPr>
            <p:cNvPr id="14" name="Rectangle 14"/>
            <p:cNvSpPr/>
            <p:nvPr/>
          </p:nvSpPr>
          <p:spPr>
            <a:xfrm>
              <a:off x="1143000" y="3810000"/>
              <a:ext cx="9906000" cy="1905000"/>
            </a:xfrm>
            <a:prstGeom prst="roundRect">
              <a:avLst>
                <a:gd name="adj" fmla="val 7000"/>
              </a:avLst>
            </a:prstGeom>
            <a:solidFill>
              <a:srgbClr val="1A2332"/>
            </a:solidFill>
            <a:ln w="9525">
              <a:solidFill>
                <a:srgbClr val="2D374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86864" y="40100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800"/>
                  </a:solidFill>
                  <a:latin typeface="Arial"/>
                  <a:ea typeface="SimHei"/>
                  <a:cs typeface="Arial"/>
                </a:rPr>
                <a:t>接下来要做的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558925" y="4492625"/>
              <a:ext cx="2441909" cy="819944"/>
              <a:chOff x="1558925" y="4492625"/>
              <a:chExt cx="2441909" cy="8199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558925" y="4492625"/>
                <a:ext cx="14240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42407" h="157162">
                    <a:moveTo>
                      <a:pt x="130969" y="0"/>
                    </a:moveTo>
                    <a:cubicBezTo>
                      <a:pt x="138408" y="0"/>
                      <a:pt x="142293" y="8609"/>
                      <a:pt x="137805" y="14171"/>
                    </a:cubicBezTo>
                    <a:lnTo>
                      <a:pt x="137142" y="14904"/>
                    </a:lnTo>
                    <a:lnTo>
                      <a:pt x="104033" y="48022"/>
                    </a:lnTo>
                    <a:lnTo>
                      <a:pt x="137142" y="81140"/>
                    </a:lnTo>
                    <a:cubicBezTo>
                      <a:pt x="142407" y="86396"/>
                      <a:pt x="139063" y="95232"/>
                      <a:pt x="131964" y="95991"/>
                    </a:cubicBezTo>
                    <a:lnTo>
                      <a:pt x="130969" y="96044"/>
                    </a:lnTo>
                    <a:lnTo>
                      <a:pt x="17463" y="96044"/>
                    </a:lnTo>
                    <a:lnTo>
                      <a:pt x="17463" y="148431"/>
                    </a:lnTo>
                    <a:cubicBezTo>
                      <a:pt x="17462" y="152858"/>
                      <a:pt x="14149" y="156583"/>
                      <a:pt x="9753" y="157101"/>
                    </a:cubicBezTo>
                    <a:lnTo>
                      <a:pt x="8731" y="157162"/>
                    </a:lnTo>
                    <a:cubicBezTo>
                      <a:pt x="4305" y="157162"/>
                      <a:pt x="579" y="153849"/>
                      <a:pt x="61" y="149453"/>
                    </a:cubicBezTo>
                    <a:lnTo>
                      <a:pt x="0" y="148431"/>
                    </a:lnTo>
                    <a:lnTo>
                      <a:pt x="0" y="8731"/>
                    </a:lnTo>
                    <a:cubicBezTo>
                      <a:pt x="1" y="4305"/>
                      <a:pt x="3314" y="579"/>
                      <a:pt x="7710" y="61"/>
                    </a:cubicBezTo>
                    <a:lnTo>
                      <a:pt x="8731" y="0"/>
                    </a:lnTo>
                    <a:lnTo>
                      <a:pt x="130969" y="0"/>
                    </a:lnTo>
                    <a:close/>
                  </a:path>
                </a:pathLst>
              </a:custGeom>
              <a:solidFill>
                <a:srgbClr val="42A5F5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795462" y="4498181"/>
                <a:ext cx="11758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7 个 case 待跑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97368" y="4733449"/>
                <a:ext cx="15270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C4 跨账号 blast radius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97368" y="4923949"/>
                <a:ext cx="15128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C5 partition skill 救场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97368" y="5114449"/>
                <a:ext cx="22034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C6-C10 prevention / spec / cost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779961" y="4471251"/>
              <a:ext cx="2119931" cy="841318"/>
              <a:chOff x="4779961" y="4471251"/>
              <a:chExt cx="2119931" cy="84131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779961" y="4471251"/>
                <a:ext cx="183853" cy="184570"/>
              </a:xfrm>
              <a:custGeom>
                <a:avLst/>
                <a:gdLst/>
                <a:ahLst/>
                <a:cxnLst/>
                <a:rect l="l" t="t" r="r" b="b"/>
                <a:pathLst>
                  <a:path w="183853" h="184570">
                    <a:moveTo>
                      <a:pt x="130970" y="15611"/>
                    </a:moveTo>
                    <a:cubicBezTo>
                      <a:pt x="167665" y="36797"/>
                      <a:pt x="183853" y="81272"/>
                      <a:pt x="169360" y="121089"/>
                    </a:cubicBezTo>
                    <a:cubicBezTo>
                      <a:pt x="154868" y="160906"/>
                      <a:pt x="113879" y="184570"/>
                      <a:pt x="72150" y="177212"/>
                    </a:cubicBezTo>
                    <a:cubicBezTo>
                      <a:pt x="30422" y="169853"/>
                      <a:pt x="0" y="133596"/>
                      <a:pt x="1" y="91224"/>
                    </a:cubicBezTo>
                    <a:lnTo>
                      <a:pt x="45" y="88395"/>
                    </a:lnTo>
                    <a:cubicBezTo>
                      <a:pt x="1039" y="57722"/>
                      <a:pt x="18064" y="29823"/>
                      <a:pt x="44887" y="14911"/>
                    </a:cubicBezTo>
                    <a:cubicBezTo>
                      <a:pt x="71711" y="0"/>
                      <a:pt x="104393" y="266"/>
                      <a:pt x="130970" y="15611"/>
                    </a:cubicBezTo>
                    <a:moveTo>
                      <a:pt x="76024" y="67588"/>
                    </a:moveTo>
                    <a:cubicBezTo>
                      <a:pt x="72615" y="64180"/>
                      <a:pt x="67088" y="64180"/>
                      <a:pt x="63678" y="67588"/>
                    </a:cubicBezTo>
                    <a:lnTo>
                      <a:pt x="46216" y="85051"/>
                    </a:lnTo>
                    <a:cubicBezTo>
                      <a:pt x="42807" y="88460"/>
                      <a:pt x="42807" y="93987"/>
                      <a:pt x="46216" y="97397"/>
                    </a:cubicBezTo>
                    <a:lnTo>
                      <a:pt x="63678" y="114859"/>
                    </a:lnTo>
                    <a:cubicBezTo>
                      <a:pt x="67088" y="118268"/>
                      <a:pt x="72615" y="118268"/>
                      <a:pt x="76024" y="114859"/>
                    </a:cubicBezTo>
                    <a:lnTo>
                      <a:pt x="76749" y="114038"/>
                    </a:lnTo>
                    <a:cubicBezTo>
                      <a:pt x="79445" y="110563"/>
                      <a:pt x="79134" y="105624"/>
                      <a:pt x="76024" y="102513"/>
                    </a:cubicBezTo>
                    <a:lnTo>
                      <a:pt x="64743" y="91224"/>
                    </a:lnTo>
                    <a:lnTo>
                      <a:pt x="76024" y="79934"/>
                    </a:lnTo>
                    <a:cubicBezTo>
                      <a:pt x="79433" y="76525"/>
                      <a:pt x="79433" y="70998"/>
                      <a:pt x="76024" y="67588"/>
                    </a:cubicBezTo>
                    <a:moveTo>
                      <a:pt x="110949" y="67588"/>
                    </a:moveTo>
                    <a:cubicBezTo>
                      <a:pt x="107540" y="64180"/>
                      <a:pt x="102013" y="64180"/>
                      <a:pt x="98603" y="67588"/>
                    </a:cubicBezTo>
                    <a:lnTo>
                      <a:pt x="97878" y="68409"/>
                    </a:lnTo>
                    <a:cubicBezTo>
                      <a:pt x="95182" y="71885"/>
                      <a:pt x="95493" y="76823"/>
                      <a:pt x="98603" y="79934"/>
                    </a:cubicBezTo>
                    <a:lnTo>
                      <a:pt x="109884" y="91224"/>
                    </a:lnTo>
                    <a:lnTo>
                      <a:pt x="98603" y="102513"/>
                    </a:lnTo>
                    <a:cubicBezTo>
                      <a:pt x="95294" y="105939"/>
                      <a:pt x="95342" y="111385"/>
                      <a:pt x="98709" y="114753"/>
                    </a:cubicBezTo>
                    <a:cubicBezTo>
                      <a:pt x="102077" y="118121"/>
                      <a:pt x="107523" y="118168"/>
                      <a:pt x="110949" y="114859"/>
                    </a:cubicBezTo>
                    <a:lnTo>
                      <a:pt x="128412" y="97397"/>
                    </a:lnTo>
                    <a:cubicBezTo>
                      <a:pt x="131820" y="93987"/>
                      <a:pt x="131820" y="88460"/>
                      <a:pt x="128412" y="85051"/>
                    </a:cubicBezTo>
                    <a:close/>
                  </a:path>
                </a:pathLst>
              </a:custGeom>
              <a:solidFill>
                <a:srgbClr val="FF980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33962" y="4498181"/>
                <a:ext cx="18659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Blog 04 + 现场演示 SOP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35868" y="4733449"/>
                <a:ext cx="14131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case 4-10 完成后整合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035868" y="4923949"/>
                <a:ext cx="1669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"10 个真实场景" 单独成篇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035868" y="5114449"/>
                <a:ext cx="15697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现场 demo 5 步流程已备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017862" y="4475390"/>
              <a:ext cx="1628843" cy="837179"/>
              <a:chOff x="8017862" y="4475390"/>
              <a:chExt cx="1628843" cy="837179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8017862" y="4475390"/>
                <a:ext cx="175814" cy="174162"/>
                <a:chOff x="8017862" y="4475390"/>
                <a:chExt cx="175814" cy="174162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8112158" y="4597400"/>
                  <a:ext cx="73639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39" h="52152">
                      <a:moveTo>
                        <a:pt x="73639" y="0"/>
                      </a:moveTo>
                      <a:cubicBezTo>
                        <a:pt x="60675" y="29704"/>
                        <a:pt x="32323" y="49782"/>
                        <a:pt x="0" y="52152"/>
                      </a:cubicBezTo>
                      <a:cubicBezTo>
                        <a:pt x="2236" y="51619"/>
                        <a:pt x="4172" y="50226"/>
                        <a:pt x="5387" y="48275"/>
                      </a:cubicBezTo>
                      <a:cubicBezTo>
                        <a:pt x="14668" y="33409"/>
                        <a:pt x="21396" y="17095"/>
                        <a:pt x="25294" y="9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025753" y="4597400"/>
                  <a:ext cx="73631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31" h="52152">
                      <a:moveTo>
                        <a:pt x="48345" y="0"/>
                      </a:moveTo>
                      <a:cubicBezTo>
                        <a:pt x="52241" y="17092"/>
                        <a:pt x="58970" y="33412"/>
                        <a:pt x="68252" y="48284"/>
                      </a:cubicBezTo>
                      <a:cubicBezTo>
                        <a:pt x="69467" y="50230"/>
                        <a:pt x="71399" y="51619"/>
                        <a:pt x="73631" y="52152"/>
                      </a:cubicBezTo>
                      <a:cubicBezTo>
                        <a:pt x="41311" y="49779"/>
                        <a:pt x="12963" y="29701"/>
                        <a:pt x="0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092067" y="4597400"/>
                  <a:ext cx="27416" cy="33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6" h="33912">
                      <a:moveTo>
                        <a:pt x="27416" y="0"/>
                      </a:moveTo>
                      <a:cubicBezTo>
                        <a:pt x="24353" y="11856"/>
                        <a:pt x="19744" y="23258"/>
                        <a:pt x="13708" y="33912"/>
                      </a:cubicBezTo>
                      <a:cubicBezTo>
                        <a:pt x="7672" y="23258"/>
                        <a:pt x="3063" y="11856"/>
                        <a:pt x="0" y="0"/>
                      </a:cubicBezTo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017862" y="4545012"/>
                  <a:ext cx="53284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84" h="34925">
                      <a:moveTo>
                        <a:pt x="53284" y="0"/>
                      </a:moveTo>
                      <a:cubicBezTo>
                        <a:pt x="51987" y="11606"/>
                        <a:pt x="51987" y="23319"/>
                        <a:pt x="53284" y="34925"/>
                      </a:cubicBezTo>
                      <a:lnTo>
                        <a:pt x="2364" y="34925"/>
                      </a:lnTo>
                      <a:cubicBezTo>
                        <a:pt x="6" y="23403"/>
                        <a:pt x="0" y="11524"/>
                        <a:pt x="2346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087271" y="4545012"/>
                  <a:ext cx="37009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09" h="34925">
                      <a:moveTo>
                        <a:pt x="35548" y="0"/>
                      </a:moveTo>
                      <a:cubicBezTo>
                        <a:pt x="37009" y="11596"/>
                        <a:pt x="37009" y="23329"/>
                        <a:pt x="35548" y="34925"/>
                      </a:cubicBezTo>
                      <a:lnTo>
                        <a:pt x="1461" y="34925"/>
                      </a:lnTo>
                      <a:cubicBezTo>
                        <a:pt x="0" y="23329"/>
                        <a:pt x="0" y="11596"/>
                        <a:pt x="1461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140403" y="4545012"/>
                  <a:ext cx="53273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73" h="34925">
                      <a:moveTo>
                        <a:pt x="50938" y="0"/>
                      </a:moveTo>
                      <a:cubicBezTo>
                        <a:pt x="53273" y="11525"/>
                        <a:pt x="53267" y="23402"/>
                        <a:pt x="50921" y="34925"/>
                      </a:cubicBezTo>
                      <a:lnTo>
                        <a:pt x="0" y="34925"/>
                      </a:lnTo>
                      <a:cubicBezTo>
                        <a:pt x="1301" y="23321"/>
                        <a:pt x="1301" y="11613"/>
                        <a:pt x="0" y="0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025727" y="4475398"/>
                  <a:ext cx="73648" cy="52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48" h="52152">
                      <a:moveTo>
                        <a:pt x="73648" y="0"/>
                      </a:moveTo>
                      <a:cubicBezTo>
                        <a:pt x="71419" y="537"/>
                        <a:pt x="69490" y="1929"/>
                        <a:pt x="68278" y="3877"/>
                      </a:cubicBezTo>
                      <a:cubicBezTo>
                        <a:pt x="58997" y="18746"/>
                        <a:pt x="52268" y="35063"/>
                        <a:pt x="48371" y="52152"/>
                      </a:cubicBezTo>
                      <a:lnTo>
                        <a:pt x="0" y="52152"/>
                      </a:lnTo>
                      <a:cubicBezTo>
                        <a:pt x="12850" y="22742"/>
                        <a:pt x="40785" y="2741"/>
                        <a:pt x="72766" y="52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092067" y="4493638"/>
                  <a:ext cx="27416" cy="33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6" h="33921">
                      <a:moveTo>
                        <a:pt x="13708" y="0"/>
                      </a:moveTo>
                      <a:cubicBezTo>
                        <a:pt x="19745" y="10657"/>
                        <a:pt x="24354" y="22062"/>
                        <a:pt x="27416" y="33921"/>
                      </a:cubicBezTo>
                      <a:lnTo>
                        <a:pt x="0" y="33921"/>
                      </a:lnTo>
                      <a:cubicBezTo>
                        <a:pt x="2969" y="22422"/>
                        <a:pt x="7422" y="11220"/>
                        <a:pt x="13359" y="594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112175" y="4475390"/>
                  <a:ext cx="73648" cy="52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48" h="52160">
                      <a:moveTo>
                        <a:pt x="0" y="0"/>
                      </a:moveTo>
                      <a:cubicBezTo>
                        <a:pt x="32322" y="2387"/>
                        <a:pt x="60669" y="22463"/>
                        <a:pt x="73648" y="52160"/>
                      </a:cubicBezTo>
                      <a:lnTo>
                        <a:pt x="25277" y="52160"/>
                      </a:lnTo>
                      <a:cubicBezTo>
                        <a:pt x="21381" y="35068"/>
                        <a:pt x="14652" y="18748"/>
                        <a:pt x="5370" y="3877"/>
                      </a:cubicBezTo>
                      <a:cubicBezTo>
                        <a:pt x="4319" y="2194"/>
                        <a:pt x="2727" y="919"/>
                        <a:pt x="856" y="262"/>
                      </a:cubicBezTo>
                      <a:close/>
                    </a:path>
                  </a:pathLst>
                </a:custGeom>
                <a:solidFill>
                  <a:srgbClr val="4CAF50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8272462" y="4498181"/>
                <a:ext cx="137424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AED"/>
                    </a:solidFill>
                    <a:latin typeface="Arial"/>
                    <a:ea typeface="SimHei"/>
                    <a:cs typeface="Arial"/>
                  </a:rPr>
                  <a:t>扩展到其他 Cloud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274368" y="4733449"/>
                <a:ext cx="13704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阿里云 MCP 已有占位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74368" y="4923949"/>
                <a:ext cx="13633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GCP 同 pattern 可加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274368" y="5114449"/>
                <a:ext cx="12565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AA0A6"/>
                    </a:solidFill>
                    <a:latin typeface="Arial"/>
                    <a:ea typeface="Microsoft YaHei"/>
                    <a:cs typeface="Arial"/>
                  </a:rPr>
                  <a:t>同一套 Bridge 模板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1524000" y="54102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9525">
              <a:solidFill>
                <a:srgbClr val="2D374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538287" y="5554638"/>
              <a:ext cx="150425" cy="151012"/>
            </a:xfrm>
            <a:custGeom>
              <a:avLst/>
              <a:gdLst/>
              <a:ahLst/>
              <a:cxnLst/>
              <a:rect l="l" t="t" r="r" b="b"/>
              <a:pathLst>
                <a:path w="150425" h="151012">
                  <a:moveTo>
                    <a:pt x="107157" y="12773"/>
                  </a:moveTo>
                  <a:cubicBezTo>
                    <a:pt x="137181" y="30107"/>
                    <a:pt x="150425" y="66495"/>
                    <a:pt x="138567" y="99073"/>
                  </a:cubicBezTo>
                  <a:cubicBezTo>
                    <a:pt x="126710" y="131650"/>
                    <a:pt x="93174" y="151012"/>
                    <a:pt x="59032" y="144991"/>
                  </a:cubicBezTo>
                  <a:cubicBezTo>
                    <a:pt x="24891" y="138971"/>
                    <a:pt x="0" y="109306"/>
                    <a:pt x="1" y="74637"/>
                  </a:cubicBezTo>
                  <a:lnTo>
                    <a:pt x="37" y="72323"/>
                  </a:lnTo>
                  <a:cubicBezTo>
                    <a:pt x="850" y="47227"/>
                    <a:pt x="14780" y="24400"/>
                    <a:pt x="36726" y="12200"/>
                  </a:cubicBezTo>
                  <a:cubicBezTo>
                    <a:pt x="58672" y="0"/>
                    <a:pt x="85412" y="217"/>
                    <a:pt x="107157" y="12773"/>
                  </a:cubicBezTo>
                  <a:moveTo>
                    <a:pt x="62202" y="55299"/>
                  </a:moveTo>
                  <a:cubicBezTo>
                    <a:pt x="59412" y="52511"/>
                    <a:pt x="54890" y="52511"/>
                    <a:pt x="52100" y="55299"/>
                  </a:cubicBezTo>
                  <a:lnTo>
                    <a:pt x="37813" y="69587"/>
                  </a:lnTo>
                  <a:cubicBezTo>
                    <a:pt x="35024" y="72376"/>
                    <a:pt x="35024" y="76898"/>
                    <a:pt x="37813" y="79688"/>
                  </a:cubicBezTo>
                  <a:lnTo>
                    <a:pt x="52100" y="93976"/>
                  </a:lnTo>
                  <a:cubicBezTo>
                    <a:pt x="54890" y="96764"/>
                    <a:pt x="59412" y="96764"/>
                    <a:pt x="62202" y="93976"/>
                  </a:cubicBezTo>
                  <a:lnTo>
                    <a:pt x="62794" y="93304"/>
                  </a:lnTo>
                  <a:cubicBezTo>
                    <a:pt x="65000" y="90460"/>
                    <a:pt x="64746" y="86419"/>
                    <a:pt x="62202" y="83874"/>
                  </a:cubicBezTo>
                  <a:lnTo>
                    <a:pt x="52972" y="74637"/>
                  </a:lnTo>
                  <a:lnTo>
                    <a:pt x="62202" y="65401"/>
                  </a:lnTo>
                  <a:cubicBezTo>
                    <a:pt x="64990" y="62611"/>
                    <a:pt x="64990" y="58089"/>
                    <a:pt x="62202" y="55299"/>
                  </a:cubicBezTo>
                  <a:moveTo>
                    <a:pt x="90777" y="55299"/>
                  </a:moveTo>
                  <a:cubicBezTo>
                    <a:pt x="87987" y="52511"/>
                    <a:pt x="83465" y="52511"/>
                    <a:pt x="80675" y="55299"/>
                  </a:cubicBezTo>
                  <a:lnTo>
                    <a:pt x="80082" y="55971"/>
                  </a:lnTo>
                  <a:cubicBezTo>
                    <a:pt x="77876" y="58815"/>
                    <a:pt x="78130" y="62856"/>
                    <a:pt x="80675" y="65401"/>
                  </a:cubicBezTo>
                  <a:lnTo>
                    <a:pt x="89905" y="74637"/>
                  </a:lnTo>
                  <a:lnTo>
                    <a:pt x="80675" y="83874"/>
                  </a:lnTo>
                  <a:cubicBezTo>
                    <a:pt x="77968" y="86677"/>
                    <a:pt x="78007" y="91133"/>
                    <a:pt x="80762" y="93889"/>
                  </a:cubicBezTo>
                  <a:cubicBezTo>
                    <a:pt x="83518" y="96644"/>
                    <a:pt x="87973" y="96683"/>
                    <a:pt x="90777" y="93976"/>
                  </a:cubicBezTo>
                  <a:lnTo>
                    <a:pt x="105064" y="79688"/>
                  </a:lnTo>
                  <a:cubicBezTo>
                    <a:pt x="107853" y="76898"/>
                    <a:pt x="107853" y="72376"/>
                    <a:pt x="105064" y="69587"/>
                  </a:cubicBezTo>
                  <a:close/>
                </a:path>
              </a:pathLst>
            </a:custGeom>
            <a:solidFill>
              <a:srgbClr val="42A5F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59268" y="5562124"/>
              <a:ext cx="39834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2A5F5"/>
                  </a:solidFill>
                  <a:latin typeface="Consolas"/>
                  <a:ea typeface="Microsoft YaHei"/>
                  <a:cs typeface="Consolas"/>
                </a:rPr>
                <a:t>github.com/warren830/aws-devops-agent-external-mcp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703219" y="5557838"/>
              <a:ext cx="100012" cy="142874"/>
              <a:chOff x="6703219" y="5557838"/>
              <a:chExt cx="100012" cy="14287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717506" y="55578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35719" y="0"/>
                    </a:moveTo>
                    <a:cubicBezTo>
                      <a:pt x="55446" y="0"/>
                      <a:pt x="71438" y="15992"/>
                      <a:pt x="71438" y="35719"/>
                    </a:cubicBez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lnTo>
                      <a:pt x="36" y="34169"/>
                    </a:lnTo>
                    <a:cubicBezTo>
                      <a:pt x="866" y="15063"/>
                      <a:pt x="16596" y="1"/>
                      <a:pt x="35719" y="0"/>
                    </a:cubicBezTo>
                    <a:close/>
                  </a:path>
                </a:pathLst>
              </a:custGeom>
              <a:solidFill>
                <a:srgbClr val="9AA0A6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03219" y="5643562"/>
                <a:ext cx="10001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57150">
                    <a:moveTo>
                      <a:pt x="64294" y="0"/>
                    </a:moveTo>
                    <a:cubicBezTo>
                      <a:pt x="84021" y="0"/>
                      <a:pt x="100012" y="15992"/>
                      <a:pt x="100012" y="35719"/>
                    </a:cubicBezTo>
                    <a:lnTo>
                      <a:pt x="100012" y="42862"/>
                    </a:lnTo>
                    <a:cubicBezTo>
                      <a:pt x="100012" y="50753"/>
                      <a:pt x="93616" y="57150"/>
                      <a:pt x="85725" y="57150"/>
                    </a:cubicBezTo>
                    <a:lnTo>
                      <a:pt x="14288" y="57150"/>
                    </a:lnTo>
                    <a:cubicBezTo>
                      <a:pt x="6397" y="57150"/>
                      <a:pt x="0" y="50753"/>
                      <a:pt x="0" y="42862"/>
                    </a:cubicBezTo>
                    <a:lnTo>
                      <a:pt x="0" y="35719"/>
                    </a:lnTo>
                    <a:cubicBezTo>
                      <a:pt x="0" y="15992"/>
                      <a:pt x="15992" y="0"/>
                      <a:pt x="35719" y="0"/>
                    </a:cubicBezTo>
                    <a:lnTo>
                      <a:pt x="64294" y="0"/>
                    </a:lnTo>
                    <a:close/>
                  </a:path>
                </a:pathLst>
              </a:custGeom>
              <a:solidFill>
                <a:srgbClr val="9AA0A6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02768" y="5562124"/>
              <a:ext cx="2167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0A6"/>
                  </a:solidFill>
                  <a:latin typeface="Consolas"/>
                  <a:ea typeface="Microsoft YaHei"/>
                  <a:cs typeface="Consolas"/>
                </a:rPr>
                <a:t>YC Chen · ychchen@amazon.com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4907721" y="6483191"/>
            <a:ext cx="23765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本 PPT 由 ppt-master 工作流生成 · 19 / 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