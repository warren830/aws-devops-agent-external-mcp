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各位下午好。今天分享的题目是用 MCP 加 Skill 把 DevOps Agent 的 6C 能力扩展到任何外部资源。这个项目我用中国区做了一套完整 demo 把 pattern 验证下来——目的是给在座的 SA 一份可以直接拿去客户面前讲的资产。我会先讲清楚客户咨询时常碰到的扩展场景，再讲 MCP 加 Skill 的三层职责怎么分工，最后用三个真实跑通的 case 给大家看证据。整个分享大概二十五到三十分钟。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我们先看 SA 日常会被问到的真问题。客户问"能不能用 DevOps Agent 管 X"——X 是中国区、阿里云、自建 K8s、内部 SaaS 还是 Salesforce / Jira / 自研 CMDB——所有这些都不在 native association 范围之内。这一类问题的统一解法都是 MCP 扩展点。中国区只是其中一个具体场景，今天用它做证据，但模式可以直接套到其他任何外部资源。顺便提一下，今天会反复提到 6C 框架——这是 AWS DevOps Blog 三月那篇 Leverage Agentic AI 的术语，下一页有个速查表给大家对一下。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这个项目交付三件可复用的资产。第一是参考架构——基于 EKS 的 MCP Bridge 加 VPC Lattice Private Connection，整套 Helm chart 客户可以直接用。第二是九个 Skill 模板——按 Foundation 加 Analytical 加 Pipeline 三层组织，客户加自己的领域知识只要套这个模式。第三是三个完整 case 演示——客户 POC 现成素材。中间这个九十八，是 C2 那个 case 里 Agent 一次调查通过 MCP 扩展点调到的 tool call 数——说明 6C 全能力都能走这条路。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往大了讲，现在很多客户都不只跑一朵云。我们这个 demo 涉及三朵云、六个账号——AWS 全球区一个主账号承载 Agent Space，AWS 中国区两个账号承载真实业务，剩下还有阿里云和 GCP 在仓库里有占位。所有 spoke 都用同一个 Bridge 模板接入——客户的混合云接入计划可以直接复用。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简单过一下 6C 框架免得后面频繁提到大家对不上。Context 是上下文和拓扑智能——多源在一次调查里同时关联。Control 是治理和审计——细粒度 IAM 加不可篡改的 audit log。Convenience 是便利性——Agent Space 一处配置全员可用。Collaboration 是协作——告警进来 agent 直接接管，Slack 工单自动协调。Continuous Learning 是持续学习——Skill 三层加学到的 skill。Cost Effective 是成本——按 agent-second 计费，闲时不算钱。下面三个 case 我会分别映射到不同的 C——C1 验证 Collaboration 加 Convenience，C2 验证 Context，C3 验证 Continuous Learning 加 Control。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回到核心架构。Hub 是 us-east-1 EKS 上跑的 MCP server pods，由 Agent Space 通过 VPC Lattice Private Connection 调用。两条 Spoke 分别接到中国区两个账号，每个 MCP pod 自己持有该账号的 AK/SK，安全边界与 Agent 完全解耦。客户要加阿里云、加自建 K8s，加一条 Spoke 就行——同一个 Bridge 模板。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这一页是直接证据。Agent 在它的内部 thinking 字段里直接写："China accounts aren't directly in the enabled associations; instead they're accessed through the custom MCP servers"——也就是它会主动从 association 列表读到自定义 MCP，然后自己决定路由，不需要 query hint。这句话有三个含义：第一，Agent 主动识别扩展点；第二，Skill 帮它选择正确的 MCP——routing skill 告诉它 aws-cn 对应宁夏、aws-cn-2 对应北京；第三，每一次调用都被 MCP server 的 access log 完整记录下来——合规可证。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讲完 Bridge 是能力层，再来看 Skill 是策略层。一共九个 Skill，分三层。底下 Foundation 层是路由表——告诉 Agent 哪个账号对应哪个 MCP——所有上层 Skill 都隐式依赖它。中间分析层和 Pipeline 层，分析层在用户主动 query 时激活，Pipeline 层 webhook 触发时按 triage 到 rca 到 mitigation 顺序串起来。最上面那个 cn-partition-arn-routing 是补 Agent 在 partition 上的领域盲点。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这页给 SA 一个清晰的答疑模板——客户经常把 Webhook、MCP、Skill 这三件事混淆。Webhook 是入口，把告警拉过来变成 incident，没有它 Agent 自主调查无从触发。MCP 是能力，提供 Agent 调用外部资源的工具，没有它 Agent 看不到 native association 之外的资源。Skill 是策略，告诉 Agent 什么场景调什么、怎么组织输出、加锁审核协议，没有它调查质量大约从百分之三十降到百分之六十的差距。三件事各管各的，缺一不可。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Part 4 进入三个真实 case。第一个 case 验证的是 6C 里的 Collaboration 和 Convenience——webhook 触发后九十秒内 Agent 全程接管，给出 RCA 和 Mitigation Plan，并在 Slack 自动投递。整个过程零人工 query。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具体看 C1 的流程。我们注入 L6 故障——把 EKS deployment 的 image tag 改成不存在的 v1.2.4-DOES-NOT-EXIST。三十秒内 Pod 进入 ImagePullBackOff，九十秒 CloudWatch 告警跳到 ALARM，触发 SNS 推到 Bridge Lambda，Lambda HMAC 签名 POST 到 webhook，得到二百 OK。Agent 立刻接管，跑了十五步调查，给出 RCA 和四阶段 Mitigation 方案。最后一步，每条 Mitigation 命令都带 rollback 和 approval prompt，等用户单步授权才执行——这是 Skill 锁死的 Approval Contract，抗语义漂移。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C1 的证据看这页。左上 kubectl 终端显示三个 Running 加一个 ImagePullBackOff。右上 CloudWatch 告警状态条从绿色翻红色。左下 RCA 报告引用了具体的 image tag。右下 Slack 频道里 Agent 自主投递了 Investigation started 通知，时间戳十二点十七分。整个链路真实跑通——客户 POC 直接用这套截图就能讲。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 case 验证的是 6C 里的 Context——拓扑加跨源关联。关键词是"精确到秒"——Agent 把 ALB p99 突变点锚到一个 k8s pod 的创建时间，时间戳是 05:19:19Z，跟 metric 跳变点完全吻合。同时它平行跑了五个 sub-agent 并行查 ALB、EKS、RDS、CloudTrail、Pod logs，给出三个根因加六个观察项。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C2 的关键数据看这页。症状是 ALB p99 超阈值；时间锚定是 c2-load-gen Pod 在 05:19:19Z 创建，跟 p99 从三百三十毫秒突变到七百四十毫秒的时间点精确吻合——这个"精确吻合"是 Agent 自己写在 RCA 里的话；根因是合成负载二万六千 req/min 加 RDS db.t3.micro CPU 百分百饱和加上 users.search 走全表扫描。右边那张大图就是 Agent 写的 RCA 全文，调用了五个 sub-agent，总共九十八次 tool call。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 Agent 自主调度模式的可观测证据。我们抓了 mcp-aws-cn-2 这个 pod 的 access log，把 C2 调查窗口里的所有 tool call 列出来——三十六次 cloudwatch get-metric、二十次 logs start-query、十一次 cloudtrail lookup-events、三次 eks describe-cluster，等等，总共九十八次。这个分布说明 Agent 既会反复查同一个 metric 的多个时间窗，也会跨 service 比对变更——深度和广度兼顾。客户问"Agent 调查时到底干了什么"，这就是答案模板。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 case 验证的是 6C 里的 Continuous Learning 和 Control，跑在中国区第二个账号——宁夏。这个 case 的另一个意义是验证 pattern 在第二个账号上同样跑通。关键词是"四跳追溯"——Agent 沿着 DDB 到 SQS 到 ECS 再到 CloudTrail 一路向上溯源到根因。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具体看四跳怎么跳的。第一跳 Agent 调 dynamodb describe-table，看到表是 PROVISIONED 五 WCU——它就问"为啥不是按需"，往上溯。第二跳 SQS get-queue-attributes，看到一万四千多条消息积压——再问"谁在写消息"。第三跳 ECS describe-services，发现 desiredCount 从一扩到了五——继续问"谁改的、什么时候"。第四跳 CloudTrail lookup-events，找到了我自己执行 inject 脚本时的那次 ModifyTable 操作，时间戳 07:18:17Z，user-agent 是 ClaudeCode-BH。最酷的是 Agent 通过 user-agent 字段区分了"Terraform 创建"和"手动 CLI 变更"，还主动检查了 application-autoscaling 是不是配了兜底——这是 Continuous Learning 的体现。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 Agent 自己写的根本原因。它说："AdminCYC 在 2026-05-14T07:18:17Z 通过 AWS CLI ClaudeCode-BH 将 etl-state DynamoDB 表的计费模式从 PAY_PER_REQUEST 手动变更为 PROVISIONED 模式仅设置了 5 WCU 的写入容量。CloudTrail 记录显示该表最初由 Terraform 以按需模式创建，2026-05-13T15:07:50Z，不存在节流风险。" 注意它怎么区分了两个时间点：一个是 Terraform 的初始创建，一个是后来的手动变更。这种区分能力就是 6C 框架里 Continuous Learning 的落地——Agent 自己想到去看 user-agent 字段。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 case 对照看。C1 验证 Collaboration 和 Convenience——webhook 自主，五个 sub-agent，十二分钟出 RCA。C2 验证 Context——五数据源关联加时间锚定到秒，九十八次 tool call，九分四十九秒出 RCA。C3 验证 Continuous Learning 和 Control——四跳追溯加区分变更源加主动检查兜底，十四次 tool call，十三分钟收官。三个 case 跑在不同账号、不同资源类型、不同故障类型——同一套 Bridge 加 Skill 模板，全跑通。Pattern 可移植到任何 cloud、任何客户。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总结一下 SA 怎么用这个项目。第一是 POC 现成素材——三个 case 截图加演讲稿加终端命令直接拿去客户面前讲，十五分钟搭起 demo 环境。第二是参考架构与代码——Bridge Pattern 的 Helm chart、九个 SKILL.md 模板、Webhook bridge Lambda 代码全部开源在 GitHub。第三是扩展场景——阿里云、腾讯云、客户内部 API、on-prem K8s、私有 SaaS，同一套 Bridge pattern 加一条 Spoke 就行。仓库地址在 GitHub warren830 那里，欢迎 issue 和 PR。谢谢大家，问题随时来。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8b6794c671721e0.png"/>
  <Relationship Id="rId3" Type="http://schemas.openxmlformats.org/officeDocument/2006/relationships/image" Target="../media/image_775c010ac32780a6.png"/>
  <Relationship Id="rId4" Type="http://schemas.openxmlformats.org/officeDocument/2006/relationships/image" Target="../media/image_27d47a9b676dedbc.png"/>
  <Relationship Id="rId5" Type="http://schemas.openxmlformats.org/officeDocument/2006/relationships/image" Target="../media/image_f14c7f7ef605b8ed.png"/>
  <Relationship Id="rId6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5ce27b0b5a512f0f.pn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5e4b48db6cdb47c3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f9141be11ebb9bd3.png"/>
  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35a8de74ce2fbba.png"/>
  <Relationship Id="rId3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41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C0">
                    <a:alpha val="32000"/>
                  </a:srgbClr>
                </a:gs>
                <a:gs pos="100000">
                  <a:srgbClr val="1565C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F9800">
                    <a:alpha val="18000"/>
                  </a:srgbClr>
                </a:gs>
                <a:gs pos="100000">
                  <a:srgbClr val="FF98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71500" y="1128712"/>
            <a:ext cx="11049000" cy="5167313"/>
            <a:chOff x="571500" y="1128712"/>
            <a:chExt cx="11049000" cy="5167313"/>
          </a:xfrm>
        </p:grpSpPr>
        <p:sp>
          <p:nvSpPr>
            <p:cNvPr id="6" name="Ellipse 6"/>
            <p:cNvSpPr/>
            <p:nvPr/>
          </p:nvSpPr>
          <p:spPr>
            <a:xfrm>
              <a:off x="1695450" y="1504950"/>
              <a:ext cx="38100" cy="38100"/>
            </a:xfrm>
            <a:prstGeom prst="ellipse">
              <a:avLst/>
            </a:prstGeom>
            <a:solidFill>
              <a:srgbClr val="42A5F5">
                <a:alpha val="60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458450" y="1885950"/>
              <a:ext cx="38100" cy="38100"/>
            </a:xfrm>
            <a:prstGeom prst="ellipse">
              <a:avLst/>
            </a:prstGeom>
            <a:solidFill>
              <a:srgbClr val="FF9800">
                <a:alpha val="5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220450" y="5124450"/>
              <a:ext cx="38100" cy="38100"/>
            </a:xfrm>
            <a:prstGeom prst="ellipse">
              <a:avLst/>
            </a:prstGeom>
            <a:solidFill>
              <a:srgbClr val="42A5F5">
                <a:alpha val="5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081212" y="5700712"/>
              <a:ext cx="28575" cy="28575"/>
            </a:xfrm>
            <a:prstGeom prst="ellipse">
              <a:avLst/>
            </a:prstGeom>
            <a:solidFill>
              <a:srgbClr val="FF9800">
                <a:alpha val="6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558212" y="1128712"/>
              <a:ext cx="28575" cy="28575"/>
            </a:xfrm>
            <a:prstGeom prst="ellipse">
              <a:avLst/>
            </a:prstGeom>
            <a:solidFill>
              <a:srgbClr val="42A5F5">
                <a:alpha val="40000"/>
              </a:srgbClr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571500" y="6286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1565C0">
                  <a:alpha val="5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0096500" y="6286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1565C0">
                  <a:alpha val="50000"/>
                </a:srgbClr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71500" y="1619250"/>
            <a:ext cx="4565540" cy="385762"/>
            <a:chOff x="571500" y="1619250"/>
            <a:chExt cx="4565540" cy="385762"/>
          </a:xfrm>
        </p:grpSpPr>
        <p:sp>
          <p:nvSpPr>
            <p:cNvPr id="14" name="Rectangle 14"/>
            <p:cNvSpPr/>
            <p:nvPr/>
          </p:nvSpPr>
          <p:spPr>
            <a:xfrm>
              <a:off x="571500" y="1619250"/>
              <a:ext cx="57150" cy="342900"/>
            </a:xfrm>
            <a:prstGeom prst="roundRect">
              <a:avLst>
                <a:gd name="adj" fmla="val 33333"/>
              </a:avLst>
            </a:prstGeom>
            <a:gradFill>
              <a:gsLst>
                <a:gs pos="0">
                  <a:srgbClr val="FF9800"/>
                </a:gs>
                <a:gs pos="100000">
                  <a:srgbClr val="FFB74D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4855" y="1730692"/>
              <a:ext cx="43921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AWS DEVOPS AGENT · MCP EXTENSION PATTERN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14350" y="2276475"/>
            <a:ext cx="7291197" cy="1676400"/>
            <a:chOff x="514350" y="2276475"/>
            <a:chExt cx="7291197" cy="1676400"/>
          </a:xfrm>
        </p:grpSpPr>
        <p:sp>
          <p:nvSpPr>
            <p:cNvPr id="17" name="TextBox 17"/>
            <p:cNvSpPr txBox="1"/>
            <p:nvPr/>
          </p:nvSpPr>
          <p:spPr>
            <a:xfrm>
              <a:off x="514350" y="2276475"/>
              <a:ext cx="5358956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用 MCP + Skill 把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4350" y="3038475"/>
              <a:ext cx="7291197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gradFill>
                    <a:gsLst>
                      <a:gs pos="0">
                        <a:srgbClr val="1565C0"/>
                      </a:gs>
                      <a:gs pos="100000">
                        <a:srgbClr val="42A5F5"/>
                      </a:gs>
                    </a:gsLst>
                    <a:lin ang="0" scaled="1"/>
                  </a:gradFill>
                  <a:latin typeface="Arial"/>
                  <a:ea typeface="SimHei"/>
                  <a:cs typeface="Arial"/>
                </a:rPr>
                <a:t>6C 扩展到任何外部资源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46735" y="4048125"/>
            <a:ext cx="7739062" cy="566737"/>
            <a:chOff x="546735" y="4048125"/>
            <a:chExt cx="7739062" cy="566737"/>
          </a:xfrm>
        </p:grpSpPr>
        <p:sp>
          <p:nvSpPr>
            <p:cNvPr id="20" name="Line 20"/>
            <p:cNvSpPr/>
            <p:nvPr/>
          </p:nvSpPr>
          <p:spPr>
            <a:xfrm>
              <a:off x="571500" y="4048125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8575">
              <a:solidFill>
                <a:srgbClr val="1565C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46735" y="4218622"/>
              <a:ext cx="773906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面向 SA 的可复用资产 — 用中国区做完整 demo 验证 pattern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56260" y="5966460"/>
            <a:ext cx="11079480" cy="477202"/>
            <a:chOff x="556260" y="5966460"/>
            <a:chExt cx="11079480" cy="477202"/>
          </a:xfrm>
        </p:grpSpPr>
        <p:sp>
          <p:nvSpPr>
            <p:cNvPr id="23" name="TextBox 23"/>
            <p:cNvSpPr txBox="1"/>
            <p:nvPr/>
          </p:nvSpPr>
          <p:spPr>
            <a:xfrm>
              <a:off x="556260" y="5966460"/>
              <a:ext cx="6929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YC Chen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8165" y="62303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AWS · 内部技术评审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896771" y="5966460"/>
              <a:ext cx="7389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2026.05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55971" y="6238399"/>
              <a:ext cx="1576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v1.0 · 3 cases verified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22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7210" y="476250"/>
            <a:ext cx="9571068" cy="1162050"/>
            <a:chOff x="537210" y="476250"/>
            <a:chExt cx="9571068" cy="116205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客户场景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957106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客户问的真问题：</a:t>
              </a:r>
              <a:r>
                <a:rPr lang="zh-CN" sz="27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能不能用 DevOps Agent 管</a:t>
              </a:r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 xml:space="preserve"> ___ ?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394460"/>
              <a:ext cx="66728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中国区 / 阿里云 / 自托管 K8s / 私有 SaaS API — 这些都在原生 association 范围之外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1905000"/>
            <a:ext cx="5381625" cy="4095750"/>
            <a:chOff x="571500" y="1905000"/>
            <a:chExt cx="5381625" cy="4095750"/>
          </a:xfrm>
        </p:grpSpPr>
        <p:sp>
          <p:nvSpPr>
            <p:cNvPr id="8" name="Rectangle 8"/>
            <p:cNvSpPr/>
            <p:nvPr/>
          </p:nvSpPr>
          <p:spPr>
            <a:xfrm>
              <a:off x="571500" y="1905000"/>
              <a:ext cx="5381625" cy="4095750"/>
            </a:xfrm>
            <a:prstGeom prst="roundRect">
              <a:avLst>
                <a:gd name="adj" fmla="val 3256"/>
              </a:avLst>
            </a:prstGeom>
            <a:solidFill>
              <a:srgbClr val="1A2332"/>
            </a:solidFill>
            <a:ln w="9525">
              <a:solidFill>
                <a:srgbClr val="2D3748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905000"/>
              <a:ext cx="5381625" cy="476250"/>
            </a:xfrm>
            <a:prstGeom prst="roundRect">
              <a:avLst>
                <a:gd name="adj" fmla="val 28000"/>
              </a:avLst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2286000"/>
              <a:ext cx="5381625" cy="95250"/>
            </a:xfrm>
            <a:prstGeom prst="rect">
              <a:avLst/>
            </a:prstGeom>
            <a:solidFill>
              <a:srgbClr val="1A233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72319" y="2056840"/>
              <a:ext cx="227012" cy="158558"/>
            </a:xfrm>
            <a:custGeom>
              <a:avLst/>
              <a:gdLst/>
              <a:ahLst/>
              <a:cxnLst/>
              <a:rect l="l" t="t" r="r" b="b"/>
              <a:pathLst>
                <a:path w="227012" h="158558">
                  <a:moveTo>
                    <a:pt x="93282" y="6883"/>
                  </a:moveTo>
                  <a:cubicBezTo>
                    <a:pt x="115931" y="0"/>
                    <a:pt x="140903" y="4571"/>
                    <a:pt x="158909" y="19017"/>
                  </a:cubicBezTo>
                  <a:cubicBezTo>
                    <a:pt x="173211" y="30451"/>
                    <a:pt x="181486" y="46734"/>
                    <a:pt x="182147" y="63801"/>
                  </a:cubicBezTo>
                  <a:lnTo>
                    <a:pt x="182178" y="65988"/>
                  </a:lnTo>
                  <a:lnTo>
                    <a:pt x="183117" y="66019"/>
                  </a:lnTo>
                  <a:cubicBezTo>
                    <a:pt x="206850" y="67123"/>
                    <a:pt x="225867" y="86254"/>
                    <a:pt x="226971" y="110080"/>
                  </a:cubicBezTo>
                  <a:lnTo>
                    <a:pt x="227012" y="112258"/>
                  </a:lnTo>
                  <a:cubicBezTo>
                    <a:pt x="227012" y="137095"/>
                    <a:pt x="207562" y="157371"/>
                    <a:pt x="183106" y="158506"/>
                  </a:cubicBezTo>
                  <a:lnTo>
                    <a:pt x="180939" y="158558"/>
                  </a:lnTo>
                  <a:lnTo>
                    <a:pt x="58373" y="158558"/>
                  </a:lnTo>
                  <a:lnTo>
                    <a:pt x="56082" y="158475"/>
                  </a:lnTo>
                  <a:cubicBezTo>
                    <a:pt x="25745" y="157340"/>
                    <a:pt x="1218" y="133721"/>
                    <a:pt x="52" y="104168"/>
                  </a:cubicBezTo>
                  <a:lnTo>
                    <a:pt x="0" y="101939"/>
                  </a:lnTo>
                  <a:cubicBezTo>
                    <a:pt x="0" y="73593"/>
                    <a:pt x="21463" y="50242"/>
                    <a:pt x="49365" y="46042"/>
                  </a:cubicBezTo>
                  <a:lnTo>
                    <a:pt x="50541" y="45877"/>
                  </a:lnTo>
                  <a:lnTo>
                    <a:pt x="51264" y="44009"/>
                  </a:lnTo>
                  <a:cubicBezTo>
                    <a:pt x="58105" y="27293"/>
                    <a:pt x="72479" y="14023"/>
                    <a:pt x="90774" y="7708"/>
                  </a:cubicBezTo>
                  <a:lnTo>
                    <a:pt x="93292" y="6883"/>
                  </a:lnTo>
                  <a:close/>
                </a:path>
              </a:pathLst>
            </a:custGeom>
            <a:solidFill>
              <a:srgbClr val="42A5F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85850" y="2047875"/>
              <a:ext cx="17288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Native 已支持的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814388" y="2664142"/>
              <a:ext cx="2694717" cy="274320"/>
              <a:chOff x="814388" y="2664142"/>
              <a:chExt cx="2694717" cy="27432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14388" y="2678088"/>
                <a:ext cx="150233" cy="150479"/>
              </a:xfrm>
              <a:custGeom>
                <a:avLst/>
                <a:gdLst/>
                <a:ahLst/>
                <a:cxnLst/>
                <a:rect l="l" t="t" r="r" b="b"/>
                <a:pathLst>
                  <a:path w="150233" h="150479">
                    <a:moveTo>
                      <a:pt x="107156" y="12773"/>
                    </a:moveTo>
                    <a:cubicBezTo>
                      <a:pt x="136927" y="29962"/>
                      <a:pt x="150233" y="65918"/>
                      <a:pt x="138824" y="98346"/>
                    </a:cubicBezTo>
                    <a:cubicBezTo>
                      <a:pt x="127416" y="130775"/>
                      <a:pt x="94528" y="150479"/>
                      <a:pt x="60552" y="145242"/>
                    </a:cubicBezTo>
                    <a:cubicBezTo>
                      <a:pt x="26577" y="140004"/>
                      <a:pt x="1149" y="111311"/>
                      <a:pt x="36" y="76952"/>
                    </a:cubicBezTo>
                    <a:lnTo>
                      <a:pt x="0" y="74637"/>
                    </a:lnTo>
                    <a:lnTo>
                      <a:pt x="36" y="72323"/>
                    </a:lnTo>
                    <a:cubicBezTo>
                      <a:pt x="850" y="47227"/>
                      <a:pt x="14779" y="24400"/>
                      <a:pt x="36725" y="12200"/>
                    </a:cubicBezTo>
                    <a:cubicBezTo>
                      <a:pt x="58671" y="0"/>
                      <a:pt x="85411" y="217"/>
                      <a:pt x="107156" y="12773"/>
                    </a:cubicBezTo>
                    <a:close/>
                    <a:moveTo>
                      <a:pt x="97919" y="55299"/>
                    </a:moveTo>
                    <a:cubicBezTo>
                      <a:pt x="95374" y="52754"/>
                      <a:pt x="91333" y="52500"/>
                      <a:pt x="88490" y="54706"/>
                    </a:cubicBezTo>
                    <a:lnTo>
                      <a:pt x="87818" y="55299"/>
                    </a:lnTo>
                    <a:lnTo>
                      <a:pt x="64294" y="78817"/>
                    </a:lnTo>
                    <a:lnTo>
                      <a:pt x="55057" y="69587"/>
                    </a:lnTo>
                    <a:lnTo>
                      <a:pt x="54385" y="68994"/>
                    </a:lnTo>
                    <a:cubicBezTo>
                      <a:pt x="51541" y="66790"/>
                      <a:pt x="47502" y="67044"/>
                      <a:pt x="44957" y="69589"/>
                    </a:cubicBezTo>
                    <a:cubicBezTo>
                      <a:pt x="42413" y="72133"/>
                      <a:pt x="42158" y="76173"/>
                      <a:pt x="44363" y="79017"/>
                    </a:cubicBezTo>
                    <a:lnTo>
                      <a:pt x="44956" y="79688"/>
                    </a:lnTo>
                    <a:lnTo>
                      <a:pt x="59243" y="93976"/>
                    </a:lnTo>
                    <a:lnTo>
                      <a:pt x="59915" y="94569"/>
                    </a:lnTo>
                    <a:cubicBezTo>
                      <a:pt x="62492" y="96568"/>
                      <a:pt x="66096" y="96568"/>
                      <a:pt x="68673" y="94569"/>
                    </a:cubicBezTo>
                    <a:lnTo>
                      <a:pt x="69344" y="93976"/>
                    </a:lnTo>
                    <a:lnTo>
                      <a:pt x="97919" y="65401"/>
                    </a:lnTo>
                    <a:lnTo>
                      <a:pt x="98512" y="64729"/>
                    </a:lnTo>
                    <a:cubicBezTo>
                      <a:pt x="100718" y="61885"/>
                      <a:pt x="100464" y="57844"/>
                      <a:pt x="97919" y="55299"/>
                    </a:cubicBezTo>
                    <a:close/>
                  </a:path>
                </a:pathLst>
              </a:cu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49655" y="2664142"/>
                <a:ext cx="245945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AWS 全球区账号 — 一键关联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814388" y="3188018"/>
              <a:ext cx="4193190" cy="274320"/>
              <a:chOff x="814388" y="3188018"/>
              <a:chExt cx="4193190" cy="27432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14388" y="3201963"/>
                <a:ext cx="150233" cy="150479"/>
              </a:xfrm>
              <a:custGeom>
                <a:avLst/>
                <a:gdLst/>
                <a:ahLst/>
                <a:cxnLst/>
                <a:rect l="l" t="t" r="r" b="b"/>
                <a:pathLst>
                  <a:path w="150233" h="150479">
                    <a:moveTo>
                      <a:pt x="107156" y="12773"/>
                    </a:moveTo>
                    <a:cubicBezTo>
                      <a:pt x="136927" y="29962"/>
                      <a:pt x="150233" y="65918"/>
                      <a:pt x="138824" y="98346"/>
                    </a:cubicBezTo>
                    <a:cubicBezTo>
                      <a:pt x="127416" y="130775"/>
                      <a:pt x="94528" y="150479"/>
                      <a:pt x="60552" y="145242"/>
                    </a:cubicBezTo>
                    <a:cubicBezTo>
                      <a:pt x="26577" y="140004"/>
                      <a:pt x="1149" y="111311"/>
                      <a:pt x="36" y="76952"/>
                    </a:cubicBezTo>
                    <a:lnTo>
                      <a:pt x="0" y="74637"/>
                    </a:lnTo>
                    <a:lnTo>
                      <a:pt x="36" y="72323"/>
                    </a:lnTo>
                    <a:cubicBezTo>
                      <a:pt x="850" y="47227"/>
                      <a:pt x="14779" y="24400"/>
                      <a:pt x="36725" y="12200"/>
                    </a:cubicBezTo>
                    <a:cubicBezTo>
                      <a:pt x="58671" y="0"/>
                      <a:pt x="85411" y="217"/>
                      <a:pt x="107156" y="12773"/>
                    </a:cubicBezTo>
                    <a:close/>
                    <a:moveTo>
                      <a:pt x="97919" y="55299"/>
                    </a:moveTo>
                    <a:cubicBezTo>
                      <a:pt x="95374" y="52754"/>
                      <a:pt x="91333" y="52500"/>
                      <a:pt x="88490" y="54706"/>
                    </a:cubicBezTo>
                    <a:lnTo>
                      <a:pt x="87818" y="55299"/>
                    </a:lnTo>
                    <a:lnTo>
                      <a:pt x="64294" y="78817"/>
                    </a:lnTo>
                    <a:lnTo>
                      <a:pt x="55057" y="69587"/>
                    </a:lnTo>
                    <a:lnTo>
                      <a:pt x="54385" y="68994"/>
                    </a:lnTo>
                    <a:cubicBezTo>
                      <a:pt x="51541" y="66790"/>
                      <a:pt x="47502" y="67044"/>
                      <a:pt x="44957" y="69589"/>
                    </a:cubicBezTo>
                    <a:cubicBezTo>
                      <a:pt x="42413" y="72133"/>
                      <a:pt x="42158" y="76173"/>
                      <a:pt x="44363" y="79017"/>
                    </a:cubicBezTo>
                    <a:lnTo>
                      <a:pt x="44956" y="79688"/>
                    </a:lnTo>
                    <a:lnTo>
                      <a:pt x="59243" y="93976"/>
                    </a:lnTo>
                    <a:lnTo>
                      <a:pt x="59915" y="94569"/>
                    </a:lnTo>
                    <a:cubicBezTo>
                      <a:pt x="62492" y="96568"/>
                      <a:pt x="66096" y="96568"/>
                      <a:pt x="68673" y="94569"/>
                    </a:cubicBezTo>
                    <a:lnTo>
                      <a:pt x="69344" y="93976"/>
                    </a:lnTo>
                    <a:lnTo>
                      <a:pt x="97919" y="65401"/>
                    </a:lnTo>
                    <a:lnTo>
                      <a:pt x="98512" y="64729"/>
                    </a:lnTo>
                    <a:cubicBezTo>
                      <a:pt x="100718" y="61885"/>
                      <a:pt x="100464" y="57844"/>
                      <a:pt x="97919" y="55299"/>
                    </a:cubicBezTo>
                    <a:close/>
                  </a:path>
                </a:pathLst>
              </a:cu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49655" y="3188018"/>
                <a:ext cx="395792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CloudWatch / Splunk / Datadog / NewRelic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814388" y="3711892"/>
              <a:ext cx="3217211" cy="274320"/>
              <a:chOff x="814388" y="3711892"/>
              <a:chExt cx="3217211" cy="27432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14388" y="3725838"/>
                <a:ext cx="150233" cy="150479"/>
              </a:xfrm>
              <a:custGeom>
                <a:avLst/>
                <a:gdLst/>
                <a:ahLst/>
                <a:cxnLst/>
                <a:rect l="l" t="t" r="r" b="b"/>
                <a:pathLst>
                  <a:path w="150233" h="150479">
                    <a:moveTo>
                      <a:pt x="107156" y="12773"/>
                    </a:moveTo>
                    <a:cubicBezTo>
                      <a:pt x="136927" y="29962"/>
                      <a:pt x="150233" y="65918"/>
                      <a:pt x="138824" y="98346"/>
                    </a:cubicBezTo>
                    <a:cubicBezTo>
                      <a:pt x="127416" y="130775"/>
                      <a:pt x="94528" y="150479"/>
                      <a:pt x="60552" y="145242"/>
                    </a:cubicBezTo>
                    <a:cubicBezTo>
                      <a:pt x="26577" y="140004"/>
                      <a:pt x="1149" y="111311"/>
                      <a:pt x="36" y="76952"/>
                    </a:cubicBezTo>
                    <a:lnTo>
                      <a:pt x="0" y="74637"/>
                    </a:lnTo>
                    <a:lnTo>
                      <a:pt x="36" y="72323"/>
                    </a:lnTo>
                    <a:cubicBezTo>
                      <a:pt x="850" y="47227"/>
                      <a:pt x="14779" y="24400"/>
                      <a:pt x="36725" y="12200"/>
                    </a:cubicBezTo>
                    <a:cubicBezTo>
                      <a:pt x="58671" y="0"/>
                      <a:pt x="85411" y="217"/>
                      <a:pt x="107156" y="12773"/>
                    </a:cubicBezTo>
                    <a:close/>
                    <a:moveTo>
                      <a:pt x="97919" y="55299"/>
                    </a:moveTo>
                    <a:cubicBezTo>
                      <a:pt x="95374" y="52754"/>
                      <a:pt x="91333" y="52500"/>
                      <a:pt x="88490" y="54706"/>
                    </a:cubicBezTo>
                    <a:lnTo>
                      <a:pt x="87818" y="55299"/>
                    </a:lnTo>
                    <a:lnTo>
                      <a:pt x="64294" y="78817"/>
                    </a:lnTo>
                    <a:lnTo>
                      <a:pt x="55057" y="69587"/>
                    </a:lnTo>
                    <a:lnTo>
                      <a:pt x="54385" y="68994"/>
                    </a:lnTo>
                    <a:cubicBezTo>
                      <a:pt x="51541" y="66790"/>
                      <a:pt x="47502" y="67044"/>
                      <a:pt x="44957" y="69589"/>
                    </a:cubicBezTo>
                    <a:cubicBezTo>
                      <a:pt x="42413" y="72133"/>
                      <a:pt x="42158" y="76173"/>
                      <a:pt x="44363" y="79017"/>
                    </a:cubicBezTo>
                    <a:lnTo>
                      <a:pt x="44956" y="79688"/>
                    </a:lnTo>
                    <a:lnTo>
                      <a:pt x="59243" y="93976"/>
                    </a:lnTo>
                    <a:lnTo>
                      <a:pt x="59915" y="94569"/>
                    </a:lnTo>
                    <a:cubicBezTo>
                      <a:pt x="62492" y="96568"/>
                      <a:pt x="66096" y="96568"/>
                      <a:pt x="68673" y="94569"/>
                    </a:cubicBezTo>
                    <a:lnTo>
                      <a:pt x="69344" y="93976"/>
                    </a:lnTo>
                    <a:lnTo>
                      <a:pt x="97919" y="65401"/>
                    </a:lnTo>
                    <a:lnTo>
                      <a:pt x="98512" y="64729"/>
                    </a:lnTo>
                    <a:cubicBezTo>
                      <a:pt x="100718" y="61885"/>
                      <a:pt x="100464" y="57844"/>
                      <a:pt x="97919" y="55299"/>
                    </a:cubicBezTo>
                    <a:close/>
                  </a:path>
                </a:pathLst>
              </a:cu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49655" y="3711892"/>
                <a:ext cx="298194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GitHub / GitLab / Azure DevOps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14388" y="4235768"/>
              <a:ext cx="3266503" cy="274320"/>
              <a:chOff x="814388" y="4235768"/>
              <a:chExt cx="3266503" cy="27432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14388" y="4249713"/>
                <a:ext cx="150233" cy="150479"/>
              </a:xfrm>
              <a:custGeom>
                <a:avLst/>
                <a:gdLst/>
                <a:ahLst/>
                <a:cxnLst/>
                <a:rect l="l" t="t" r="r" b="b"/>
                <a:pathLst>
                  <a:path w="150233" h="150479">
                    <a:moveTo>
                      <a:pt x="107156" y="12773"/>
                    </a:moveTo>
                    <a:cubicBezTo>
                      <a:pt x="136927" y="29962"/>
                      <a:pt x="150233" y="65918"/>
                      <a:pt x="138824" y="98346"/>
                    </a:cubicBezTo>
                    <a:cubicBezTo>
                      <a:pt x="127416" y="130775"/>
                      <a:pt x="94528" y="150479"/>
                      <a:pt x="60552" y="145242"/>
                    </a:cubicBezTo>
                    <a:cubicBezTo>
                      <a:pt x="26577" y="140004"/>
                      <a:pt x="1149" y="111311"/>
                      <a:pt x="36" y="76952"/>
                    </a:cubicBezTo>
                    <a:lnTo>
                      <a:pt x="0" y="74637"/>
                    </a:lnTo>
                    <a:lnTo>
                      <a:pt x="36" y="72323"/>
                    </a:lnTo>
                    <a:cubicBezTo>
                      <a:pt x="850" y="47227"/>
                      <a:pt x="14779" y="24400"/>
                      <a:pt x="36725" y="12200"/>
                    </a:cubicBezTo>
                    <a:cubicBezTo>
                      <a:pt x="58671" y="0"/>
                      <a:pt x="85411" y="217"/>
                      <a:pt x="107156" y="12773"/>
                    </a:cubicBezTo>
                    <a:close/>
                    <a:moveTo>
                      <a:pt x="97919" y="55299"/>
                    </a:moveTo>
                    <a:cubicBezTo>
                      <a:pt x="95374" y="52754"/>
                      <a:pt x="91333" y="52500"/>
                      <a:pt x="88490" y="54706"/>
                    </a:cubicBezTo>
                    <a:lnTo>
                      <a:pt x="87818" y="55299"/>
                    </a:lnTo>
                    <a:lnTo>
                      <a:pt x="64294" y="78817"/>
                    </a:lnTo>
                    <a:lnTo>
                      <a:pt x="55057" y="69587"/>
                    </a:lnTo>
                    <a:lnTo>
                      <a:pt x="54385" y="68994"/>
                    </a:lnTo>
                    <a:cubicBezTo>
                      <a:pt x="51541" y="66790"/>
                      <a:pt x="47502" y="67044"/>
                      <a:pt x="44957" y="69589"/>
                    </a:cubicBezTo>
                    <a:cubicBezTo>
                      <a:pt x="42413" y="72133"/>
                      <a:pt x="42158" y="76173"/>
                      <a:pt x="44363" y="79017"/>
                    </a:cubicBezTo>
                    <a:lnTo>
                      <a:pt x="44956" y="79688"/>
                    </a:lnTo>
                    <a:lnTo>
                      <a:pt x="59243" y="93976"/>
                    </a:lnTo>
                    <a:lnTo>
                      <a:pt x="59915" y="94569"/>
                    </a:lnTo>
                    <a:cubicBezTo>
                      <a:pt x="62492" y="96568"/>
                      <a:pt x="66096" y="96568"/>
                      <a:pt x="68673" y="94569"/>
                    </a:cubicBezTo>
                    <a:lnTo>
                      <a:pt x="69344" y="93976"/>
                    </a:lnTo>
                    <a:lnTo>
                      <a:pt x="97919" y="65401"/>
                    </a:lnTo>
                    <a:lnTo>
                      <a:pt x="98512" y="64729"/>
                    </a:lnTo>
                    <a:cubicBezTo>
                      <a:pt x="100718" y="61885"/>
                      <a:pt x="100464" y="57844"/>
                      <a:pt x="97919" y="55299"/>
                    </a:cubicBezTo>
                    <a:close/>
                  </a:path>
                </a:pathLst>
              </a:cu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49655" y="4235768"/>
                <a:ext cx="303123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Slack / PagerDuty / ServiceNow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814388" y="4759642"/>
              <a:ext cx="1265253" cy="274320"/>
              <a:chOff x="814388" y="4759642"/>
              <a:chExt cx="1265253" cy="27432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14388" y="4773588"/>
                <a:ext cx="150233" cy="150479"/>
              </a:xfrm>
              <a:custGeom>
                <a:avLst/>
                <a:gdLst/>
                <a:ahLst/>
                <a:cxnLst/>
                <a:rect l="l" t="t" r="r" b="b"/>
                <a:pathLst>
                  <a:path w="150233" h="150479">
                    <a:moveTo>
                      <a:pt x="107156" y="12773"/>
                    </a:moveTo>
                    <a:cubicBezTo>
                      <a:pt x="136927" y="29962"/>
                      <a:pt x="150233" y="65918"/>
                      <a:pt x="138824" y="98346"/>
                    </a:cubicBezTo>
                    <a:cubicBezTo>
                      <a:pt x="127416" y="130775"/>
                      <a:pt x="94528" y="150479"/>
                      <a:pt x="60552" y="145242"/>
                    </a:cubicBezTo>
                    <a:cubicBezTo>
                      <a:pt x="26577" y="140004"/>
                      <a:pt x="1149" y="111311"/>
                      <a:pt x="36" y="76952"/>
                    </a:cubicBezTo>
                    <a:lnTo>
                      <a:pt x="0" y="74637"/>
                    </a:lnTo>
                    <a:lnTo>
                      <a:pt x="36" y="72323"/>
                    </a:lnTo>
                    <a:cubicBezTo>
                      <a:pt x="850" y="47227"/>
                      <a:pt x="14779" y="24400"/>
                      <a:pt x="36725" y="12200"/>
                    </a:cubicBezTo>
                    <a:cubicBezTo>
                      <a:pt x="58671" y="0"/>
                      <a:pt x="85411" y="217"/>
                      <a:pt x="107156" y="12773"/>
                    </a:cubicBezTo>
                    <a:close/>
                    <a:moveTo>
                      <a:pt x="97919" y="55299"/>
                    </a:moveTo>
                    <a:cubicBezTo>
                      <a:pt x="95374" y="52754"/>
                      <a:pt x="91333" y="52500"/>
                      <a:pt x="88490" y="54706"/>
                    </a:cubicBezTo>
                    <a:lnTo>
                      <a:pt x="87818" y="55299"/>
                    </a:lnTo>
                    <a:lnTo>
                      <a:pt x="64294" y="78817"/>
                    </a:lnTo>
                    <a:lnTo>
                      <a:pt x="55057" y="69587"/>
                    </a:lnTo>
                    <a:lnTo>
                      <a:pt x="54385" y="68994"/>
                    </a:lnTo>
                    <a:cubicBezTo>
                      <a:pt x="51541" y="66790"/>
                      <a:pt x="47502" y="67044"/>
                      <a:pt x="44957" y="69589"/>
                    </a:cubicBezTo>
                    <a:cubicBezTo>
                      <a:pt x="42413" y="72133"/>
                      <a:pt x="42158" y="76173"/>
                      <a:pt x="44363" y="79017"/>
                    </a:cubicBezTo>
                    <a:lnTo>
                      <a:pt x="44956" y="79688"/>
                    </a:lnTo>
                    <a:lnTo>
                      <a:pt x="59243" y="93976"/>
                    </a:lnTo>
                    <a:lnTo>
                      <a:pt x="59915" y="94569"/>
                    </a:lnTo>
                    <a:cubicBezTo>
                      <a:pt x="62492" y="96568"/>
                      <a:pt x="66096" y="96568"/>
                      <a:pt x="68673" y="94569"/>
                    </a:cubicBezTo>
                    <a:lnTo>
                      <a:pt x="69344" y="93976"/>
                    </a:lnTo>
                    <a:lnTo>
                      <a:pt x="97919" y="65401"/>
                    </a:lnTo>
                    <a:lnTo>
                      <a:pt x="98512" y="64729"/>
                    </a:lnTo>
                    <a:cubicBezTo>
                      <a:pt x="100718" y="61885"/>
                      <a:pt x="100464" y="57844"/>
                      <a:pt x="97919" y="55299"/>
                    </a:cubicBezTo>
                    <a:close/>
                  </a:path>
                </a:pathLst>
              </a:cu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49655" y="4759642"/>
                <a:ext cx="10299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Azure 资源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14388" y="5283518"/>
              <a:ext cx="3148203" cy="274320"/>
              <a:chOff x="814388" y="5283518"/>
              <a:chExt cx="3148203" cy="27432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14388" y="5297463"/>
                <a:ext cx="150233" cy="150479"/>
              </a:xfrm>
              <a:custGeom>
                <a:avLst/>
                <a:gdLst/>
                <a:ahLst/>
                <a:cxnLst/>
                <a:rect l="l" t="t" r="r" b="b"/>
                <a:pathLst>
                  <a:path w="150233" h="150479">
                    <a:moveTo>
                      <a:pt x="107156" y="12773"/>
                    </a:moveTo>
                    <a:cubicBezTo>
                      <a:pt x="136927" y="29962"/>
                      <a:pt x="150233" y="65918"/>
                      <a:pt x="138824" y="98346"/>
                    </a:cubicBezTo>
                    <a:cubicBezTo>
                      <a:pt x="127416" y="130775"/>
                      <a:pt x="94528" y="150479"/>
                      <a:pt x="60552" y="145242"/>
                    </a:cubicBezTo>
                    <a:cubicBezTo>
                      <a:pt x="26577" y="140004"/>
                      <a:pt x="1149" y="111311"/>
                      <a:pt x="36" y="76952"/>
                    </a:cubicBezTo>
                    <a:lnTo>
                      <a:pt x="0" y="74637"/>
                    </a:lnTo>
                    <a:lnTo>
                      <a:pt x="36" y="72323"/>
                    </a:lnTo>
                    <a:cubicBezTo>
                      <a:pt x="850" y="47227"/>
                      <a:pt x="14779" y="24400"/>
                      <a:pt x="36725" y="12200"/>
                    </a:cubicBezTo>
                    <a:cubicBezTo>
                      <a:pt x="58671" y="0"/>
                      <a:pt x="85411" y="217"/>
                      <a:pt x="107156" y="12773"/>
                    </a:cubicBezTo>
                    <a:close/>
                    <a:moveTo>
                      <a:pt x="97919" y="55299"/>
                    </a:moveTo>
                    <a:cubicBezTo>
                      <a:pt x="95374" y="52754"/>
                      <a:pt x="91333" y="52500"/>
                      <a:pt x="88490" y="54706"/>
                    </a:cubicBezTo>
                    <a:lnTo>
                      <a:pt x="87818" y="55299"/>
                    </a:lnTo>
                    <a:lnTo>
                      <a:pt x="64294" y="78817"/>
                    </a:lnTo>
                    <a:lnTo>
                      <a:pt x="55057" y="69587"/>
                    </a:lnTo>
                    <a:lnTo>
                      <a:pt x="54385" y="68994"/>
                    </a:lnTo>
                    <a:cubicBezTo>
                      <a:pt x="51541" y="66790"/>
                      <a:pt x="47502" y="67044"/>
                      <a:pt x="44957" y="69589"/>
                    </a:cubicBezTo>
                    <a:cubicBezTo>
                      <a:pt x="42413" y="72133"/>
                      <a:pt x="42158" y="76173"/>
                      <a:pt x="44363" y="79017"/>
                    </a:cubicBezTo>
                    <a:lnTo>
                      <a:pt x="44956" y="79688"/>
                    </a:lnTo>
                    <a:lnTo>
                      <a:pt x="59243" y="93976"/>
                    </a:lnTo>
                    <a:lnTo>
                      <a:pt x="59915" y="94569"/>
                    </a:lnTo>
                    <a:cubicBezTo>
                      <a:pt x="62492" y="96568"/>
                      <a:pt x="66096" y="96568"/>
                      <a:pt x="68673" y="94569"/>
                    </a:cubicBezTo>
                    <a:lnTo>
                      <a:pt x="69344" y="93976"/>
                    </a:lnTo>
                    <a:lnTo>
                      <a:pt x="97919" y="65401"/>
                    </a:lnTo>
                    <a:lnTo>
                      <a:pt x="98512" y="64729"/>
                    </a:lnTo>
                    <a:cubicBezTo>
                      <a:pt x="100718" y="61885"/>
                      <a:pt x="100464" y="57844"/>
                      <a:pt x="97919" y="55299"/>
                    </a:cubicBezTo>
                    <a:close/>
                  </a:path>
                </a:pathLst>
              </a:cu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049655" y="5283518"/>
                <a:ext cx="291293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6C 框架 + Webhook + Skills 三层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6238875" y="1905000"/>
            <a:ext cx="5381625" cy="4095750"/>
            <a:chOff x="6238875" y="1905000"/>
            <a:chExt cx="5381625" cy="4095750"/>
          </a:xfrm>
        </p:grpSpPr>
        <p:sp>
          <p:nvSpPr>
            <p:cNvPr id="32" name="Rectangle 32"/>
            <p:cNvSpPr/>
            <p:nvPr/>
          </p:nvSpPr>
          <p:spPr>
            <a:xfrm>
              <a:off x="6238875" y="1905000"/>
              <a:ext cx="5381625" cy="4095750"/>
            </a:xfrm>
            <a:prstGeom prst="roundRect">
              <a:avLst>
                <a:gd name="adj" fmla="val 3256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38875" y="1905000"/>
              <a:ext cx="5381625" cy="476250"/>
            </a:xfrm>
            <a:prstGeom prst="roundRect">
              <a:avLst>
                <a:gd name="adj" fmla="val 28000"/>
              </a:avLst>
            </a:prstGeom>
            <a:solidFill>
              <a:srgbClr val="FF9800">
                <a:alpha val="16000"/>
              </a:srgbClr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38875" y="2286000"/>
              <a:ext cx="5381625" cy="95250"/>
            </a:xfrm>
            <a:prstGeom prst="rect">
              <a:avLst/>
            </a:prstGeom>
            <a:solidFill>
              <a:srgbClr val="1A2332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449303" y="2040206"/>
              <a:ext cx="207779" cy="205828"/>
              <a:chOff x="6449303" y="2040206"/>
              <a:chExt cx="207779" cy="205828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560743" y="2184400"/>
                <a:ext cx="87028" cy="61634"/>
              </a:xfrm>
              <a:custGeom>
                <a:avLst/>
                <a:gdLst/>
                <a:ahLst/>
                <a:cxnLst/>
                <a:rect l="l" t="t" r="r" b="b"/>
                <a:pathLst>
                  <a:path w="87028" h="61634">
                    <a:moveTo>
                      <a:pt x="87028" y="0"/>
                    </a:moveTo>
                    <a:cubicBezTo>
                      <a:pt x="71706" y="35105"/>
                      <a:pt x="38200" y="58834"/>
                      <a:pt x="0" y="61634"/>
                    </a:cubicBezTo>
                    <a:cubicBezTo>
                      <a:pt x="2643" y="61004"/>
                      <a:pt x="4930" y="59358"/>
                      <a:pt x="6367" y="57052"/>
                    </a:cubicBezTo>
                    <a:cubicBezTo>
                      <a:pt x="17334" y="39483"/>
                      <a:pt x="25286" y="20203"/>
                      <a:pt x="29893" y="1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458629" y="2184400"/>
                <a:ext cx="87018" cy="61634"/>
              </a:xfrm>
              <a:custGeom>
                <a:avLst/>
                <a:gdLst/>
                <a:ahLst/>
                <a:cxnLst/>
                <a:rect l="l" t="t" r="r" b="b"/>
                <a:pathLst>
                  <a:path w="87018" h="61634">
                    <a:moveTo>
                      <a:pt x="57135" y="0"/>
                    </a:moveTo>
                    <a:cubicBezTo>
                      <a:pt x="61740" y="20200"/>
                      <a:pt x="69692" y="39487"/>
                      <a:pt x="80662" y="57063"/>
                    </a:cubicBezTo>
                    <a:cubicBezTo>
                      <a:pt x="82098" y="59362"/>
                      <a:pt x="84381" y="61004"/>
                      <a:pt x="87018" y="61634"/>
                    </a:cubicBezTo>
                    <a:cubicBezTo>
                      <a:pt x="48822" y="58830"/>
                      <a:pt x="15320" y="35101"/>
                      <a:pt x="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37000" y="2184400"/>
                <a:ext cx="32401" cy="40078"/>
              </a:xfrm>
              <a:custGeom>
                <a:avLst/>
                <a:gdLst/>
                <a:ahLst/>
                <a:cxnLst/>
                <a:rect l="l" t="t" r="r" b="b"/>
                <a:pathLst>
                  <a:path w="32401" h="40078">
                    <a:moveTo>
                      <a:pt x="32401" y="0"/>
                    </a:moveTo>
                    <a:cubicBezTo>
                      <a:pt x="28781" y="14012"/>
                      <a:pt x="23334" y="27486"/>
                      <a:pt x="16200" y="40078"/>
                    </a:cubicBezTo>
                    <a:cubicBezTo>
                      <a:pt x="9067" y="27486"/>
                      <a:pt x="3620" y="14012"/>
                      <a:pt x="0" y="0"/>
                    </a:cubicBezTo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449303" y="2122488"/>
                <a:ext cx="6297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2973" h="41275">
                    <a:moveTo>
                      <a:pt x="62973" y="0"/>
                    </a:moveTo>
                    <a:cubicBezTo>
                      <a:pt x="61439" y="13716"/>
                      <a:pt x="61439" y="27559"/>
                      <a:pt x="62973" y="41275"/>
                    </a:cubicBezTo>
                    <a:lnTo>
                      <a:pt x="2794" y="41275"/>
                    </a:lnTo>
                    <a:cubicBezTo>
                      <a:pt x="7" y="27658"/>
                      <a:pt x="0" y="13619"/>
                      <a:pt x="2773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31331" y="2122488"/>
                <a:ext cx="43738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3738" h="41275">
                    <a:moveTo>
                      <a:pt x="42011" y="0"/>
                    </a:moveTo>
                    <a:cubicBezTo>
                      <a:pt x="43738" y="13704"/>
                      <a:pt x="43738" y="27571"/>
                      <a:pt x="42011" y="41275"/>
                    </a:cubicBezTo>
                    <a:lnTo>
                      <a:pt x="1727" y="41275"/>
                    </a:lnTo>
                    <a:cubicBezTo>
                      <a:pt x="0" y="27571"/>
                      <a:pt x="0" y="13704"/>
                      <a:pt x="1727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594124" y="2122488"/>
                <a:ext cx="62958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2958" h="41275">
                    <a:moveTo>
                      <a:pt x="60200" y="0"/>
                    </a:moveTo>
                    <a:cubicBezTo>
                      <a:pt x="62958" y="13621"/>
                      <a:pt x="62951" y="27657"/>
                      <a:pt x="60179" y="41275"/>
                    </a:cubicBezTo>
                    <a:lnTo>
                      <a:pt x="0" y="41275"/>
                    </a:lnTo>
                    <a:cubicBezTo>
                      <a:pt x="1537" y="27561"/>
                      <a:pt x="1537" y="13724"/>
                      <a:pt x="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458598" y="2040216"/>
                <a:ext cx="87039" cy="61634"/>
              </a:xfrm>
              <a:custGeom>
                <a:avLst/>
                <a:gdLst/>
                <a:ahLst/>
                <a:cxnLst/>
                <a:rect l="l" t="t" r="r" b="b"/>
                <a:pathLst>
                  <a:path w="87039" h="61634">
                    <a:moveTo>
                      <a:pt x="87039" y="0"/>
                    </a:moveTo>
                    <a:cubicBezTo>
                      <a:pt x="84404" y="635"/>
                      <a:pt x="82124" y="2280"/>
                      <a:pt x="80693" y="4582"/>
                    </a:cubicBezTo>
                    <a:cubicBezTo>
                      <a:pt x="69724" y="22154"/>
                      <a:pt x="61772" y="41438"/>
                      <a:pt x="57166" y="61634"/>
                    </a:cubicBezTo>
                    <a:lnTo>
                      <a:pt x="0" y="61634"/>
                    </a:lnTo>
                    <a:cubicBezTo>
                      <a:pt x="15186" y="26877"/>
                      <a:pt x="48200" y="3240"/>
                      <a:pt x="85996" y="62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37000" y="2061772"/>
                <a:ext cx="32401" cy="40088"/>
              </a:xfrm>
              <a:custGeom>
                <a:avLst/>
                <a:gdLst/>
                <a:ahLst/>
                <a:cxnLst/>
                <a:rect l="l" t="t" r="r" b="b"/>
                <a:pathLst>
                  <a:path w="32401" h="40088">
                    <a:moveTo>
                      <a:pt x="16200" y="0"/>
                    </a:moveTo>
                    <a:cubicBezTo>
                      <a:pt x="23335" y="12595"/>
                      <a:pt x="28781" y="26073"/>
                      <a:pt x="32401" y="40088"/>
                    </a:cubicBezTo>
                    <a:lnTo>
                      <a:pt x="0" y="40088"/>
                    </a:lnTo>
                    <a:cubicBezTo>
                      <a:pt x="3508" y="26499"/>
                      <a:pt x="8771" y="13260"/>
                      <a:pt x="15788" y="702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60764" y="2040206"/>
                <a:ext cx="87039" cy="61644"/>
              </a:xfrm>
              <a:custGeom>
                <a:avLst/>
                <a:gdLst/>
                <a:ahLst/>
                <a:cxnLst/>
                <a:rect l="l" t="t" r="r" b="b"/>
                <a:pathLst>
                  <a:path w="87039" h="61644">
                    <a:moveTo>
                      <a:pt x="0" y="0"/>
                    </a:moveTo>
                    <a:cubicBezTo>
                      <a:pt x="38198" y="2821"/>
                      <a:pt x="71699" y="26548"/>
                      <a:pt x="87039" y="61644"/>
                    </a:cubicBezTo>
                    <a:lnTo>
                      <a:pt x="29873" y="61644"/>
                    </a:lnTo>
                    <a:cubicBezTo>
                      <a:pt x="25268" y="41444"/>
                      <a:pt x="17316" y="22157"/>
                      <a:pt x="6346" y="4582"/>
                    </a:cubicBezTo>
                    <a:cubicBezTo>
                      <a:pt x="5105" y="2593"/>
                      <a:pt x="3223" y="1086"/>
                      <a:pt x="1011" y="31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753225" y="2047875"/>
              <a:ext cx="24764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客户问 — 用 MCP 扩展的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6503670" y="2631758"/>
              <a:ext cx="4277058" cy="335280"/>
              <a:chOff x="6503670" y="2631758"/>
              <a:chExt cx="4277058" cy="335280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6503670" y="2631758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①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793230" y="2664142"/>
                <a:ext cx="398749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AWS 中国区 — 独立 partition，独立账号体系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503670" y="3155632"/>
              <a:ext cx="3734848" cy="335280"/>
              <a:chOff x="6503670" y="3155632"/>
              <a:chExt cx="3734848" cy="335280"/>
            </a:xfrm>
          </p:grpSpPr>
          <p:sp>
            <p:nvSpPr>
              <p:cNvPr id="49" name="TextBox 49"/>
              <p:cNvSpPr txBox="1"/>
              <p:nvPr/>
            </p:nvSpPr>
            <p:spPr>
              <a:xfrm>
                <a:off x="6503670" y="3155632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②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793230" y="3188018"/>
                <a:ext cx="344528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阿里云 / 腾讯云 — 国内客户混合云常态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6503670" y="3679508"/>
              <a:ext cx="3724989" cy="335280"/>
              <a:chOff x="6503670" y="3679508"/>
              <a:chExt cx="3724989" cy="335280"/>
            </a:xfrm>
          </p:grpSpPr>
          <p:sp>
            <p:nvSpPr>
              <p:cNvPr id="52" name="TextBox 52"/>
              <p:cNvSpPr txBox="1"/>
              <p:nvPr/>
            </p:nvSpPr>
            <p:spPr>
              <a:xfrm>
                <a:off x="6503670" y="3679508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③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793230" y="3711892"/>
                <a:ext cx="343542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私有 K8s / on-prem — VPC 内不出公网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6503670" y="4203382"/>
              <a:ext cx="3626406" cy="335280"/>
              <a:chOff x="6503670" y="4203382"/>
              <a:chExt cx="3626406" cy="335280"/>
            </a:xfrm>
          </p:grpSpPr>
          <p:sp>
            <p:nvSpPr>
              <p:cNvPr id="55" name="TextBox 55"/>
              <p:cNvSpPr txBox="1"/>
              <p:nvPr/>
            </p:nvSpPr>
            <p:spPr>
              <a:xfrm>
                <a:off x="6503670" y="4203382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④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793230" y="4235768"/>
                <a:ext cx="333684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Customer-built SaaS / 内部平台 API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6503670" y="4727258"/>
              <a:ext cx="4533376" cy="335280"/>
              <a:chOff x="6503670" y="4727258"/>
              <a:chExt cx="4533376" cy="335280"/>
            </a:xfrm>
          </p:grpSpPr>
          <p:sp>
            <p:nvSpPr>
              <p:cNvPr id="58" name="TextBox 58"/>
              <p:cNvSpPr txBox="1"/>
              <p:nvPr/>
            </p:nvSpPr>
            <p:spPr>
              <a:xfrm>
                <a:off x="6503670" y="4727258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⑤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793230" y="4759642"/>
                <a:ext cx="42438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业务线工具栈 — Salesforce / Jira / 自研 CMDB</a:t>
                </a:r>
              </a:p>
            </p:txBody>
          </p:sp>
        </p:grpSp>
        <p:sp>
          <p:nvSpPr>
            <p:cNvPr id="61" name="Rectangle 61"/>
            <p:cNvSpPr/>
            <p:nvPr/>
          </p:nvSpPr>
          <p:spPr>
            <a:xfrm>
              <a:off x="6391275" y="5219700"/>
              <a:ext cx="5076825" cy="609600"/>
            </a:xfrm>
            <a:prstGeom prst="roundRect">
              <a:avLst>
                <a:gd name="adj" fmla="val 12500"/>
              </a:avLst>
            </a:prstGeom>
            <a:solidFill>
              <a:srgbClr val="0F1419"/>
            </a:solidFill>
            <a:ln w="9525">
              <a:solidFill>
                <a:srgbClr val="FF9800">
                  <a:alpha val="60000"/>
                </a:srgbClr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11290" y="5334952"/>
              <a:ext cx="31703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一句话：所有 native association 之外的资源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511290" y="5554028"/>
              <a:ext cx="22648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→ 都需要走 MCP server 扩展点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61022" y="6483191"/>
            <a:ext cx="11069956" cy="167640"/>
            <a:chOff x="561022" y="6483191"/>
            <a:chExt cx="11069956" cy="167640"/>
          </a:xfrm>
        </p:grpSpPr>
        <p:sp>
          <p:nvSpPr>
            <p:cNvPr id="65" name="TextBox 65"/>
            <p:cNvSpPr txBox="1"/>
            <p:nvPr/>
          </p:nvSpPr>
          <p:spPr>
            <a:xfrm>
              <a:off x="561022" y="6483191"/>
              <a:ext cx="69793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6C 框架来自 AWS DevOps Blog · 2026-03 "Leverage Agentic AI for Autonomous Incident Response with AWS DevOps Agent"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06377" y="6483191"/>
              <a:ext cx="4246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02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6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41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C0">
                    <a:alpha val="22000"/>
                  </a:srgbClr>
                </a:gs>
                <a:gs pos="100000">
                  <a:srgbClr val="1565C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695450" y="1695450"/>
            <a:ext cx="8986837" cy="4033837"/>
            <a:chOff x="1695450" y="1695450"/>
            <a:chExt cx="8986837" cy="4033837"/>
          </a:xfrm>
        </p:grpSpPr>
        <p:sp>
          <p:nvSpPr>
            <p:cNvPr id="5" name="Ellipse 5"/>
            <p:cNvSpPr/>
            <p:nvPr/>
          </p:nvSpPr>
          <p:spPr>
            <a:xfrm>
              <a:off x="1695450" y="1695450"/>
              <a:ext cx="38100" cy="38100"/>
            </a:xfrm>
            <a:prstGeom prst="ellipse">
              <a:avLst/>
            </a:prstGeom>
            <a:solidFill>
              <a:srgbClr val="42A5F5">
                <a:alpha val="50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458450" y="1885950"/>
              <a:ext cx="38100" cy="38100"/>
            </a:xfrm>
            <a:prstGeom prst="ellipse">
              <a:avLst/>
            </a:prstGeom>
            <a:solidFill>
              <a:srgbClr val="FF9800">
                <a:alpha val="40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2081212" y="5700712"/>
              <a:ext cx="28575" cy="28575"/>
            </a:xfrm>
            <a:prstGeom prst="ellipse">
              <a:avLst/>
            </a:prstGeom>
            <a:solidFill>
              <a:srgbClr val="FF9800">
                <a:alpha val="5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653712" y="5510212"/>
              <a:ext cx="28575" cy="28575"/>
            </a:xfrm>
            <a:prstGeom prst="ellipse">
              <a:avLst/>
            </a:prstGeom>
            <a:solidFill>
              <a:srgbClr val="42A5F5">
                <a:alpha val="40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680115" y="1029652"/>
            <a:ext cx="831771" cy="265748"/>
            <a:chOff x="5680115" y="1029652"/>
            <a:chExt cx="831771" cy="265748"/>
          </a:xfrm>
        </p:grpSpPr>
        <p:sp>
          <p:nvSpPr>
            <p:cNvPr id="10" name="TextBox 10"/>
            <p:cNvSpPr txBox="1"/>
            <p:nvPr/>
          </p:nvSpPr>
          <p:spPr>
            <a:xfrm>
              <a:off x="5680115" y="10296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交付的资产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715000" y="128587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FF9800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3225456" y="1613535"/>
            <a:ext cx="5741089" cy="548640"/>
            <a:chOff x="3225456" y="1613535"/>
            <a:chExt cx="5741089" cy="548640"/>
          </a:xfrm>
        </p:grpSpPr>
        <p:sp>
          <p:nvSpPr>
            <p:cNvPr id="13" name="TextBox 13"/>
            <p:cNvSpPr txBox="1"/>
            <p:nvPr/>
          </p:nvSpPr>
          <p:spPr>
            <a:xfrm>
              <a:off x="3225456" y="1613535"/>
              <a:ext cx="574108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一套可直接复刻的 6C 扩展模板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418136" y="2324100"/>
            <a:ext cx="7355729" cy="2438400"/>
            <a:chOff x="2418136" y="2324100"/>
            <a:chExt cx="7355729" cy="2438400"/>
          </a:xfrm>
        </p:grpSpPr>
        <p:sp>
          <p:nvSpPr>
            <p:cNvPr id="15" name="TextBox 15"/>
            <p:cNvSpPr txBox="1"/>
            <p:nvPr/>
          </p:nvSpPr>
          <p:spPr>
            <a:xfrm>
              <a:off x="4931474" y="2324100"/>
              <a:ext cx="2329053" cy="2438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gradFill>
                    <a:gsLst>
                      <a:gs pos="0">
                        <a:srgbClr val="FF9800"/>
                      </a:gs>
                      <a:gs pos="100000">
                        <a:srgbClr val="FFB74D"/>
                      </a:gs>
                    </a:gsLst>
                    <a:lin ang="0" scaled="1"/>
                  </a:gradFill>
                  <a:effectLst>
                    <a:glow rad="57150">
                      <a:srgbClr val="FF9800">
                        <a:alpha val="45000"/>
                      </a:srgbClr>
                    </a:glow>
                  </a:effectLst>
                  <a:latin typeface="Arial"/>
                  <a:ea typeface="SimHei"/>
                  <a:cs typeface="Arial"/>
                </a:rPr>
                <a:t>98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18136" y="3917632"/>
              <a:ext cx="735572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单次 incident 调查中，6C 全套能力经 MCP 扩展点透明触达外部资源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69954" y="4292918"/>
              <a:ext cx="64520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扩展模式可移植：换 cloud / 换 partition / 换工具栈，pattern 不变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43000" y="5000625"/>
            <a:ext cx="9906000" cy="1047750"/>
            <a:chOff x="1143000" y="5000625"/>
            <a:chExt cx="9906000" cy="1047750"/>
          </a:xfrm>
        </p:grpSpPr>
        <p:grpSp>
          <p:nvGrpSpPr>
            <p:cNvPr id="24" name="Group 24"/>
            <p:cNvGrpSpPr/>
            <p:nvPr/>
          </p:nvGrpSpPr>
          <p:grpSpPr>
            <a:xfrm>
              <a:off x="1143000" y="5000625"/>
              <a:ext cx="3069215" cy="1047750"/>
              <a:chOff x="1143000" y="5000625"/>
              <a:chExt cx="3069215" cy="10477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1143000" y="5000625"/>
                <a:ext cx="304800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1A2332"/>
              </a:solidFill>
              <a:ln w="9525">
                <a:solidFill>
                  <a:srgbClr val="2D374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347788" y="5257800"/>
                <a:ext cx="20002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55575">
                    <a:moveTo>
                      <a:pt x="166688" y="0"/>
                    </a:moveTo>
                    <a:cubicBezTo>
                      <a:pt x="185099" y="0"/>
                      <a:pt x="200025" y="14926"/>
                      <a:pt x="200025" y="33338"/>
                    </a:cubicBezTo>
                    <a:lnTo>
                      <a:pt x="200025" y="133350"/>
                    </a:lnTo>
                    <a:cubicBezTo>
                      <a:pt x="200025" y="145625"/>
                      <a:pt x="190075" y="155575"/>
                      <a:pt x="177800" y="155575"/>
                    </a:cubicBezTo>
                    <a:lnTo>
                      <a:pt x="155575" y="155575"/>
                    </a:lnTo>
                    <a:cubicBezTo>
                      <a:pt x="143300" y="155575"/>
                      <a:pt x="133350" y="145625"/>
                      <a:pt x="133350" y="133350"/>
                    </a:cubicBezTo>
                    <a:lnTo>
                      <a:pt x="133350" y="111125"/>
                    </a:lnTo>
                    <a:cubicBezTo>
                      <a:pt x="133350" y="92713"/>
                      <a:pt x="118424" y="77787"/>
                      <a:pt x="100012" y="77787"/>
                    </a:cubicBezTo>
                    <a:cubicBezTo>
                      <a:pt x="81601" y="77787"/>
                      <a:pt x="66675" y="92713"/>
                      <a:pt x="66675" y="111125"/>
                    </a:cubicBezTo>
                    <a:lnTo>
                      <a:pt x="66675" y="133350"/>
                    </a:lnTo>
                    <a:cubicBezTo>
                      <a:pt x="66675" y="145625"/>
                      <a:pt x="56725" y="155575"/>
                      <a:pt x="44450" y="155575"/>
                    </a:cubicBezTo>
                    <a:lnTo>
                      <a:pt x="22225" y="155575"/>
                    </a:lnTo>
                    <a:cubicBezTo>
                      <a:pt x="9950" y="155575"/>
                      <a:pt x="0" y="145625"/>
                      <a:pt x="0" y="133350"/>
                    </a:cubicBez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621155" y="5245418"/>
                <a:ext cx="259106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参考架构 — Bridge Pattern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301115" y="5601652"/>
                <a:ext cx="25186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EKS 上跑 MCP server，VPC Lattice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301115" y="5792152"/>
                <a:ext cx="27333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Private Connection，Helm chart 复用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4572000" y="5000625"/>
              <a:ext cx="3048000" cy="1047750"/>
              <a:chOff x="4572000" y="5000625"/>
              <a:chExt cx="3048000" cy="10477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572000" y="5000625"/>
                <a:ext cx="304800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1A2332"/>
              </a:solidFill>
              <a:ln w="9525">
                <a:solidFill>
                  <a:srgbClr val="FF9800">
                    <a:alpha val="50000"/>
                  </a:srgbClr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765674" y="5208372"/>
                <a:ext cx="233994" cy="234907"/>
              </a:xfrm>
              <a:custGeom>
                <a:avLst/>
                <a:gdLst/>
                <a:ahLst/>
                <a:cxnLst/>
                <a:rect l="l" t="t" r="r" b="b"/>
                <a:pathLst>
                  <a:path w="233994" h="234907">
                    <a:moveTo>
                      <a:pt x="166689" y="19868"/>
                    </a:moveTo>
                    <a:cubicBezTo>
                      <a:pt x="213392" y="46833"/>
                      <a:pt x="233994" y="103437"/>
                      <a:pt x="215549" y="154113"/>
                    </a:cubicBezTo>
                    <a:cubicBezTo>
                      <a:pt x="197104" y="204790"/>
                      <a:pt x="144937" y="234907"/>
                      <a:pt x="91828" y="225542"/>
                    </a:cubicBezTo>
                    <a:cubicBezTo>
                      <a:pt x="38719" y="216176"/>
                      <a:pt x="0" y="170031"/>
                      <a:pt x="1" y="116103"/>
                    </a:cubicBezTo>
                    <a:lnTo>
                      <a:pt x="57" y="112502"/>
                    </a:lnTo>
                    <a:cubicBezTo>
                      <a:pt x="1323" y="73464"/>
                      <a:pt x="22991" y="37956"/>
                      <a:pt x="57130" y="18978"/>
                    </a:cubicBezTo>
                    <a:cubicBezTo>
                      <a:pt x="91268" y="0"/>
                      <a:pt x="132863" y="338"/>
                      <a:pt x="166689" y="19868"/>
                    </a:cubicBezTo>
                    <a:moveTo>
                      <a:pt x="96758" y="86021"/>
                    </a:moveTo>
                    <a:cubicBezTo>
                      <a:pt x="92418" y="81683"/>
                      <a:pt x="85384" y="81683"/>
                      <a:pt x="81045" y="86021"/>
                    </a:cubicBezTo>
                    <a:lnTo>
                      <a:pt x="58820" y="108246"/>
                    </a:lnTo>
                    <a:cubicBezTo>
                      <a:pt x="54482" y="112586"/>
                      <a:pt x="54482" y="119620"/>
                      <a:pt x="58820" y="123959"/>
                    </a:cubicBezTo>
                    <a:lnTo>
                      <a:pt x="81045" y="146184"/>
                    </a:lnTo>
                    <a:cubicBezTo>
                      <a:pt x="85384" y="150522"/>
                      <a:pt x="92418" y="150522"/>
                      <a:pt x="96758" y="146184"/>
                    </a:cubicBezTo>
                    <a:lnTo>
                      <a:pt x="97680" y="145140"/>
                    </a:lnTo>
                    <a:cubicBezTo>
                      <a:pt x="101112" y="140716"/>
                      <a:pt x="100717" y="134430"/>
                      <a:pt x="96758" y="130471"/>
                    </a:cubicBezTo>
                    <a:lnTo>
                      <a:pt x="82401" y="116103"/>
                    </a:lnTo>
                    <a:lnTo>
                      <a:pt x="96758" y="101734"/>
                    </a:lnTo>
                    <a:cubicBezTo>
                      <a:pt x="101096" y="97395"/>
                      <a:pt x="101096" y="90361"/>
                      <a:pt x="96758" y="86021"/>
                    </a:cubicBezTo>
                    <a:moveTo>
                      <a:pt x="141208" y="86021"/>
                    </a:moveTo>
                    <a:cubicBezTo>
                      <a:pt x="136868" y="81683"/>
                      <a:pt x="129834" y="81683"/>
                      <a:pt x="125495" y="86021"/>
                    </a:cubicBezTo>
                    <a:lnTo>
                      <a:pt x="124572" y="87066"/>
                    </a:lnTo>
                    <a:cubicBezTo>
                      <a:pt x="121141" y="91489"/>
                      <a:pt x="121536" y="97775"/>
                      <a:pt x="125495" y="101734"/>
                    </a:cubicBezTo>
                    <a:lnTo>
                      <a:pt x="139852" y="116103"/>
                    </a:lnTo>
                    <a:lnTo>
                      <a:pt x="125495" y="130471"/>
                    </a:lnTo>
                    <a:cubicBezTo>
                      <a:pt x="121284" y="134831"/>
                      <a:pt x="121344" y="141762"/>
                      <a:pt x="125630" y="146049"/>
                    </a:cubicBezTo>
                    <a:cubicBezTo>
                      <a:pt x="129917" y="150335"/>
                      <a:pt x="136848" y="150396"/>
                      <a:pt x="141208" y="146184"/>
                    </a:cubicBezTo>
                    <a:lnTo>
                      <a:pt x="163433" y="123959"/>
                    </a:lnTo>
                    <a:cubicBezTo>
                      <a:pt x="167771" y="119620"/>
                      <a:pt x="167771" y="112586"/>
                      <a:pt x="163433" y="108246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5050155" y="5245418"/>
                <a:ext cx="195963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9 个 Skill — 三层模式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730115" y="5601652"/>
                <a:ext cx="24726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Foundation + Analytical + Pipeline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730115" y="5792152"/>
                <a:ext cx="20125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直接给客户作 SKILL.md 模板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001000" y="5000625"/>
              <a:ext cx="3048000" cy="1047750"/>
              <a:chOff x="8001000" y="5000625"/>
              <a:chExt cx="3048000" cy="10477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001000" y="5000625"/>
                <a:ext cx="304800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1A2332"/>
              </a:solidFill>
              <a:ln w="9525">
                <a:solidFill>
                  <a:srgbClr val="2D374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194675" y="5208372"/>
                <a:ext cx="233696" cy="234079"/>
              </a:xfrm>
              <a:custGeom>
                <a:avLst/>
                <a:gdLst/>
                <a:ahLst/>
                <a:cxnLst/>
                <a:rect l="l" t="t" r="r" b="b"/>
                <a:pathLst>
                  <a:path w="233696" h="234079">
                    <a:moveTo>
                      <a:pt x="166688" y="19868"/>
                    </a:moveTo>
                    <a:cubicBezTo>
                      <a:pt x="212998" y="46607"/>
                      <a:pt x="233696" y="102539"/>
                      <a:pt x="215949" y="152983"/>
                    </a:cubicBezTo>
                    <a:cubicBezTo>
                      <a:pt x="198202" y="203428"/>
                      <a:pt x="147043" y="234079"/>
                      <a:pt x="94192" y="225932"/>
                    </a:cubicBezTo>
                    <a:cubicBezTo>
                      <a:pt x="41341" y="217785"/>
                      <a:pt x="1788" y="173150"/>
                      <a:pt x="56" y="119703"/>
                    </a:cubicBezTo>
                    <a:lnTo>
                      <a:pt x="0" y="116103"/>
                    </a:lnTo>
                    <a:lnTo>
                      <a:pt x="56" y="112502"/>
                    </a:lnTo>
                    <a:cubicBezTo>
                      <a:pt x="1321" y="73464"/>
                      <a:pt x="22990" y="37956"/>
                      <a:pt x="57128" y="18978"/>
                    </a:cubicBezTo>
                    <a:cubicBezTo>
                      <a:pt x="91267" y="0"/>
                      <a:pt x="132862" y="338"/>
                      <a:pt x="166687" y="19868"/>
                    </a:cubicBezTo>
                    <a:close/>
                    <a:moveTo>
                      <a:pt x="152319" y="86021"/>
                    </a:moveTo>
                    <a:cubicBezTo>
                      <a:pt x="148360" y="82063"/>
                      <a:pt x="142074" y="81667"/>
                      <a:pt x="137651" y="85099"/>
                    </a:cubicBezTo>
                    <a:lnTo>
                      <a:pt x="136606" y="86021"/>
                    </a:lnTo>
                    <a:lnTo>
                      <a:pt x="100012" y="122604"/>
                    </a:lnTo>
                    <a:lnTo>
                      <a:pt x="85644" y="108246"/>
                    </a:lnTo>
                    <a:lnTo>
                      <a:pt x="84599" y="107324"/>
                    </a:lnTo>
                    <a:cubicBezTo>
                      <a:pt x="80176" y="103895"/>
                      <a:pt x="73892" y="104291"/>
                      <a:pt x="69934" y="108249"/>
                    </a:cubicBezTo>
                    <a:cubicBezTo>
                      <a:pt x="65976" y="112207"/>
                      <a:pt x="65580" y="118491"/>
                      <a:pt x="69009" y="122915"/>
                    </a:cubicBezTo>
                    <a:lnTo>
                      <a:pt x="69931" y="123959"/>
                    </a:lnTo>
                    <a:lnTo>
                      <a:pt x="92156" y="146184"/>
                    </a:lnTo>
                    <a:lnTo>
                      <a:pt x="93201" y="147107"/>
                    </a:lnTo>
                    <a:cubicBezTo>
                      <a:pt x="97209" y="150217"/>
                      <a:pt x="102816" y="150217"/>
                      <a:pt x="106824" y="147107"/>
                    </a:cubicBezTo>
                    <a:lnTo>
                      <a:pt x="107869" y="146184"/>
                    </a:lnTo>
                    <a:lnTo>
                      <a:pt x="152319" y="101734"/>
                    </a:lnTo>
                    <a:lnTo>
                      <a:pt x="153241" y="100690"/>
                    </a:lnTo>
                    <a:cubicBezTo>
                      <a:pt x="156673" y="96266"/>
                      <a:pt x="156278" y="89980"/>
                      <a:pt x="152319" y="86021"/>
                    </a:cubicBezTo>
                    <a:close/>
                  </a:path>
                </a:pathLst>
              </a:cu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479155" y="5245418"/>
                <a:ext cx="182506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4CAF50"/>
                    </a:solidFill>
                    <a:latin typeface="Arial"/>
                    <a:ea typeface="SimHei"/>
                    <a:cs typeface="Arial"/>
                  </a:rPr>
                  <a:t>3 个完整 case 演示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159115" y="5601652"/>
                <a:ext cx="257232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Webhook 自主 / 时间锚定 / 多跳 RCA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59115" y="5792152"/>
                <a:ext cx="175955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客户演示 / POC 现成素材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561022" y="6483191"/>
            <a:ext cx="11069956" cy="167640"/>
            <a:chOff x="561022" y="6483191"/>
            <a:chExt cx="11069956" cy="167640"/>
          </a:xfrm>
        </p:grpSpPr>
        <p:sp>
          <p:nvSpPr>
            <p:cNvPr id="38" name="TextBox 38"/>
            <p:cNvSpPr txBox="1"/>
            <p:nvPr/>
          </p:nvSpPr>
          <p:spPr>
            <a:xfrm>
              <a:off x="561022" y="6483191"/>
              <a:ext cx="325012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面向 SA 的可复用资产 — Bridge 架构 + Skill 模板 + 演示素材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06377" y="6483191"/>
              <a:ext cx="4246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03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8" grpId="0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7210" y="476250"/>
            <a:ext cx="7749240" cy="1162050"/>
            <a:chOff x="537210" y="476250"/>
            <a:chExt cx="7749240" cy="116205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16690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PART 2 · 多云管理原理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77492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 xml:space="preserve">一个 SRE 团队，三朵云 — 实际是 </a:t>
              </a:r>
              <a:r>
                <a:rPr lang="zh-CN" sz="27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6 个账号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394460"/>
              <a:ext cx="47712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同一个 Bridge 模板对接所有 spoke — 加新账号 = 加新 spoke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2095500"/>
            <a:ext cx="3619500" cy="4000500"/>
            <a:chOff x="571500" y="2095500"/>
            <a:chExt cx="3619500" cy="4000500"/>
          </a:xfrm>
        </p:grpSpPr>
        <p:sp>
          <p:nvSpPr>
            <p:cNvPr id="8" name="Rectangle 8"/>
            <p:cNvSpPr/>
            <p:nvPr/>
          </p:nvSpPr>
          <p:spPr>
            <a:xfrm>
              <a:off x="571500" y="2095500"/>
              <a:ext cx="3619500" cy="4000500"/>
            </a:xfrm>
            <a:prstGeom prst="roundRect">
              <a:avLst>
                <a:gd name="adj" fmla="val 3684"/>
              </a:avLst>
            </a:prstGeom>
            <a:solidFill>
              <a:srgbClr val="1A2332"/>
            </a:solidFill>
            <a:ln w="14288">
              <a:solidFill>
                <a:srgbClr val="1565C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2095500"/>
              <a:ext cx="3619500" cy="571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2124075"/>
              <a:ext cx="3619500" cy="28575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815975" y="2419953"/>
              <a:ext cx="349250" cy="243935"/>
            </a:xfrm>
            <a:custGeom>
              <a:avLst/>
              <a:gdLst/>
              <a:ahLst/>
              <a:cxnLst/>
              <a:rect l="l" t="t" r="r" b="b"/>
              <a:pathLst>
                <a:path w="349250" h="243935">
                  <a:moveTo>
                    <a:pt x="143510" y="10589"/>
                  </a:moveTo>
                  <a:cubicBezTo>
                    <a:pt x="178356" y="0"/>
                    <a:pt x="216773" y="7033"/>
                    <a:pt x="244475" y="29258"/>
                  </a:cubicBezTo>
                  <a:cubicBezTo>
                    <a:pt x="266478" y="46847"/>
                    <a:pt x="279209" y="71898"/>
                    <a:pt x="280225" y="98155"/>
                  </a:cubicBezTo>
                  <a:lnTo>
                    <a:pt x="280273" y="101521"/>
                  </a:lnTo>
                  <a:lnTo>
                    <a:pt x="281718" y="101568"/>
                  </a:lnTo>
                  <a:cubicBezTo>
                    <a:pt x="318230" y="103267"/>
                    <a:pt x="347488" y="132699"/>
                    <a:pt x="349186" y="169355"/>
                  </a:cubicBezTo>
                  <a:lnTo>
                    <a:pt x="349250" y="172704"/>
                  </a:lnTo>
                  <a:cubicBezTo>
                    <a:pt x="349250" y="210915"/>
                    <a:pt x="319326" y="242110"/>
                    <a:pt x="281702" y="243856"/>
                  </a:cubicBezTo>
                  <a:lnTo>
                    <a:pt x="278368" y="243935"/>
                  </a:lnTo>
                  <a:lnTo>
                    <a:pt x="89805" y="243935"/>
                  </a:lnTo>
                  <a:lnTo>
                    <a:pt x="86281" y="243808"/>
                  </a:lnTo>
                  <a:cubicBezTo>
                    <a:pt x="39608" y="242062"/>
                    <a:pt x="1873" y="205724"/>
                    <a:pt x="79" y="160258"/>
                  </a:cubicBezTo>
                  <a:lnTo>
                    <a:pt x="0" y="156829"/>
                  </a:lnTo>
                  <a:cubicBezTo>
                    <a:pt x="0" y="113220"/>
                    <a:pt x="33020" y="77295"/>
                    <a:pt x="75946" y="70834"/>
                  </a:cubicBezTo>
                  <a:lnTo>
                    <a:pt x="77756" y="70580"/>
                  </a:lnTo>
                  <a:lnTo>
                    <a:pt x="78867" y="67707"/>
                  </a:lnTo>
                  <a:cubicBezTo>
                    <a:pt x="89392" y="41989"/>
                    <a:pt x="111506" y="21574"/>
                    <a:pt x="139652" y="11859"/>
                  </a:cubicBezTo>
                  <a:lnTo>
                    <a:pt x="143526" y="10589"/>
                  </a:lnTo>
                  <a:close/>
                </a:path>
              </a:pathLst>
            </a:custGeom>
            <a:solidFill>
              <a:srgbClr val="42A5F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12545" y="2488882"/>
              <a:ext cx="13450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AWS 全球区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1118" y="2799874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2A5F5"/>
                  </a:solidFill>
                  <a:latin typeface="Consolas"/>
                  <a:ea typeface="Microsoft YaHei"/>
                  <a:cs typeface="Consolas"/>
                </a:rPr>
                <a:t>us-east-1 / us-west-2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0100" y="3238500"/>
              <a:ext cx="3162300" cy="9525"/>
            </a:xfrm>
            <a:prstGeom prst="rect">
              <a:avLst/>
            </a:prstGeom>
            <a:solidFill>
              <a:srgbClr val="2D374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6765" y="348710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主账号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4860" y="3699510"/>
              <a:ext cx="11990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AED"/>
                  </a:solidFill>
                  <a:latin typeface="Consolas"/>
                  <a:ea typeface="Microsoft YaHei"/>
                  <a:cs typeface="Consolas"/>
                </a:rPr>
                <a:t>034362076319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6765" y="40967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承载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857250" y="4364831"/>
              <a:ext cx="2760106" cy="762000"/>
              <a:chOff x="857250" y="4364831"/>
              <a:chExt cx="2760106" cy="762000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857250" y="4419600"/>
                <a:ext cx="38100" cy="38100"/>
              </a:xfrm>
              <a:prstGeom prst="ellipse">
                <a:avLst/>
              </a:prstGeom>
              <a:solidFill>
                <a:srgbClr val="42A5F5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976312" y="4364831"/>
                <a:ext cx="160591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DevOps Agent Space</a:t>
                </a:r>
              </a:p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857250" y="4686300"/>
                <a:ext cx="38100" cy="38100"/>
              </a:xfrm>
              <a:prstGeom prst="ellipse">
                <a:avLst/>
              </a:prstGeom>
              <a:solidFill>
                <a:srgbClr val="42A5F5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76312" y="4631531"/>
                <a:ext cx="26410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MCP server pods (mcp-test EKS)</a:t>
                </a:r>
              </a:p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857250" y="4953000"/>
                <a:ext cx="38100" cy="38100"/>
              </a:xfrm>
              <a:prstGeom prst="ellipse">
                <a:avLst/>
              </a:prstGeom>
              <a:solidFill>
                <a:srgbClr val="42A5F5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76312" y="4898231"/>
                <a:ext cx="142517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Webhook endpoint</a:t>
                </a:r>
              </a:p>
            </p:txBody>
          </p:sp>
        </p:grpSp>
        <p:sp>
          <p:nvSpPr>
            <p:cNvPr id="25" name="Rectangle 25"/>
            <p:cNvSpPr/>
            <p:nvPr/>
          </p:nvSpPr>
          <p:spPr>
            <a:xfrm>
              <a:off x="800100" y="5410200"/>
              <a:ext cx="3162300" cy="457200"/>
            </a:xfrm>
            <a:prstGeom prst="roundRect">
              <a:avLst>
                <a:gd name="adj" fmla="val 12500"/>
              </a:avLst>
            </a:prstGeom>
            <a:solidFill>
              <a:srgbClr val="0F1419"/>
            </a:solidFill>
            <a:ln w="9525">
              <a:solidFill>
                <a:srgbClr val="4CAF50">
                  <a:alpha val="40000"/>
                </a:srgbClr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30275" y="5555869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108799" y="61444"/>
                  </a:moveTo>
                  <a:cubicBezTo>
                    <a:pt x="105971" y="58616"/>
                    <a:pt x="101482" y="58334"/>
                    <a:pt x="98322" y="60785"/>
                  </a:cubicBezTo>
                  <a:lnTo>
                    <a:pt x="97576" y="61444"/>
                  </a:lnTo>
                  <a:lnTo>
                    <a:pt x="71438" y="87574"/>
                  </a:lnTo>
                  <a:lnTo>
                    <a:pt x="61174" y="77319"/>
                  </a:lnTo>
                  <a:lnTo>
                    <a:pt x="60428" y="76660"/>
                  </a:lnTo>
                  <a:cubicBezTo>
                    <a:pt x="57268" y="74211"/>
                    <a:pt x="52780" y="74494"/>
                    <a:pt x="49953" y="77321"/>
                  </a:cubicBezTo>
                  <a:cubicBezTo>
                    <a:pt x="47126" y="80148"/>
                    <a:pt x="46843" y="84636"/>
                    <a:pt x="49292" y="87796"/>
                  </a:cubicBezTo>
                  <a:lnTo>
                    <a:pt x="49951" y="88542"/>
                  </a:lnTo>
                  <a:lnTo>
                    <a:pt x="65826" y="104417"/>
                  </a:lnTo>
                  <a:lnTo>
                    <a:pt x="66572" y="105076"/>
                  </a:lnTo>
                  <a:cubicBezTo>
                    <a:pt x="69435" y="107298"/>
                    <a:pt x="73440" y="107298"/>
                    <a:pt x="76303" y="105076"/>
                  </a:cubicBezTo>
                  <a:lnTo>
                    <a:pt x="77049" y="104417"/>
                  </a:lnTo>
                  <a:lnTo>
                    <a:pt x="108799" y="72667"/>
                  </a:lnTo>
                  <a:lnTo>
                    <a:pt x="109458" y="71921"/>
                  </a:lnTo>
                  <a:cubicBezTo>
                    <a:pt x="111909" y="68761"/>
                    <a:pt x="111627" y="64272"/>
                    <a:pt x="108799" y="61444"/>
                  </a:cubicBez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67765" y="5573078"/>
              <a:ext cx="8881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Native 可达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286250" y="2095500"/>
            <a:ext cx="3619500" cy="4000500"/>
            <a:chOff x="4286250" y="2095500"/>
            <a:chExt cx="3619500" cy="4000500"/>
          </a:xfrm>
        </p:grpSpPr>
        <p:sp>
          <p:nvSpPr>
            <p:cNvPr id="29" name="Rectangle 29"/>
            <p:cNvSpPr/>
            <p:nvPr/>
          </p:nvSpPr>
          <p:spPr>
            <a:xfrm>
              <a:off x="4286250" y="2095500"/>
              <a:ext cx="3619500" cy="4000500"/>
            </a:xfrm>
            <a:prstGeom prst="roundRect">
              <a:avLst>
                <a:gd name="adj" fmla="val 3684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286250" y="2095500"/>
              <a:ext cx="3619500" cy="57150"/>
            </a:xfrm>
            <a:prstGeom prst="roundRect">
              <a:avLst>
                <a:gd name="adj" fmla="val 50000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286250" y="2124075"/>
              <a:ext cx="3619500" cy="2857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4545509" y="2394363"/>
              <a:ext cx="319660" cy="316658"/>
              <a:chOff x="4545509" y="2394363"/>
              <a:chExt cx="319660" cy="31665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4716955" y="2616200"/>
                <a:ext cx="133890" cy="94821"/>
              </a:xfrm>
              <a:custGeom>
                <a:avLst/>
                <a:gdLst/>
                <a:ahLst/>
                <a:cxnLst/>
                <a:rect l="l" t="t" r="r" b="b"/>
                <a:pathLst>
                  <a:path w="133890" h="94821">
                    <a:moveTo>
                      <a:pt x="133890" y="0"/>
                    </a:moveTo>
                    <a:cubicBezTo>
                      <a:pt x="110317" y="54007"/>
                      <a:pt x="58770" y="90514"/>
                      <a:pt x="0" y="94821"/>
                    </a:cubicBezTo>
                    <a:cubicBezTo>
                      <a:pt x="4065" y="93853"/>
                      <a:pt x="7585" y="91320"/>
                      <a:pt x="9795" y="87773"/>
                    </a:cubicBezTo>
                    <a:cubicBezTo>
                      <a:pt x="26668" y="60743"/>
                      <a:pt x="38902" y="31082"/>
                      <a:pt x="45990" y="16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559856" y="2616200"/>
                <a:ext cx="133874" cy="94821"/>
              </a:xfrm>
              <a:custGeom>
                <a:avLst/>
                <a:gdLst/>
                <a:ahLst/>
                <a:cxnLst/>
                <a:rect l="l" t="t" r="r" b="b"/>
                <a:pathLst>
                  <a:path w="133874" h="94821">
                    <a:moveTo>
                      <a:pt x="87900" y="0"/>
                    </a:moveTo>
                    <a:cubicBezTo>
                      <a:pt x="94984" y="31077"/>
                      <a:pt x="107218" y="60749"/>
                      <a:pt x="124095" y="87789"/>
                    </a:cubicBezTo>
                    <a:cubicBezTo>
                      <a:pt x="126304" y="91327"/>
                      <a:pt x="129817" y="93853"/>
                      <a:pt x="133874" y="94821"/>
                    </a:cubicBezTo>
                    <a:cubicBezTo>
                      <a:pt x="75110" y="90508"/>
                      <a:pt x="23570" y="54002"/>
                      <a:pt x="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680426" y="2616200"/>
                <a:ext cx="49848" cy="61658"/>
              </a:xfrm>
              <a:custGeom>
                <a:avLst/>
                <a:gdLst/>
                <a:ahLst/>
                <a:cxnLst/>
                <a:rect l="l" t="t" r="r" b="b"/>
                <a:pathLst>
                  <a:path w="49848" h="61658">
                    <a:moveTo>
                      <a:pt x="49848" y="0"/>
                    </a:moveTo>
                    <a:cubicBezTo>
                      <a:pt x="44278" y="21556"/>
                      <a:pt x="35898" y="42287"/>
                      <a:pt x="24924" y="61658"/>
                    </a:cubicBezTo>
                    <a:cubicBezTo>
                      <a:pt x="13949" y="42287"/>
                      <a:pt x="5570" y="21556"/>
                      <a:pt x="0" y="0"/>
                    </a:cubicBezTo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4545509" y="2520950"/>
                <a:ext cx="96881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6881" h="63500">
                    <a:moveTo>
                      <a:pt x="96881" y="0"/>
                    </a:moveTo>
                    <a:cubicBezTo>
                      <a:pt x="94522" y="21101"/>
                      <a:pt x="94522" y="42399"/>
                      <a:pt x="96881" y="63500"/>
                    </a:cubicBezTo>
                    <a:lnTo>
                      <a:pt x="4298" y="63500"/>
                    </a:lnTo>
                    <a:cubicBezTo>
                      <a:pt x="11" y="42551"/>
                      <a:pt x="0" y="20953"/>
                      <a:pt x="4266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4671706" y="2520950"/>
                <a:ext cx="67289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7289" h="63500">
                    <a:moveTo>
                      <a:pt x="64632" y="0"/>
                    </a:moveTo>
                    <a:cubicBezTo>
                      <a:pt x="67289" y="21083"/>
                      <a:pt x="67289" y="42417"/>
                      <a:pt x="64632" y="63500"/>
                    </a:cubicBezTo>
                    <a:lnTo>
                      <a:pt x="2656" y="63500"/>
                    </a:lnTo>
                    <a:cubicBezTo>
                      <a:pt x="0" y="42417"/>
                      <a:pt x="0" y="21083"/>
                      <a:pt x="2656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768310" y="2520950"/>
                <a:ext cx="96859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6859" h="63500">
                    <a:moveTo>
                      <a:pt x="92615" y="0"/>
                    </a:moveTo>
                    <a:cubicBezTo>
                      <a:pt x="96859" y="20955"/>
                      <a:pt x="96848" y="42549"/>
                      <a:pt x="92583" y="63500"/>
                    </a:cubicBezTo>
                    <a:lnTo>
                      <a:pt x="0" y="63500"/>
                    </a:lnTo>
                    <a:cubicBezTo>
                      <a:pt x="2365" y="42402"/>
                      <a:pt x="2365" y="21114"/>
                      <a:pt x="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559808" y="2394379"/>
                <a:ext cx="133906" cy="94821"/>
              </a:xfrm>
              <a:custGeom>
                <a:avLst/>
                <a:gdLst/>
                <a:ahLst/>
                <a:cxnLst/>
                <a:rect l="l" t="t" r="r" b="b"/>
                <a:pathLst>
                  <a:path w="133906" h="94821">
                    <a:moveTo>
                      <a:pt x="133906" y="0"/>
                    </a:moveTo>
                    <a:cubicBezTo>
                      <a:pt x="129852" y="976"/>
                      <a:pt x="126345" y="3508"/>
                      <a:pt x="124142" y="7049"/>
                    </a:cubicBezTo>
                    <a:cubicBezTo>
                      <a:pt x="107267" y="34083"/>
                      <a:pt x="95034" y="63750"/>
                      <a:pt x="87947" y="94821"/>
                    </a:cubicBezTo>
                    <a:lnTo>
                      <a:pt x="0" y="94821"/>
                    </a:lnTo>
                    <a:cubicBezTo>
                      <a:pt x="23363" y="41350"/>
                      <a:pt x="74154" y="4984"/>
                      <a:pt x="132302" y="95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680426" y="2427542"/>
                <a:ext cx="49848" cy="61674"/>
              </a:xfrm>
              <a:custGeom>
                <a:avLst/>
                <a:gdLst/>
                <a:ahLst/>
                <a:cxnLst/>
                <a:rect l="l" t="t" r="r" b="b"/>
                <a:pathLst>
                  <a:path w="49848" h="61674">
                    <a:moveTo>
                      <a:pt x="24924" y="0"/>
                    </a:moveTo>
                    <a:cubicBezTo>
                      <a:pt x="35899" y="19377"/>
                      <a:pt x="44279" y="40113"/>
                      <a:pt x="49848" y="61674"/>
                    </a:cubicBezTo>
                    <a:lnTo>
                      <a:pt x="0" y="61674"/>
                    </a:lnTo>
                    <a:cubicBezTo>
                      <a:pt x="5397" y="40767"/>
                      <a:pt x="13494" y="20399"/>
                      <a:pt x="24289" y="1079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4716986" y="2394363"/>
                <a:ext cx="133906" cy="94837"/>
              </a:xfrm>
              <a:custGeom>
                <a:avLst/>
                <a:gdLst/>
                <a:ahLst/>
                <a:cxnLst/>
                <a:rect l="l" t="t" r="r" b="b"/>
                <a:pathLst>
                  <a:path w="133906" h="94837">
                    <a:moveTo>
                      <a:pt x="0" y="0"/>
                    </a:moveTo>
                    <a:cubicBezTo>
                      <a:pt x="58767" y="4340"/>
                      <a:pt x="110307" y="40843"/>
                      <a:pt x="133906" y="94837"/>
                    </a:cubicBezTo>
                    <a:lnTo>
                      <a:pt x="45958" y="94837"/>
                    </a:lnTo>
                    <a:cubicBezTo>
                      <a:pt x="38874" y="63760"/>
                      <a:pt x="26640" y="34088"/>
                      <a:pt x="9763" y="7049"/>
                    </a:cubicBezTo>
                    <a:cubicBezTo>
                      <a:pt x="7853" y="3989"/>
                      <a:pt x="4959" y="1671"/>
                      <a:pt x="1556" y="476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5027295" y="2488882"/>
              <a:ext cx="13450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AWS 中国区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35868" y="2799874"/>
              <a:ext cx="20254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cn-north-1 · cn-northwest-1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514850" y="3238500"/>
              <a:ext cx="3162300" cy="9525"/>
            </a:xfrm>
            <a:prstGeom prst="rect">
              <a:avLst/>
            </a:prstGeom>
            <a:solidFill>
              <a:srgbClr val="2D374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501515" y="3487102"/>
              <a:ext cx="25953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两个独立账号 (project demo focus)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4501515" y="3753802"/>
              <a:ext cx="2463165" cy="441960"/>
              <a:chOff x="4501515" y="3753802"/>
              <a:chExt cx="2463165" cy="441960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4501515" y="3753802"/>
                <a:ext cx="28736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Consolas"/>
                    <a:ea typeface="Microsoft YaHei"/>
                    <a:cs typeface="Consolas"/>
                  </a:rPr>
                  <a:t>bjs1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015865" y="3753802"/>
                <a:ext cx="100889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107422471498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655118" y="3761899"/>
                <a:ext cx="3095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北京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4501515" y="3982402"/>
                <a:ext cx="4100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Consolas"/>
                    <a:ea typeface="Microsoft YaHei"/>
                    <a:cs typeface="Consolas"/>
                  </a:rPr>
                  <a:t>china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015865" y="3982402"/>
                <a:ext cx="10491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284567523170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655118" y="3990499"/>
                <a:ext cx="3095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宁夏</a:t>
                </a:r>
              </a:p>
            </p:txBody>
          </p:sp>
        </p:grpSp>
        <p:sp>
          <p:nvSpPr>
            <p:cNvPr id="53" name="TextBox 53"/>
            <p:cNvSpPr txBox="1"/>
            <p:nvPr/>
          </p:nvSpPr>
          <p:spPr>
            <a:xfrm>
              <a:off x="4501515" y="43253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承载</a:t>
              </a:r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4572000" y="4593431"/>
              <a:ext cx="2940843" cy="762000"/>
              <a:chOff x="4572000" y="4593431"/>
              <a:chExt cx="2940843" cy="762000"/>
            </a:xfrm>
          </p:grpSpPr>
          <p:sp>
            <p:nvSpPr>
              <p:cNvPr id="54" name="Ellipse 54"/>
              <p:cNvSpPr/>
              <p:nvPr/>
            </p:nvSpPr>
            <p:spPr>
              <a:xfrm>
                <a:off x="4572000" y="4648200"/>
                <a:ext cx="38100" cy="38100"/>
              </a:xfrm>
              <a:prstGeom prst="ellipse">
                <a:avLst/>
              </a:pr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4691062" y="4593431"/>
                <a:ext cx="24192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EKS web app + RDS PostgreSQL</a:t>
                </a:r>
              </a:p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4572000" y="4914900"/>
                <a:ext cx="38100" cy="38100"/>
              </a:xfrm>
              <a:prstGeom prst="ellipse">
                <a:avLst/>
              </a:pr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4691062" y="4860131"/>
                <a:ext cx="273962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ECS Fargate ETL + DynamoDB / SQS</a:t>
                </a:r>
              </a:p>
            </p:txBody>
          </p:sp>
          <p:sp>
            <p:nvSpPr>
              <p:cNvPr id="58" name="Ellipse 58"/>
              <p:cNvSpPr/>
              <p:nvPr/>
            </p:nvSpPr>
            <p:spPr>
              <a:xfrm>
                <a:off x="4572000" y="5181600"/>
                <a:ext cx="38100" cy="38100"/>
              </a:xfrm>
              <a:prstGeom prst="ellipse">
                <a:avLst/>
              </a:pr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4691062" y="5126831"/>
                <a:ext cx="2821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CloudWatch alarms + bridge Lambda</a:t>
                </a:r>
              </a:p>
            </p:txBody>
          </p:sp>
        </p:grpSp>
        <p:sp>
          <p:nvSpPr>
            <p:cNvPr id="61" name="Rectangle 61"/>
            <p:cNvSpPr/>
            <p:nvPr/>
          </p:nvSpPr>
          <p:spPr>
            <a:xfrm>
              <a:off x="4514850" y="5410200"/>
              <a:ext cx="3162300" cy="457200"/>
            </a:xfrm>
            <a:prstGeom prst="roundRect">
              <a:avLst>
                <a:gd name="adj" fmla="val 12500"/>
              </a:avLst>
            </a:prstGeom>
            <a:solidFill>
              <a:srgbClr val="0F1419"/>
            </a:solidFill>
            <a:ln w="9525">
              <a:solidFill>
                <a:srgbClr val="FF9800">
                  <a:alpha val="60000"/>
                </a:srgbClr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4652962" y="5572125"/>
              <a:ext cx="142875" cy="111125"/>
            </a:xfrm>
            <a:custGeom>
              <a:avLst/>
              <a:gdLst/>
              <a:ahLst/>
              <a:cxnLst/>
              <a:rect l="l" t="t" r="r" b="b"/>
              <a:pathLst>
                <a:path w="142875" h="111125">
                  <a:moveTo>
                    <a:pt x="119062" y="0"/>
                  </a:moveTo>
                  <a:cubicBezTo>
                    <a:pt x="132214" y="0"/>
                    <a:pt x="142875" y="10661"/>
                    <a:pt x="142875" y="23812"/>
                  </a:cubicBezTo>
                  <a:lnTo>
                    <a:pt x="142875" y="95250"/>
                  </a:lnTo>
                  <a:cubicBezTo>
                    <a:pt x="142875" y="104018"/>
                    <a:pt x="135768" y="111125"/>
                    <a:pt x="127000" y="111125"/>
                  </a:cubicBezTo>
                  <a:lnTo>
                    <a:pt x="111125" y="111125"/>
                  </a:lnTo>
                  <a:cubicBezTo>
                    <a:pt x="102357" y="111125"/>
                    <a:pt x="95250" y="104018"/>
                    <a:pt x="95250" y="95250"/>
                  </a:cubicBezTo>
                  <a:lnTo>
                    <a:pt x="95250" y="79375"/>
                  </a:lnTo>
                  <a:cubicBezTo>
                    <a:pt x="95250" y="66224"/>
                    <a:pt x="84589" y="55563"/>
                    <a:pt x="71438" y="55563"/>
                  </a:cubicBezTo>
                  <a:cubicBezTo>
                    <a:pt x="58286" y="55563"/>
                    <a:pt x="47625" y="66224"/>
                    <a:pt x="47625" y="79375"/>
                  </a:cubicBezTo>
                  <a:lnTo>
                    <a:pt x="47625" y="95250"/>
                  </a:lnTo>
                  <a:cubicBezTo>
                    <a:pt x="47625" y="104018"/>
                    <a:pt x="40518" y="111125"/>
                    <a:pt x="31750" y="111125"/>
                  </a:cubicBezTo>
                  <a:lnTo>
                    <a:pt x="15875" y="111125"/>
                  </a:lnTo>
                  <a:cubicBezTo>
                    <a:pt x="7107" y="111125"/>
                    <a:pt x="0" y="104018"/>
                    <a:pt x="0" y="95250"/>
                  </a:cubicBezTo>
                  <a:lnTo>
                    <a:pt x="0" y="23812"/>
                  </a:lnTo>
                  <a:cubicBezTo>
                    <a:pt x="0" y="10661"/>
                    <a:pt x="10661" y="0"/>
                    <a:pt x="23812" y="0"/>
                  </a:cubicBez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882515" y="5573078"/>
              <a:ext cx="15563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需 Bridge — 项目焦点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8001000" y="2095500"/>
            <a:ext cx="3619500" cy="4000500"/>
            <a:chOff x="8001000" y="2095500"/>
            <a:chExt cx="3619500" cy="4000500"/>
          </a:xfrm>
        </p:grpSpPr>
        <p:sp>
          <p:nvSpPr>
            <p:cNvPr id="65" name="Rectangle 65"/>
            <p:cNvSpPr/>
            <p:nvPr/>
          </p:nvSpPr>
          <p:spPr>
            <a:xfrm>
              <a:off x="8001000" y="2095500"/>
              <a:ext cx="3619500" cy="4000500"/>
            </a:xfrm>
            <a:prstGeom prst="roundRect">
              <a:avLst>
                <a:gd name="adj" fmla="val 3684"/>
              </a:avLst>
            </a:prstGeom>
            <a:solidFill>
              <a:srgbClr val="1A2332"/>
            </a:solidFill>
            <a:ln w="9525">
              <a:solidFill>
                <a:srgbClr val="2D3748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001000" y="2095500"/>
              <a:ext cx="3619500" cy="57150"/>
            </a:xfrm>
            <a:prstGeom prst="roundRect">
              <a:avLst>
                <a:gd name="adj" fmla="val 50000"/>
              </a:avLst>
            </a:prstGeom>
            <a:solidFill>
              <a:srgbClr val="6B7280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8001000" y="2124075"/>
              <a:ext cx="3619500" cy="28575"/>
            </a:xfrm>
            <a:prstGeom prst="rect">
              <a:avLst/>
            </a:prstGeom>
            <a:solidFill>
              <a:srgbClr val="6B7280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8245475" y="2388203"/>
              <a:ext cx="349250" cy="323247"/>
            </a:xfrm>
            <a:custGeom>
              <a:avLst/>
              <a:gdLst/>
              <a:ahLst/>
              <a:cxnLst/>
              <a:rect l="l" t="t" r="r" b="b"/>
              <a:pathLst>
                <a:path w="349250" h="323247">
                  <a:moveTo>
                    <a:pt x="127000" y="291497"/>
                  </a:moveTo>
                  <a:cubicBezTo>
                    <a:pt x="127000" y="309032"/>
                    <a:pt x="112785" y="323247"/>
                    <a:pt x="95250" y="323247"/>
                  </a:cubicBezTo>
                  <a:lnTo>
                    <a:pt x="31750" y="323247"/>
                  </a:lnTo>
                  <a:cubicBezTo>
                    <a:pt x="22982" y="323247"/>
                    <a:pt x="15875" y="316139"/>
                    <a:pt x="15875" y="307372"/>
                  </a:cubicBezTo>
                  <a:cubicBezTo>
                    <a:pt x="15875" y="298604"/>
                    <a:pt x="22982" y="291497"/>
                    <a:pt x="31750" y="291497"/>
                  </a:cubicBezTo>
                  <a:lnTo>
                    <a:pt x="95250" y="291497"/>
                  </a:lnTo>
                  <a:lnTo>
                    <a:pt x="95250" y="243919"/>
                  </a:lnTo>
                  <a:lnTo>
                    <a:pt x="89805" y="243935"/>
                  </a:lnTo>
                  <a:cubicBezTo>
                    <a:pt x="89184" y="243935"/>
                    <a:pt x="88564" y="243897"/>
                    <a:pt x="87948" y="243824"/>
                  </a:cubicBezTo>
                  <a:lnTo>
                    <a:pt x="86281" y="243808"/>
                  </a:lnTo>
                  <a:cubicBezTo>
                    <a:pt x="39608" y="242062"/>
                    <a:pt x="1873" y="205724"/>
                    <a:pt x="79" y="160258"/>
                  </a:cubicBezTo>
                  <a:lnTo>
                    <a:pt x="0" y="156829"/>
                  </a:lnTo>
                  <a:cubicBezTo>
                    <a:pt x="0" y="113221"/>
                    <a:pt x="33020" y="77295"/>
                    <a:pt x="75946" y="70834"/>
                  </a:cubicBezTo>
                  <a:lnTo>
                    <a:pt x="77756" y="70580"/>
                  </a:lnTo>
                  <a:lnTo>
                    <a:pt x="78867" y="67707"/>
                  </a:lnTo>
                  <a:cubicBezTo>
                    <a:pt x="89392" y="41989"/>
                    <a:pt x="111506" y="21574"/>
                    <a:pt x="139652" y="11859"/>
                  </a:cubicBezTo>
                  <a:lnTo>
                    <a:pt x="143526" y="10589"/>
                  </a:lnTo>
                  <a:cubicBezTo>
                    <a:pt x="178356" y="0"/>
                    <a:pt x="216773" y="7033"/>
                    <a:pt x="244491" y="29258"/>
                  </a:cubicBezTo>
                  <a:cubicBezTo>
                    <a:pt x="266478" y="46847"/>
                    <a:pt x="279210" y="71898"/>
                    <a:pt x="280210" y="98155"/>
                  </a:cubicBezTo>
                  <a:lnTo>
                    <a:pt x="280273" y="101521"/>
                  </a:lnTo>
                  <a:lnTo>
                    <a:pt x="281718" y="101568"/>
                  </a:lnTo>
                  <a:cubicBezTo>
                    <a:pt x="318230" y="103267"/>
                    <a:pt x="347488" y="132699"/>
                    <a:pt x="349187" y="169354"/>
                  </a:cubicBezTo>
                  <a:lnTo>
                    <a:pt x="349250" y="172704"/>
                  </a:lnTo>
                  <a:cubicBezTo>
                    <a:pt x="349250" y="212042"/>
                    <a:pt x="317548" y="243935"/>
                    <a:pt x="278368" y="243935"/>
                  </a:cubicBezTo>
                  <a:lnTo>
                    <a:pt x="254000" y="243935"/>
                  </a:lnTo>
                  <a:lnTo>
                    <a:pt x="254000" y="291497"/>
                  </a:lnTo>
                  <a:lnTo>
                    <a:pt x="317500" y="291497"/>
                  </a:lnTo>
                  <a:cubicBezTo>
                    <a:pt x="326268" y="291497"/>
                    <a:pt x="333375" y="298604"/>
                    <a:pt x="333375" y="307372"/>
                  </a:cubicBezTo>
                  <a:cubicBezTo>
                    <a:pt x="333375" y="316139"/>
                    <a:pt x="326268" y="323247"/>
                    <a:pt x="317500" y="323247"/>
                  </a:cubicBezTo>
                  <a:lnTo>
                    <a:pt x="254000" y="323247"/>
                  </a:lnTo>
                  <a:cubicBezTo>
                    <a:pt x="236465" y="323247"/>
                    <a:pt x="222250" y="309032"/>
                    <a:pt x="222250" y="291497"/>
                  </a:cubicBezTo>
                  <a:lnTo>
                    <a:pt x="222250" y="243919"/>
                  </a:lnTo>
                  <a:lnTo>
                    <a:pt x="190500" y="243919"/>
                  </a:lnTo>
                  <a:lnTo>
                    <a:pt x="190500" y="307372"/>
                  </a:lnTo>
                  <a:cubicBezTo>
                    <a:pt x="190500" y="316139"/>
                    <a:pt x="183393" y="323247"/>
                    <a:pt x="174625" y="323247"/>
                  </a:cubicBezTo>
                  <a:cubicBezTo>
                    <a:pt x="165857" y="323247"/>
                    <a:pt x="158750" y="316139"/>
                    <a:pt x="158750" y="307372"/>
                  </a:cubicBezTo>
                  <a:lnTo>
                    <a:pt x="158750" y="243919"/>
                  </a:lnTo>
                  <a:lnTo>
                    <a:pt x="127000" y="243919"/>
                  </a:lnTo>
                  <a:close/>
                </a:path>
              </a:pathLst>
            </a:custGeom>
            <a:solidFill>
              <a:srgbClr val="9AA0A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742045" y="2488882"/>
              <a:ext cx="80100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其他云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750618" y="2799874"/>
              <a:ext cx="14060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Consolas"/>
                  <a:ea typeface="Microsoft YaHei"/>
                  <a:cs typeface="Consolas"/>
                </a:rPr>
                <a:t>阿里云 / GCP / Azure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229600" y="3238500"/>
              <a:ext cx="3162300" cy="9525"/>
            </a:xfrm>
            <a:prstGeom prst="rect">
              <a:avLst/>
            </a:prstGeom>
            <a:solidFill>
              <a:srgbClr val="2D374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216265" y="3487102"/>
              <a:ext cx="25033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备用 / 占位（不在本次 demo 焦点）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16265" y="384905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承载</a:t>
              </a:r>
            </a:p>
          </p:txBody>
        </p:sp>
        <p:grpSp>
          <p:nvGrpSpPr>
            <p:cNvPr id="80" name="Group 80"/>
            <p:cNvGrpSpPr/>
            <p:nvPr/>
          </p:nvGrpSpPr>
          <p:grpSpPr>
            <a:xfrm>
              <a:off x="8286750" y="4117181"/>
              <a:ext cx="2595800" cy="762000"/>
              <a:chOff x="8286750" y="4117181"/>
              <a:chExt cx="2595800" cy="762000"/>
            </a:xfrm>
          </p:grpSpPr>
          <p:sp>
            <p:nvSpPr>
              <p:cNvPr id="74" name="Ellipse 74"/>
              <p:cNvSpPr/>
              <p:nvPr/>
            </p:nvSpPr>
            <p:spPr>
              <a:xfrm>
                <a:off x="8286750" y="4171950"/>
                <a:ext cx="38100" cy="38100"/>
              </a:xfrm>
              <a:prstGeom prst="ellipse">
                <a:avLst/>
              </a:prstGeom>
              <a:solidFill>
                <a:srgbClr val="9AA0A6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8405812" y="4117181"/>
                <a:ext cx="24767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阿里云 — alibaba-cloud-ops MCP</a:t>
                </a:r>
              </a:p>
            </p:txBody>
          </p:sp>
          <p:sp>
            <p:nvSpPr>
              <p:cNvPr id="76" name="Ellipse 76"/>
              <p:cNvSpPr/>
              <p:nvPr/>
            </p:nvSpPr>
            <p:spPr>
              <a:xfrm>
                <a:off x="8286750" y="4438650"/>
                <a:ext cx="38100" cy="38100"/>
              </a:xfrm>
              <a:prstGeom prst="ellipse">
                <a:avLst/>
              </a:prstGeom>
              <a:solidFill>
                <a:srgbClr val="9AA0A6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8405812" y="4383881"/>
                <a:ext cx="190988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GCP — k8s.yaml 中已占位</a:t>
                </a:r>
              </a:p>
            </p:txBody>
          </p:sp>
          <p:sp>
            <p:nvSpPr>
              <p:cNvPr id="78" name="Ellipse 78"/>
              <p:cNvSpPr/>
              <p:nvPr/>
            </p:nvSpPr>
            <p:spPr>
              <a:xfrm>
                <a:off x="8286750" y="4705350"/>
                <a:ext cx="38100" cy="38100"/>
              </a:xfrm>
              <a:prstGeom prst="ellipse">
                <a:avLst/>
              </a:prstGeom>
              <a:solidFill>
                <a:srgbClr val="9AA0A6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8405812" y="4650581"/>
                <a:ext cx="204132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Azure — 原生 agent 已支持</a:t>
                </a:r>
              </a:p>
            </p:txBody>
          </p:sp>
        </p:grpSp>
        <p:sp>
          <p:nvSpPr>
            <p:cNvPr id="81" name="Rectangle 81"/>
            <p:cNvSpPr/>
            <p:nvPr/>
          </p:nvSpPr>
          <p:spPr>
            <a:xfrm>
              <a:off x="8229600" y="5410200"/>
              <a:ext cx="3162300" cy="457200"/>
            </a:xfrm>
            <a:prstGeom prst="roundRect">
              <a:avLst>
                <a:gd name="adj" fmla="val 12500"/>
              </a:avLst>
            </a:prstGeom>
            <a:solidFill>
              <a:srgbClr val="0F1419"/>
            </a:solidFill>
            <a:ln w="9525">
              <a:solidFill>
                <a:srgbClr val="2D3748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8359774" y="5536819"/>
              <a:ext cx="167139" cy="167791"/>
            </a:xfrm>
            <a:custGeom>
              <a:avLst/>
              <a:gdLst/>
              <a:ahLst/>
              <a:cxnLst/>
              <a:rect l="l" t="t" r="r" b="b"/>
              <a:pathLst>
                <a:path w="167139" h="167791">
                  <a:moveTo>
                    <a:pt x="119063" y="14192"/>
                  </a:moveTo>
                  <a:cubicBezTo>
                    <a:pt x="152423" y="33452"/>
                    <a:pt x="167139" y="73884"/>
                    <a:pt x="153964" y="110081"/>
                  </a:cubicBezTo>
                  <a:cubicBezTo>
                    <a:pt x="140789" y="146278"/>
                    <a:pt x="103526" y="167791"/>
                    <a:pt x="65591" y="161101"/>
                  </a:cubicBezTo>
                  <a:cubicBezTo>
                    <a:pt x="27656" y="154412"/>
                    <a:pt x="0" y="121451"/>
                    <a:pt x="1" y="82931"/>
                  </a:cubicBezTo>
                  <a:lnTo>
                    <a:pt x="41" y="80359"/>
                  </a:lnTo>
                  <a:cubicBezTo>
                    <a:pt x="945" y="52474"/>
                    <a:pt x="16422" y="27112"/>
                    <a:pt x="40807" y="13556"/>
                  </a:cubicBezTo>
                  <a:cubicBezTo>
                    <a:pt x="65191" y="0"/>
                    <a:pt x="94902" y="241"/>
                    <a:pt x="119063" y="14192"/>
                  </a:cubicBezTo>
                  <a:moveTo>
                    <a:pt x="76193" y="90201"/>
                  </a:moveTo>
                  <a:lnTo>
                    <a:pt x="76606" y="90368"/>
                  </a:lnTo>
                  <a:lnTo>
                    <a:pt x="77241" y="90574"/>
                  </a:lnTo>
                  <a:lnTo>
                    <a:pt x="77876" y="90725"/>
                  </a:lnTo>
                  <a:lnTo>
                    <a:pt x="78447" y="90812"/>
                  </a:lnTo>
                  <a:lnTo>
                    <a:pt x="79376" y="90868"/>
                  </a:lnTo>
                  <a:lnTo>
                    <a:pt x="79979" y="90844"/>
                  </a:lnTo>
                  <a:lnTo>
                    <a:pt x="81051" y="90685"/>
                  </a:lnTo>
                  <a:lnTo>
                    <a:pt x="81702" y="90527"/>
                  </a:lnTo>
                  <a:lnTo>
                    <a:pt x="82519" y="90217"/>
                  </a:lnTo>
                  <a:lnTo>
                    <a:pt x="83099" y="89939"/>
                  </a:lnTo>
                  <a:lnTo>
                    <a:pt x="83718" y="89574"/>
                  </a:lnTo>
                  <a:lnTo>
                    <a:pt x="84194" y="89241"/>
                  </a:lnTo>
                  <a:lnTo>
                    <a:pt x="84829" y="88693"/>
                  </a:lnTo>
                  <a:lnTo>
                    <a:pt x="85488" y="87995"/>
                  </a:lnTo>
                  <a:lnTo>
                    <a:pt x="85980" y="87336"/>
                  </a:lnTo>
                  <a:lnTo>
                    <a:pt x="101855" y="63523"/>
                  </a:lnTo>
                  <a:cubicBezTo>
                    <a:pt x="104288" y="59876"/>
                    <a:pt x="103304" y="54947"/>
                    <a:pt x="99656" y="52514"/>
                  </a:cubicBezTo>
                  <a:cubicBezTo>
                    <a:pt x="96009" y="50081"/>
                    <a:pt x="91080" y="51065"/>
                    <a:pt x="88647" y="54713"/>
                  </a:cubicBezTo>
                  <a:lnTo>
                    <a:pt x="87313" y="56705"/>
                  </a:lnTo>
                  <a:lnTo>
                    <a:pt x="87313" y="43243"/>
                  </a:lnTo>
                  <a:cubicBezTo>
                    <a:pt x="87313" y="39219"/>
                    <a:pt x="84301" y="35832"/>
                    <a:pt x="80305" y="35361"/>
                  </a:cubicBezTo>
                  <a:lnTo>
                    <a:pt x="79376" y="35306"/>
                  </a:lnTo>
                  <a:cubicBezTo>
                    <a:pt x="74992" y="35306"/>
                    <a:pt x="71438" y="38859"/>
                    <a:pt x="71438" y="43243"/>
                  </a:cubicBezTo>
                  <a:lnTo>
                    <a:pt x="71438" y="83137"/>
                  </a:lnTo>
                  <a:lnTo>
                    <a:pt x="71510" y="83970"/>
                  </a:lnTo>
                  <a:lnTo>
                    <a:pt x="71669" y="84820"/>
                  </a:lnTo>
                  <a:lnTo>
                    <a:pt x="71986" y="85844"/>
                  </a:lnTo>
                  <a:lnTo>
                    <a:pt x="72367" y="86653"/>
                  </a:lnTo>
                  <a:lnTo>
                    <a:pt x="72732" y="87272"/>
                  </a:lnTo>
                  <a:lnTo>
                    <a:pt x="73066" y="87749"/>
                  </a:lnTo>
                  <a:lnTo>
                    <a:pt x="73613" y="88384"/>
                  </a:lnTo>
                  <a:lnTo>
                    <a:pt x="74312" y="89042"/>
                  </a:lnTo>
                  <a:lnTo>
                    <a:pt x="74971" y="89535"/>
                  </a:lnTo>
                  <a:lnTo>
                    <a:pt x="75685" y="89955"/>
                  </a:lnTo>
                  <a:close/>
                </a:path>
              </a:pathLst>
            </a:custGeom>
            <a:solidFill>
              <a:srgbClr val="9AA0A6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597265" y="5573078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同模式可扩展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61022" y="6483191"/>
            <a:ext cx="11069956" cy="167640"/>
            <a:chOff x="561022" y="6483191"/>
            <a:chExt cx="11069956" cy="167640"/>
          </a:xfrm>
        </p:grpSpPr>
        <p:sp>
          <p:nvSpPr>
            <p:cNvPr id="85" name="TextBox 85"/>
            <p:cNvSpPr txBox="1"/>
            <p:nvPr/>
          </p:nvSpPr>
          <p:spPr>
            <a:xfrm>
              <a:off x="561022" y="6483191"/>
              <a:ext cx="33344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来源：项目仓库 chart/ + chart-aliyun/ + deploy/k8s.yaml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206377" y="6483191"/>
              <a:ext cx="4246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04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64" grpId="0"/>
      <p:bldP spid="8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7210" y="476250"/>
            <a:ext cx="8887882" cy="1162050"/>
            <a:chOff x="537210" y="476250"/>
            <a:chExt cx="8887882" cy="116205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16529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6C FRAMEWORK · 速查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888788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DevOps Agent 与普通 LLM 包装层的</a:t>
              </a:r>
              <a:r>
                <a:rPr lang="zh-CN" sz="27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六个差异点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394460"/>
              <a:ext cx="63486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"6 个 C" 不是营销分类，是具体的工程投入 — 后面 3 个 case 会分别映射到不同 C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1905000"/>
            <a:ext cx="11049000" cy="2971800"/>
            <a:chOff x="571500" y="1905000"/>
            <a:chExt cx="11049000" cy="2971800"/>
          </a:xfrm>
        </p:grpSpPr>
        <p:grpSp>
          <p:nvGrpSpPr>
            <p:cNvPr id="16" name="Group 16"/>
            <p:cNvGrpSpPr/>
            <p:nvPr/>
          </p:nvGrpSpPr>
          <p:grpSpPr>
            <a:xfrm>
              <a:off x="571500" y="1905000"/>
              <a:ext cx="3619500" cy="1390650"/>
              <a:chOff x="571500" y="1905000"/>
              <a:chExt cx="3619500" cy="13906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905000"/>
                <a:ext cx="3619500" cy="1390650"/>
              </a:xfrm>
              <a:prstGeom prst="roundRect">
                <a:avLst>
                  <a:gd name="adj" fmla="val 8219"/>
                </a:avLst>
              </a:prstGeom>
              <a:solidFill>
                <a:srgbClr val="1A2332"/>
              </a:solidFill>
              <a:ln w="14288">
                <a:solidFill>
                  <a:srgbClr val="42A5F5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742950" y="2076450"/>
                <a:ext cx="419100" cy="419100"/>
              </a:xfrm>
              <a:prstGeom prst="ellipse">
                <a:avLst/>
              </a:prstGeom>
              <a:gradFill>
                <a:gsLst>
                  <a:gs pos="0">
                    <a:srgbClr val="1565C0"/>
                  </a:gs>
                  <a:gs pos="100000">
                    <a:srgbClr val="42A5F5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93590" y="2184082"/>
                <a:ext cx="11781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95400" y="2047875"/>
                <a:ext cx="92371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Context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302068" y="2314099"/>
                <a:ext cx="118531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上下文 / 拓扑智能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762000" y="2667000"/>
                <a:ext cx="323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9525">
                    <a:moveTo>
                      <a:pt x="0" y="0"/>
                    </a:moveTo>
                    <a:lnTo>
                      <a:pt x="3238500" y="0"/>
                    </a:lnTo>
                  </a:path>
                </a:pathLst>
              </a:custGeom>
              <a:noFill/>
              <a:ln w="9525">
                <a:solidFill>
                  <a:srgbClr val="2D3748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49618" y="2828449"/>
                <a:ext cx="231738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CloudWatch + GitHub + IaC + Trace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49618" y="3018949"/>
                <a:ext cx="17335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多源在一次调查里同时关联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286250" y="1905000"/>
              <a:ext cx="3619500" cy="1390650"/>
              <a:chOff x="4286250" y="1905000"/>
              <a:chExt cx="3619500" cy="13906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286250" y="1905000"/>
                <a:ext cx="3619500" cy="1390650"/>
              </a:xfrm>
              <a:prstGeom prst="roundRect">
                <a:avLst>
                  <a:gd name="adj" fmla="val 8219"/>
                </a:avLst>
              </a:prstGeom>
              <a:solidFill>
                <a:srgbClr val="1A2332"/>
              </a:solidFill>
              <a:ln w="14288">
                <a:solidFill>
                  <a:srgbClr val="42A5F5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4457700" y="2076450"/>
                <a:ext cx="419100" cy="419100"/>
              </a:xfrm>
              <a:prstGeom prst="ellipse">
                <a:avLst/>
              </a:prstGeom>
              <a:gradFill>
                <a:gsLst>
                  <a:gs pos="0">
                    <a:srgbClr val="1565C0"/>
                  </a:gs>
                  <a:gs pos="100000">
                    <a:srgbClr val="42A5F5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576711" y="2184082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010150" y="2047875"/>
                <a:ext cx="86620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Control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016818" y="2314099"/>
                <a:ext cx="120667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治理 / 权限 / 审计</a:t>
                </a:r>
              </a:p>
            </p:txBody>
          </p:sp>
          <p:sp>
            <p:nvSpPr>
              <p:cNvPr id="22" name="Line 22"/>
              <p:cNvSpPr/>
              <p:nvPr/>
            </p:nvSpPr>
            <p:spPr>
              <a:xfrm>
                <a:off x="4476750" y="2667000"/>
                <a:ext cx="323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9525">
                    <a:moveTo>
                      <a:pt x="0" y="0"/>
                    </a:moveTo>
                    <a:lnTo>
                      <a:pt x="3238500" y="0"/>
                    </a:lnTo>
                  </a:path>
                </a:pathLst>
              </a:custGeom>
              <a:noFill/>
              <a:ln w="9525">
                <a:solidFill>
                  <a:srgbClr val="2D3748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464368" y="2828449"/>
                <a:ext cx="209666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细粒度 IAM + 不可篡改 audit log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64368" y="3018949"/>
                <a:ext cx="10215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每步推理可追溯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8001000" y="1905000"/>
              <a:ext cx="3619500" cy="1390650"/>
              <a:chOff x="8001000" y="1905000"/>
              <a:chExt cx="3619500" cy="13906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8001000" y="1905000"/>
                <a:ext cx="3619500" cy="1390650"/>
              </a:xfrm>
              <a:prstGeom prst="roundRect">
                <a:avLst>
                  <a:gd name="adj" fmla="val 8219"/>
                </a:avLst>
              </a:prstGeom>
              <a:solidFill>
                <a:srgbClr val="1A2332"/>
              </a:solidFill>
              <a:ln w="14288">
                <a:solidFill>
                  <a:srgbClr val="42A5F5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8172450" y="2076450"/>
                <a:ext cx="419100" cy="419100"/>
              </a:xfrm>
              <a:prstGeom prst="ellipse">
                <a:avLst/>
              </a:prstGeom>
              <a:gradFill>
                <a:gsLst>
                  <a:gs pos="0">
                    <a:srgbClr val="1565C0"/>
                  </a:gs>
                  <a:gs pos="100000">
                    <a:srgbClr val="42A5F5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291461" y="2184082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3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724900" y="2047875"/>
                <a:ext cx="1372267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Convenience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731568" y="2314099"/>
                <a:ext cx="147011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便利性 / 零配置上下文</a:t>
                </a:r>
              </a:p>
            </p:txBody>
          </p:sp>
          <p:sp>
            <p:nvSpPr>
              <p:cNvPr id="31" name="Line 31"/>
              <p:cNvSpPr/>
              <p:nvPr/>
            </p:nvSpPr>
            <p:spPr>
              <a:xfrm>
                <a:off x="8191500" y="2667000"/>
                <a:ext cx="323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9525">
                    <a:moveTo>
                      <a:pt x="0" y="0"/>
                    </a:moveTo>
                    <a:lnTo>
                      <a:pt x="3238500" y="0"/>
                    </a:lnTo>
                  </a:path>
                </a:pathLst>
              </a:custGeom>
              <a:noFill/>
              <a:ln w="9525">
                <a:solidFill>
                  <a:srgbClr val="2D3748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179118" y="2828449"/>
                <a:ext cx="203258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Agent Space 一处配置全员可用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179118" y="3018949"/>
                <a:ext cx="17905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新 SRE 上手不用接 N 个工具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571500" y="3486150"/>
              <a:ext cx="3619500" cy="1390650"/>
              <a:chOff x="571500" y="3486150"/>
              <a:chExt cx="3619500" cy="13906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571500" y="3486150"/>
                <a:ext cx="3619500" cy="1390650"/>
              </a:xfrm>
              <a:prstGeom prst="roundRect">
                <a:avLst>
                  <a:gd name="adj" fmla="val 8219"/>
                </a:avLst>
              </a:prstGeom>
              <a:solidFill>
                <a:srgbClr val="1A2332"/>
              </a:solidFill>
              <a:ln w="14288">
                <a:solidFill>
                  <a:srgbClr val="FF9800"/>
                </a:solidFill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742950" y="3657600"/>
                <a:ext cx="419100" cy="419100"/>
              </a:xfrm>
              <a:prstGeom prst="ellipse">
                <a:avLst/>
              </a:pr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61961" y="3765232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4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295400" y="3629025"/>
                <a:ext cx="15102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Collaboration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302068" y="3895249"/>
                <a:ext cx="104291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协作 / 自主调查</a:t>
                </a:r>
              </a:p>
            </p:txBody>
          </p:sp>
          <p:sp>
            <p:nvSpPr>
              <p:cNvPr id="40" name="Line 40"/>
              <p:cNvSpPr/>
              <p:nvPr/>
            </p:nvSpPr>
            <p:spPr>
              <a:xfrm>
                <a:off x="762000" y="4248150"/>
                <a:ext cx="323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9525">
                    <a:moveTo>
                      <a:pt x="0" y="0"/>
                    </a:moveTo>
                    <a:lnTo>
                      <a:pt x="3238500" y="0"/>
                    </a:lnTo>
                  </a:path>
                </a:pathLst>
              </a:custGeom>
              <a:noFill/>
              <a:ln w="9525">
                <a:solidFill>
                  <a:srgbClr val="2D3748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49618" y="4409599"/>
                <a:ext cx="164099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告警进来 agent 直接接管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49618" y="4600099"/>
                <a:ext cx="14416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Slack / 工单 自动协调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4286250" y="3486150"/>
              <a:ext cx="3619500" cy="1390650"/>
              <a:chOff x="4286250" y="3486150"/>
              <a:chExt cx="3619500" cy="13906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4286250" y="3486150"/>
                <a:ext cx="3619500" cy="1390650"/>
              </a:xfrm>
              <a:prstGeom prst="roundRect">
                <a:avLst>
                  <a:gd name="adj" fmla="val 8219"/>
                </a:avLst>
              </a:prstGeom>
              <a:solidFill>
                <a:srgbClr val="1A2332"/>
              </a:solidFill>
              <a:ln w="14288">
                <a:solidFill>
                  <a:srgbClr val="FF9800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4457700" y="3657600"/>
                <a:ext cx="419100" cy="419100"/>
              </a:xfrm>
              <a:prstGeom prst="ellipse">
                <a:avLst/>
              </a:pr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4576711" y="3765232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5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010150" y="3629025"/>
                <a:ext cx="22693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Continuous Learning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016818" y="3895249"/>
                <a:ext cx="13704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持续学习 / Skill 三层</a:t>
                </a:r>
              </a:p>
            </p:txBody>
          </p:sp>
          <p:sp>
            <p:nvSpPr>
              <p:cNvPr id="49" name="Line 49"/>
              <p:cNvSpPr/>
              <p:nvPr/>
            </p:nvSpPr>
            <p:spPr>
              <a:xfrm>
                <a:off x="4476750" y="4248150"/>
                <a:ext cx="323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9525">
                    <a:moveTo>
                      <a:pt x="0" y="0"/>
                    </a:moveTo>
                    <a:lnTo>
                      <a:pt x="3238500" y="0"/>
                    </a:lnTo>
                  </a:path>
                </a:pathLst>
              </a:custGeom>
              <a:noFill/>
              <a:ln w="9525">
                <a:solidFill>
                  <a:srgbClr val="2D3748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4464368" y="4409599"/>
                <a:ext cx="233162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AWS-provided + Custom + Learned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464368" y="4600099"/>
                <a:ext cx="130635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同类问题第二次更快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8001000" y="3486150"/>
              <a:ext cx="3619500" cy="1390650"/>
              <a:chOff x="8001000" y="3486150"/>
              <a:chExt cx="3619500" cy="139065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8001000" y="3486150"/>
                <a:ext cx="3619500" cy="1390650"/>
              </a:xfrm>
              <a:prstGeom prst="roundRect">
                <a:avLst>
                  <a:gd name="adj" fmla="val 8219"/>
                </a:avLst>
              </a:prstGeom>
              <a:solidFill>
                <a:srgbClr val="1A2332"/>
              </a:solidFill>
              <a:ln w="14288">
                <a:solidFill>
                  <a:srgbClr val="4CAF50"/>
                </a:solidFill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8172450" y="3657600"/>
                <a:ext cx="419100" cy="419100"/>
              </a:xfrm>
              <a:prstGeom prst="ellipse">
                <a:avLst/>
              </a:pr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8291461" y="3765232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SimHei"/>
                    <a:cs typeface="Arial"/>
                  </a:rPr>
                  <a:t>6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724900" y="3629025"/>
                <a:ext cx="1694307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4CAF50"/>
                    </a:solidFill>
                    <a:latin typeface="Arial"/>
                    <a:ea typeface="SimHei"/>
                    <a:cs typeface="Arial"/>
                  </a:rPr>
                  <a:t>Cost Effective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731568" y="3895249"/>
                <a:ext cx="5943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成本优势</a:t>
                </a:r>
              </a:p>
            </p:txBody>
          </p:sp>
          <p:sp>
            <p:nvSpPr>
              <p:cNvPr id="58" name="Line 58"/>
              <p:cNvSpPr/>
              <p:nvPr/>
            </p:nvSpPr>
            <p:spPr>
              <a:xfrm>
                <a:off x="8191500" y="4248150"/>
                <a:ext cx="323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9525">
                    <a:moveTo>
                      <a:pt x="0" y="0"/>
                    </a:moveTo>
                    <a:lnTo>
                      <a:pt x="3238500" y="0"/>
                    </a:lnTo>
                  </a:path>
                </a:pathLst>
              </a:custGeom>
              <a:noFill/>
              <a:ln w="9525">
                <a:solidFill>
                  <a:srgbClr val="2D3748"/>
                </a:solidFill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8179118" y="4409599"/>
                <a:ext cx="221058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按 agent-second 计费 · 闲时不算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179118" y="4600099"/>
                <a:ext cx="177627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查询优化比 raw LLM 快 15×</a:t>
                </a:r>
              </a:p>
            </p:txBody>
          </p:sp>
        </p:grpSp>
      </p:grpSp>
      <p:grpSp>
        <p:nvGrpSpPr>
          <p:cNvPr id="77" name="Group 77"/>
          <p:cNvGrpSpPr/>
          <p:nvPr/>
        </p:nvGrpSpPr>
        <p:grpSpPr>
          <a:xfrm>
            <a:off x="571500" y="5143500"/>
            <a:ext cx="11049000" cy="1143000"/>
            <a:chOff x="571500" y="5143500"/>
            <a:chExt cx="11049000" cy="1143000"/>
          </a:xfrm>
        </p:grpSpPr>
        <p:sp>
          <p:nvSpPr>
            <p:cNvPr id="63" name="Rectangle 63"/>
            <p:cNvSpPr/>
            <p:nvPr/>
          </p:nvSpPr>
          <p:spPr>
            <a:xfrm>
              <a:off x="571500" y="5143500"/>
              <a:ext cx="11049000" cy="1143000"/>
            </a:xfrm>
            <a:prstGeom prst="roundRect">
              <a:avLst>
                <a:gd name="adj" fmla="val 11667"/>
              </a:avLst>
            </a:prstGeom>
            <a:solidFill>
              <a:srgbClr val="0F1419"/>
            </a:solidFill>
            <a:ln w="9525">
              <a:solidFill>
                <a:srgbClr val="FF9800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44855" y="5302568"/>
              <a:ext cx="23219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3 个 case 怎么映射到 6C</a:t>
              </a:r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742950" y="5648325"/>
              <a:ext cx="2497498" cy="445294"/>
              <a:chOff x="742950" y="5648325"/>
              <a:chExt cx="2497498" cy="445294"/>
            </a:xfrm>
          </p:grpSpPr>
          <p:sp>
            <p:nvSpPr>
              <p:cNvPr id="65" name="TextBox 65"/>
              <p:cNvSpPr txBox="1"/>
              <p:nvPr/>
            </p:nvSpPr>
            <p:spPr>
              <a:xfrm>
                <a:off x="742950" y="5648325"/>
                <a:ext cx="23362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C1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1092518" y="5685949"/>
                <a:ext cx="9289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Webhook 自主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1092518" y="5895499"/>
                <a:ext cx="21479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→ Collaboration · Convenience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4076700" y="5648325"/>
              <a:ext cx="2265744" cy="445294"/>
              <a:chOff x="4076700" y="5648325"/>
              <a:chExt cx="2265744" cy="445294"/>
            </a:xfrm>
          </p:grpSpPr>
          <p:sp>
            <p:nvSpPr>
              <p:cNvPr id="69" name="TextBox 69"/>
              <p:cNvSpPr txBox="1"/>
              <p:nvPr/>
            </p:nvSpPr>
            <p:spPr>
              <a:xfrm>
                <a:off x="4076700" y="5648325"/>
                <a:ext cx="29113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C2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4426268" y="5685949"/>
                <a:ext cx="5943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时间锚定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4426268" y="5895499"/>
                <a:ext cx="19161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→ Context (拓扑+跨源关联)</a:t>
                </a: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7410450" y="5648325"/>
              <a:ext cx="2661969" cy="445294"/>
              <a:chOff x="7410450" y="5648325"/>
              <a:chExt cx="2661969" cy="445294"/>
            </a:xfrm>
          </p:grpSpPr>
          <p:sp>
            <p:nvSpPr>
              <p:cNvPr id="73" name="TextBox 73"/>
              <p:cNvSpPr txBox="1"/>
              <p:nvPr/>
            </p:nvSpPr>
            <p:spPr>
              <a:xfrm>
                <a:off x="7410450" y="5648325"/>
                <a:ext cx="29113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4CAF50"/>
                    </a:solidFill>
                    <a:latin typeface="Arial"/>
                    <a:ea typeface="SimHei"/>
                    <a:cs typeface="Arial"/>
                  </a:rPr>
                  <a:t>C3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7760018" y="5685949"/>
                <a:ext cx="5943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多跳追溯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7760018" y="5895499"/>
                <a:ext cx="23124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→ Continuous Learning · Control</a:t>
                </a:r>
              </a:p>
            </p:txBody>
          </p:sp>
        </p:grpSp>
      </p:grpSp>
      <p:grpSp>
        <p:nvGrpSpPr>
          <p:cNvPr id="80" name="Group 80"/>
          <p:cNvGrpSpPr/>
          <p:nvPr/>
        </p:nvGrpSpPr>
        <p:grpSpPr>
          <a:xfrm>
            <a:off x="561022" y="6483191"/>
            <a:ext cx="11829097" cy="167640"/>
            <a:chOff x="561022" y="6483191"/>
            <a:chExt cx="11829097" cy="167640"/>
          </a:xfrm>
        </p:grpSpPr>
        <p:sp>
          <p:nvSpPr>
            <p:cNvPr id="78" name="TextBox 78"/>
            <p:cNvSpPr txBox="1"/>
            <p:nvPr/>
          </p:nvSpPr>
          <p:spPr>
            <a:xfrm>
              <a:off x="561022" y="6483191"/>
              <a:ext cx="118290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出处：aws.amazon.com/blogs/devops/leverage-agentic-ai-for-autonomous-incident-response-with-aws-devops-agent · 中文译本 aws-docs/02-leverage-agentic-ai-autonomous-incident-response.md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206377" y="6483191"/>
              <a:ext cx="4246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05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7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7210" y="476250"/>
            <a:ext cx="7811348" cy="1000125"/>
            <a:chOff x="537210" y="476250"/>
            <a:chExt cx="7811348" cy="1000125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11779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MCP 扩展点用法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781134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Hub &amp; Spoke — 一套架构对接所有外部资源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476500" y="2381250"/>
            <a:ext cx="7239000" cy="3429000"/>
            <a:chOff x="2476500" y="2381250"/>
            <a:chExt cx="7239000" cy="3429000"/>
          </a:xfrm>
        </p:grpSpPr>
        <p:sp>
          <p:nvSpPr>
            <p:cNvPr id="7" name="Ellipse 7"/>
            <p:cNvSpPr/>
            <p:nvPr/>
          </p:nvSpPr>
          <p:spPr>
            <a:xfrm>
              <a:off x="2476500" y="2381250"/>
              <a:ext cx="7239000" cy="3429000"/>
            </a:xfrm>
            <a:prstGeom prst="ellipse">
              <a:avLst/>
            </a:prstGeom>
            <a:gradFill>
              <a:gsLst>
                <a:gs pos="0">
                  <a:srgbClr val="1565C0">
                    <a:alpha val="18000"/>
                  </a:srgbClr>
                </a:gs>
                <a:gs pos="100000">
                  <a:srgbClr val="1565C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4000500" y="2952750"/>
              <a:ext cx="4191000" cy="2286000"/>
            </a:xfrm>
            <a:prstGeom prst="ellipse">
              <a:avLst/>
            </a:prstGeom>
            <a:noFill/>
            <a:ln w="9525">
              <a:solidFill>
                <a:srgbClr val="2D3748"/>
              </a:solidFill>
              <a:custDash>
                <a:ds d="400000" sp="600000"/>
              </a:custDash>
            </a:ln>
          </p:spPr>
        </p:sp>
        <p:sp>
          <p:nvSpPr>
            <p:cNvPr id="9" name="Ellipse 9"/>
            <p:cNvSpPr/>
            <p:nvPr/>
          </p:nvSpPr>
          <p:spPr>
            <a:xfrm>
              <a:off x="2476500" y="2381250"/>
              <a:ext cx="7239000" cy="3429000"/>
            </a:xfrm>
            <a:prstGeom prst="ellipse">
              <a:avLst/>
            </a:prstGeom>
            <a:noFill/>
            <a:ln w="9525">
              <a:solidFill>
                <a:srgbClr val="2D3748"/>
              </a:solidFill>
              <a:custDash>
                <a:ds d="200000" sp="600000"/>
              </a:custDash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905000" y="4095750"/>
            <a:ext cx="8382000" cy="1619250"/>
            <a:chOff x="1905000" y="4095750"/>
            <a:chExt cx="8382000" cy="1619250"/>
          </a:xfrm>
        </p:grpSpPr>
        <p:sp>
          <p:nvSpPr>
            <p:cNvPr id="11" name="Line 11"/>
            <p:cNvSpPr/>
            <p:nvPr/>
          </p:nvSpPr>
          <p:spPr>
            <a:xfrm>
              <a:off x="1905000" y="40957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41910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565C0">
                  <a:alpha val="70000"/>
                </a:srgbClr>
              </a:solidFill>
              <a:custDash>
                <a:ds d="300000" sp="400000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6096000" y="40957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rgbClr val="1565C0">
                  <a:alpha val="70000"/>
                </a:srgbClr>
              </a:solidFill>
              <a:custDash>
                <a:ds d="300000" sp="400000"/>
              </a:custDash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4095750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19050">
              <a:solidFill>
                <a:srgbClr val="6B7280">
                  <a:alpha val="50000"/>
                </a:srgbClr>
              </a:solidFill>
              <a:custDash>
                <a:ds d="200000" sp="400000"/>
              </a:custDash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219700" y="3219450"/>
            <a:ext cx="1752600" cy="1752600"/>
            <a:chOff x="5219700" y="3219450"/>
            <a:chExt cx="1752600" cy="1752600"/>
          </a:xfrm>
        </p:grpSpPr>
        <p:sp>
          <p:nvSpPr>
            <p:cNvPr id="15" name="Ellipse 15"/>
            <p:cNvSpPr/>
            <p:nvPr/>
          </p:nvSpPr>
          <p:spPr>
            <a:xfrm>
              <a:off x="5219700" y="3219450"/>
              <a:ext cx="1752600" cy="1752600"/>
            </a:xfrm>
            <a:prstGeom prst="ellipse">
              <a:avLst/>
            </a:pr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2700000" scaled="1"/>
            </a:gradFill>
            <a:ln>
              <a:noFill/>
            </a:ln>
            <a:effectLst>
              <a:glow rad="95250">
                <a:srgbClr val="42A5F5">
                  <a:alpha val="50000"/>
                </a:srgbClr>
              </a:glow>
            </a:effectLst>
          </p:spPr>
        </p:sp>
        <p:sp>
          <p:nvSpPr>
            <p:cNvPr id="16" name="Ellipse 16"/>
            <p:cNvSpPr/>
            <p:nvPr/>
          </p:nvSpPr>
          <p:spPr>
            <a:xfrm>
              <a:off x="5334000" y="3333750"/>
              <a:ext cx="1524000" cy="1524000"/>
            </a:xfrm>
            <a:prstGeom prst="ellipse">
              <a:avLst/>
            </a:pr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448300" y="3448050"/>
              <a:ext cx="1295400" cy="1295400"/>
            </a:xfrm>
            <a:prstGeom prst="ellipse">
              <a:avLst/>
            </a:prstGeom>
            <a:noFill/>
            <a:ln w="11430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843588" y="3857625"/>
              <a:ext cx="314325" cy="244475"/>
            </a:xfrm>
            <a:custGeom>
              <a:avLst/>
              <a:gdLst/>
              <a:ahLst/>
              <a:cxnLst/>
              <a:rect l="l" t="t" r="r" b="b"/>
              <a:pathLst>
                <a:path w="314325" h="244475">
                  <a:moveTo>
                    <a:pt x="261938" y="0"/>
                  </a:moveTo>
                  <a:cubicBezTo>
                    <a:pt x="290870" y="0"/>
                    <a:pt x="314325" y="23455"/>
                    <a:pt x="314325" y="52388"/>
                  </a:cubicBezTo>
                  <a:lnTo>
                    <a:pt x="314325" y="209550"/>
                  </a:lnTo>
                  <a:cubicBezTo>
                    <a:pt x="314325" y="228839"/>
                    <a:pt x="298689" y="244475"/>
                    <a:pt x="279400" y="244475"/>
                  </a:cubicBezTo>
                  <a:lnTo>
                    <a:pt x="244475" y="244475"/>
                  </a:lnTo>
                  <a:cubicBezTo>
                    <a:pt x="225186" y="244475"/>
                    <a:pt x="209550" y="228839"/>
                    <a:pt x="209550" y="209550"/>
                  </a:cubicBezTo>
                  <a:lnTo>
                    <a:pt x="209550" y="174625"/>
                  </a:lnTo>
                  <a:cubicBezTo>
                    <a:pt x="209550" y="145692"/>
                    <a:pt x="186095" y="122237"/>
                    <a:pt x="157162" y="122237"/>
                  </a:cubicBezTo>
                  <a:cubicBezTo>
                    <a:pt x="128230" y="122237"/>
                    <a:pt x="104775" y="145692"/>
                    <a:pt x="104775" y="174625"/>
                  </a:cubicBezTo>
                  <a:lnTo>
                    <a:pt x="104775" y="209550"/>
                  </a:lnTo>
                  <a:cubicBezTo>
                    <a:pt x="104775" y="228839"/>
                    <a:pt x="89139" y="244475"/>
                    <a:pt x="69850" y="244475"/>
                  </a:cubicBezTo>
                  <a:lnTo>
                    <a:pt x="34925" y="244475"/>
                  </a:lnTo>
                  <a:cubicBezTo>
                    <a:pt x="15636" y="244475"/>
                    <a:pt x="0" y="228839"/>
                    <a:pt x="0" y="209550"/>
                  </a:cubicBezTo>
                  <a:lnTo>
                    <a:pt x="0" y="52388"/>
                  </a:lnTo>
                  <a:cubicBezTo>
                    <a:pt x="0" y="23455"/>
                    <a:pt x="23455" y="0"/>
                    <a:pt x="523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540588" y="4283392"/>
              <a:ext cx="11108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MCP BRIDGE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22821" y="4559141"/>
              <a:ext cx="13463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>
                      <a:alpha val="85000"/>
                    </a:srgbClr>
                  </a:solidFill>
                  <a:latin typeface="Consolas"/>
                  <a:ea typeface="Microsoft YaHei"/>
                  <a:cs typeface="Consolas"/>
                </a:rPr>
                <a:t>EKS · streamable-http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762500" y="2076450"/>
            <a:ext cx="3040856" cy="828675"/>
            <a:chOff x="4762500" y="2076450"/>
            <a:chExt cx="3040856" cy="828675"/>
          </a:xfrm>
        </p:grpSpPr>
        <p:sp>
          <p:nvSpPr>
            <p:cNvPr id="22" name="Rectangle 22"/>
            <p:cNvSpPr/>
            <p:nvPr/>
          </p:nvSpPr>
          <p:spPr>
            <a:xfrm>
              <a:off x="4762500" y="2076450"/>
              <a:ext cx="2667000" cy="800100"/>
            </a:xfrm>
            <a:prstGeom prst="roundRect">
              <a:avLst>
                <a:gd name="adj" fmla="val 11905"/>
              </a:avLst>
            </a:prstGeom>
            <a:solidFill>
              <a:srgbClr val="1A2332"/>
            </a:solidFill>
            <a:ln w="14288">
              <a:solidFill>
                <a:srgbClr val="42A5F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961731" y="2260614"/>
              <a:ext cx="192088" cy="134164"/>
            </a:xfrm>
            <a:custGeom>
              <a:avLst/>
              <a:gdLst/>
              <a:ahLst/>
              <a:cxnLst/>
              <a:rect l="l" t="t" r="r" b="b"/>
              <a:pathLst>
                <a:path w="192088" h="134164">
                  <a:moveTo>
                    <a:pt x="78931" y="5824"/>
                  </a:moveTo>
                  <a:cubicBezTo>
                    <a:pt x="98096" y="0"/>
                    <a:pt x="119225" y="3868"/>
                    <a:pt x="134461" y="16092"/>
                  </a:cubicBezTo>
                  <a:cubicBezTo>
                    <a:pt x="146563" y="25766"/>
                    <a:pt x="153565" y="39544"/>
                    <a:pt x="154124" y="53985"/>
                  </a:cubicBezTo>
                  <a:lnTo>
                    <a:pt x="154150" y="55836"/>
                  </a:lnTo>
                  <a:lnTo>
                    <a:pt x="154945" y="55863"/>
                  </a:lnTo>
                  <a:cubicBezTo>
                    <a:pt x="175027" y="56797"/>
                    <a:pt x="191118" y="72985"/>
                    <a:pt x="192053" y="93145"/>
                  </a:cubicBezTo>
                  <a:lnTo>
                    <a:pt x="192088" y="94987"/>
                  </a:lnTo>
                  <a:cubicBezTo>
                    <a:pt x="192088" y="116003"/>
                    <a:pt x="175629" y="133160"/>
                    <a:pt x="154936" y="134121"/>
                  </a:cubicBezTo>
                  <a:lnTo>
                    <a:pt x="153102" y="134164"/>
                  </a:lnTo>
                  <a:lnTo>
                    <a:pt x="49393" y="134164"/>
                  </a:lnTo>
                  <a:lnTo>
                    <a:pt x="47454" y="134095"/>
                  </a:lnTo>
                  <a:cubicBezTo>
                    <a:pt x="21784" y="133134"/>
                    <a:pt x="1030" y="113148"/>
                    <a:pt x="44" y="88142"/>
                  </a:cubicBezTo>
                  <a:lnTo>
                    <a:pt x="0" y="86256"/>
                  </a:lnTo>
                  <a:cubicBezTo>
                    <a:pt x="0" y="62271"/>
                    <a:pt x="18161" y="42512"/>
                    <a:pt x="41770" y="38959"/>
                  </a:cubicBezTo>
                  <a:lnTo>
                    <a:pt x="42766" y="38819"/>
                  </a:lnTo>
                  <a:lnTo>
                    <a:pt x="43377" y="37239"/>
                  </a:lnTo>
                  <a:cubicBezTo>
                    <a:pt x="49166" y="23094"/>
                    <a:pt x="61328" y="11866"/>
                    <a:pt x="76809" y="6522"/>
                  </a:cubicBezTo>
                  <a:lnTo>
                    <a:pt x="78939" y="5824"/>
                  </a:lnTo>
                  <a:close/>
                </a:path>
              </a:pathLst>
            </a:custGeom>
            <a:solidFill>
              <a:srgbClr val="42A5F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42560" y="2270760"/>
              <a:ext cx="25607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DevOps Agent (Agent Space)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41570" y="256984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EAED"/>
                  </a:solidFill>
                  <a:latin typeface="Consolas"/>
                  <a:ea typeface="Microsoft YaHei"/>
                  <a:cs typeface="Consolas"/>
                </a:rPr>
                <a:t>VPC Lattice Private Connection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41570" y="2722245"/>
              <a:ext cx="27371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用 MCP 工具像调普通 service 一样调外部资源</a:t>
              </a:r>
            </a:p>
          </p:txBody>
        </p:sp>
      </p:grpSp>
      <p:sp>
        <p:nvSpPr>
          <p:cNvPr id="28" name="Line 28"/>
          <p:cNvSpPr/>
          <p:nvPr/>
        </p:nvSpPr>
        <p:spPr>
          <a:xfrm>
            <a:off x="6096000" y="2876550"/>
            <a:ext cx="9525" cy="342900"/>
          </a:xfrm>
          <a:custGeom>
            <a:avLst/>
            <a:gdLst/>
            <a:ahLst/>
            <a:cxnLst/>
            <a:rect l="l" t="t" r="r" b="b"/>
            <a:pathLst>
              <a:path w="952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19050">
            <a:solidFill>
              <a:srgbClr val="42A5F5"/>
            </a:solidFill>
            <a:prstDash val="dash"/>
          </a:ln>
        </p:spPr>
      </p:sp>
      <p:grpSp>
        <p:nvGrpSpPr>
          <p:cNvPr id="46" name="Group 46"/>
          <p:cNvGrpSpPr/>
          <p:nvPr/>
        </p:nvGrpSpPr>
        <p:grpSpPr>
          <a:xfrm>
            <a:off x="571500" y="3409950"/>
            <a:ext cx="2667000" cy="1371600"/>
            <a:chOff x="571500" y="3409950"/>
            <a:chExt cx="2667000" cy="1371600"/>
          </a:xfrm>
        </p:grpSpPr>
        <p:sp>
          <p:nvSpPr>
            <p:cNvPr id="29" name="Rectangle 29"/>
            <p:cNvSpPr/>
            <p:nvPr/>
          </p:nvSpPr>
          <p:spPr>
            <a:xfrm>
              <a:off x="571500" y="3409950"/>
              <a:ext cx="2667000" cy="1371600"/>
            </a:xfrm>
            <a:prstGeom prst="roundRect">
              <a:avLst>
                <a:gd name="adj" fmla="val 8333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71500" y="3409950"/>
              <a:ext cx="57150" cy="13716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18495" y="3600698"/>
              <a:ext cx="191796" cy="189995"/>
              <a:chOff x="818495" y="3600698"/>
              <a:chExt cx="191796" cy="18999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21363" y="3733800"/>
                <a:ext cx="80334" cy="56893"/>
              </a:xfrm>
              <a:custGeom>
                <a:avLst/>
                <a:gdLst/>
                <a:ahLst/>
                <a:cxnLst/>
                <a:rect l="l" t="t" r="r" b="b"/>
                <a:pathLst>
                  <a:path w="80334" h="56893">
                    <a:moveTo>
                      <a:pt x="80334" y="0"/>
                    </a:moveTo>
                    <a:cubicBezTo>
                      <a:pt x="66190" y="32404"/>
                      <a:pt x="35262" y="54308"/>
                      <a:pt x="0" y="56893"/>
                    </a:cubicBezTo>
                    <a:cubicBezTo>
                      <a:pt x="2439" y="56312"/>
                      <a:pt x="4551" y="54792"/>
                      <a:pt x="5877" y="52664"/>
                    </a:cubicBezTo>
                    <a:cubicBezTo>
                      <a:pt x="16001" y="36446"/>
                      <a:pt x="23341" y="18649"/>
                      <a:pt x="27594" y="1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7103" y="3733800"/>
                <a:ext cx="80324" cy="56893"/>
              </a:xfrm>
              <a:custGeom>
                <a:avLst/>
                <a:gdLst/>
                <a:ahLst/>
                <a:cxnLst/>
                <a:rect l="l" t="t" r="r" b="b"/>
                <a:pathLst>
                  <a:path w="80324" h="56893">
                    <a:moveTo>
                      <a:pt x="52740" y="0"/>
                    </a:moveTo>
                    <a:cubicBezTo>
                      <a:pt x="56991" y="18646"/>
                      <a:pt x="64331" y="36450"/>
                      <a:pt x="74457" y="52673"/>
                    </a:cubicBezTo>
                    <a:cubicBezTo>
                      <a:pt x="75782" y="54796"/>
                      <a:pt x="77890" y="56312"/>
                      <a:pt x="80324" y="56893"/>
                    </a:cubicBezTo>
                    <a:cubicBezTo>
                      <a:pt x="45066" y="54305"/>
                      <a:pt x="14142" y="32401"/>
                      <a:pt x="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99446" y="3733800"/>
                <a:ext cx="29909" cy="36995"/>
              </a:xfrm>
              <a:custGeom>
                <a:avLst/>
                <a:gdLst/>
                <a:ahLst/>
                <a:cxnLst/>
                <a:rect l="l" t="t" r="r" b="b"/>
                <a:pathLst>
                  <a:path w="29909" h="36995">
                    <a:moveTo>
                      <a:pt x="29909" y="0"/>
                    </a:moveTo>
                    <a:cubicBezTo>
                      <a:pt x="26567" y="12934"/>
                      <a:pt x="21539" y="25372"/>
                      <a:pt x="14954" y="36995"/>
                    </a:cubicBezTo>
                    <a:cubicBezTo>
                      <a:pt x="8370" y="25372"/>
                      <a:pt x="3342" y="12934"/>
                      <a:pt x="0" y="0"/>
                    </a:cubicBezTo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18495" y="3676650"/>
                <a:ext cx="58128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128" h="38100">
                    <a:moveTo>
                      <a:pt x="58128" y="0"/>
                    </a:moveTo>
                    <a:cubicBezTo>
                      <a:pt x="56713" y="12661"/>
                      <a:pt x="56713" y="25439"/>
                      <a:pt x="58128" y="38100"/>
                    </a:cubicBezTo>
                    <a:lnTo>
                      <a:pt x="2579" y="38100"/>
                    </a:lnTo>
                    <a:cubicBezTo>
                      <a:pt x="6" y="25531"/>
                      <a:pt x="0" y="12572"/>
                      <a:pt x="256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94213" y="3676650"/>
                <a:ext cx="40373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40373" h="38100">
                    <a:moveTo>
                      <a:pt x="38779" y="0"/>
                    </a:moveTo>
                    <a:cubicBezTo>
                      <a:pt x="40373" y="12650"/>
                      <a:pt x="40373" y="25450"/>
                      <a:pt x="38779" y="38100"/>
                    </a:cubicBezTo>
                    <a:lnTo>
                      <a:pt x="1594" y="38100"/>
                    </a:lnTo>
                    <a:cubicBezTo>
                      <a:pt x="0" y="25450"/>
                      <a:pt x="0" y="12650"/>
                      <a:pt x="1594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52176" y="3676650"/>
                <a:ext cx="5811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115" h="38100">
                    <a:moveTo>
                      <a:pt x="55569" y="0"/>
                    </a:moveTo>
                    <a:cubicBezTo>
                      <a:pt x="58115" y="12573"/>
                      <a:pt x="58109" y="25530"/>
                      <a:pt x="55550" y="38100"/>
                    </a:cubicBezTo>
                    <a:lnTo>
                      <a:pt x="0" y="38100"/>
                    </a:lnTo>
                    <a:cubicBezTo>
                      <a:pt x="1419" y="25441"/>
                      <a:pt x="1419" y="12668"/>
                      <a:pt x="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7075" y="3600707"/>
                <a:ext cx="80343" cy="56893"/>
              </a:xfrm>
              <a:custGeom>
                <a:avLst/>
                <a:gdLst/>
                <a:ahLst/>
                <a:cxnLst/>
                <a:rect l="l" t="t" r="r" b="b"/>
                <a:pathLst>
                  <a:path w="80343" h="56893">
                    <a:moveTo>
                      <a:pt x="80343" y="0"/>
                    </a:moveTo>
                    <a:cubicBezTo>
                      <a:pt x="77911" y="586"/>
                      <a:pt x="75807" y="2105"/>
                      <a:pt x="74486" y="4229"/>
                    </a:cubicBezTo>
                    <a:cubicBezTo>
                      <a:pt x="64360" y="20450"/>
                      <a:pt x="57020" y="38250"/>
                      <a:pt x="52769" y="56893"/>
                    </a:cubicBezTo>
                    <a:lnTo>
                      <a:pt x="0" y="56893"/>
                    </a:lnTo>
                    <a:cubicBezTo>
                      <a:pt x="14018" y="24810"/>
                      <a:pt x="44493" y="2991"/>
                      <a:pt x="79381" y="57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99446" y="3620605"/>
                <a:ext cx="29909" cy="37005"/>
              </a:xfrm>
              <a:custGeom>
                <a:avLst/>
                <a:gdLst/>
                <a:ahLst/>
                <a:cxnLst/>
                <a:rect l="l" t="t" r="r" b="b"/>
                <a:pathLst>
                  <a:path w="29909" h="37005">
                    <a:moveTo>
                      <a:pt x="14954" y="0"/>
                    </a:moveTo>
                    <a:cubicBezTo>
                      <a:pt x="21540" y="11626"/>
                      <a:pt x="26567" y="24068"/>
                      <a:pt x="29909" y="37005"/>
                    </a:cubicBezTo>
                    <a:lnTo>
                      <a:pt x="0" y="37005"/>
                    </a:lnTo>
                    <a:cubicBezTo>
                      <a:pt x="3238" y="24460"/>
                      <a:pt x="8096" y="12240"/>
                      <a:pt x="14573" y="648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21382" y="3600698"/>
                <a:ext cx="80343" cy="56902"/>
              </a:xfrm>
              <a:custGeom>
                <a:avLst/>
                <a:gdLst/>
                <a:ahLst/>
                <a:cxnLst/>
                <a:rect l="l" t="t" r="r" b="b"/>
                <a:pathLst>
                  <a:path w="80343" h="56902">
                    <a:moveTo>
                      <a:pt x="0" y="0"/>
                    </a:moveTo>
                    <a:cubicBezTo>
                      <a:pt x="35260" y="2604"/>
                      <a:pt x="66184" y="24506"/>
                      <a:pt x="80343" y="56902"/>
                    </a:cubicBezTo>
                    <a:lnTo>
                      <a:pt x="27575" y="56902"/>
                    </a:lnTo>
                    <a:cubicBezTo>
                      <a:pt x="23324" y="38256"/>
                      <a:pt x="15984" y="20453"/>
                      <a:pt x="5858" y="4229"/>
                    </a:cubicBezTo>
                    <a:cubicBezTo>
                      <a:pt x="4712" y="2393"/>
                      <a:pt x="2975" y="1003"/>
                      <a:pt x="933" y="286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88708" y="3624739"/>
              <a:ext cx="19680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Spoke A — AWS 中国区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7718" y="3933349"/>
              <a:ext cx="14701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aws-cn (cn-north-1)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7718" y="4142899"/>
              <a:ext cx="20753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Consolas"/>
                  <a:ea typeface="Microsoft YaHei"/>
                  <a:cs typeface="Consolas"/>
                </a:rPr>
                <a:t>awslabs.aws-api-mcp-server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00100" y="438150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87718" y="4485799"/>
              <a:ext cx="1925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cn AK/SK · 跨 partition 隔离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953500" y="3409950"/>
            <a:ext cx="2667000" cy="1371600"/>
            <a:chOff x="8953500" y="3409950"/>
            <a:chExt cx="2667000" cy="1371600"/>
          </a:xfrm>
        </p:grpSpPr>
        <p:sp>
          <p:nvSpPr>
            <p:cNvPr id="47" name="Rectangle 47"/>
            <p:cNvSpPr/>
            <p:nvPr/>
          </p:nvSpPr>
          <p:spPr>
            <a:xfrm>
              <a:off x="8953500" y="3409950"/>
              <a:ext cx="2667000" cy="1371600"/>
            </a:xfrm>
            <a:prstGeom prst="roundRect">
              <a:avLst>
                <a:gd name="adj" fmla="val 8333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953500" y="3409950"/>
              <a:ext cx="57150" cy="13716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9200495" y="3600698"/>
              <a:ext cx="191796" cy="189995"/>
              <a:chOff x="9200495" y="3600698"/>
              <a:chExt cx="191796" cy="18999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9303363" y="3733800"/>
                <a:ext cx="80334" cy="56893"/>
              </a:xfrm>
              <a:custGeom>
                <a:avLst/>
                <a:gdLst/>
                <a:ahLst/>
                <a:cxnLst/>
                <a:rect l="l" t="t" r="r" b="b"/>
                <a:pathLst>
                  <a:path w="80334" h="56893">
                    <a:moveTo>
                      <a:pt x="80334" y="0"/>
                    </a:moveTo>
                    <a:cubicBezTo>
                      <a:pt x="66190" y="32404"/>
                      <a:pt x="35262" y="54308"/>
                      <a:pt x="0" y="56893"/>
                    </a:cubicBezTo>
                    <a:cubicBezTo>
                      <a:pt x="2439" y="56312"/>
                      <a:pt x="4551" y="54792"/>
                      <a:pt x="5877" y="52664"/>
                    </a:cubicBezTo>
                    <a:cubicBezTo>
                      <a:pt x="16001" y="36446"/>
                      <a:pt x="23341" y="18649"/>
                      <a:pt x="27594" y="1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9209103" y="3733800"/>
                <a:ext cx="80324" cy="56893"/>
              </a:xfrm>
              <a:custGeom>
                <a:avLst/>
                <a:gdLst/>
                <a:ahLst/>
                <a:cxnLst/>
                <a:rect l="l" t="t" r="r" b="b"/>
                <a:pathLst>
                  <a:path w="80324" h="56893">
                    <a:moveTo>
                      <a:pt x="52740" y="0"/>
                    </a:moveTo>
                    <a:cubicBezTo>
                      <a:pt x="56991" y="18646"/>
                      <a:pt x="64331" y="36450"/>
                      <a:pt x="74457" y="52673"/>
                    </a:cubicBezTo>
                    <a:cubicBezTo>
                      <a:pt x="75782" y="54796"/>
                      <a:pt x="77890" y="56312"/>
                      <a:pt x="80324" y="56893"/>
                    </a:cubicBezTo>
                    <a:cubicBezTo>
                      <a:pt x="45066" y="54305"/>
                      <a:pt x="14142" y="32401"/>
                      <a:pt x="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9281446" y="3733800"/>
                <a:ext cx="29909" cy="36995"/>
              </a:xfrm>
              <a:custGeom>
                <a:avLst/>
                <a:gdLst/>
                <a:ahLst/>
                <a:cxnLst/>
                <a:rect l="l" t="t" r="r" b="b"/>
                <a:pathLst>
                  <a:path w="29909" h="36995">
                    <a:moveTo>
                      <a:pt x="29909" y="0"/>
                    </a:moveTo>
                    <a:cubicBezTo>
                      <a:pt x="26567" y="12934"/>
                      <a:pt x="21539" y="25372"/>
                      <a:pt x="14954" y="36995"/>
                    </a:cubicBezTo>
                    <a:cubicBezTo>
                      <a:pt x="8370" y="25372"/>
                      <a:pt x="3342" y="12934"/>
                      <a:pt x="0" y="0"/>
                    </a:cubicBezTo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9200495" y="3676650"/>
                <a:ext cx="58128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128" h="38100">
                    <a:moveTo>
                      <a:pt x="58128" y="0"/>
                    </a:moveTo>
                    <a:cubicBezTo>
                      <a:pt x="56713" y="12661"/>
                      <a:pt x="56713" y="25439"/>
                      <a:pt x="58128" y="38100"/>
                    </a:cubicBezTo>
                    <a:lnTo>
                      <a:pt x="2579" y="38100"/>
                    </a:lnTo>
                    <a:cubicBezTo>
                      <a:pt x="6" y="25531"/>
                      <a:pt x="0" y="12572"/>
                      <a:pt x="256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276213" y="3676650"/>
                <a:ext cx="40373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40373" h="38100">
                    <a:moveTo>
                      <a:pt x="38779" y="0"/>
                    </a:moveTo>
                    <a:cubicBezTo>
                      <a:pt x="40373" y="12650"/>
                      <a:pt x="40373" y="25450"/>
                      <a:pt x="38779" y="38100"/>
                    </a:cubicBezTo>
                    <a:lnTo>
                      <a:pt x="1594" y="38100"/>
                    </a:lnTo>
                    <a:cubicBezTo>
                      <a:pt x="0" y="25450"/>
                      <a:pt x="0" y="12650"/>
                      <a:pt x="1594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334176" y="3676650"/>
                <a:ext cx="5811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115" h="38100">
                    <a:moveTo>
                      <a:pt x="55569" y="0"/>
                    </a:moveTo>
                    <a:cubicBezTo>
                      <a:pt x="58115" y="12573"/>
                      <a:pt x="58109" y="25530"/>
                      <a:pt x="55550" y="38100"/>
                    </a:cubicBezTo>
                    <a:lnTo>
                      <a:pt x="0" y="38100"/>
                    </a:lnTo>
                    <a:cubicBezTo>
                      <a:pt x="1419" y="25441"/>
                      <a:pt x="1419" y="12668"/>
                      <a:pt x="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9209075" y="3600707"/>
                <a:ext cx="80343" cy="56893"/>
              </a:xfrm>
              <a:custGeom>
                <a:avLst/>
                <a:gdLst/>
                <a:ahLst/>
                <a:cxnLst/>
                <a:rect l="l" t="t" r="r" b="b"/>
                <a:pathLst>
                  <a:path w="80343" h="56893">
                    <a:moveTo>
                      <a:pt x="80343" y="0"/>
                    </a:moveTo>
                    <a:cubicBezTo>
                      <a:pt x="77911" y="586"/>
                      <a:pt x="75807" y="2105"/>
                      <a:pt x="74486" y="4229"/>
                    </a:cubicBezTo>
                    <a:cubicBezTo>
                      <a:pt x="64360" y="20450"/>
                      <a:pt x="57020" y="38250"/>
                      <a:pt x="52768" y="56893"/>
                    </a:cubicBezTo>
                    <a:lnTo>
                      <a:pt x="0" y="56893"/>
                    </a:lnTo>
                    <a:cubicBezTo>
                      <a:pt x="14018" y="24810"/>
                      <a:pt x="44493" y="2991"/>
                      <a:pt x="79381" y="57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9281446" y="3620605"/>
                <a:ext cx="29909" cy="37005"/>
              </a:xfrm>
              <a:custGeom>
                <a:avLst/>
                <a:gdLst/>
                <a:ahLst/>
                <a:cxnLst/>
                <a:rect l="l" t="t" r="r" b="b"/>
                <a:pathLst>
                  <a:path w="29909" h="37005">
                    <a:moveTo>
                      <a:pt x="14954" y="0"/>
                    </a:moveTo>
                    <a:cubicBezTo>
                      <a:pt x="21540" y="11626"/>
                      <a:pt x="26567" y="24068"/>
                      <a:pt x="29909" y="37005"/>
                    </a:cubicBezTo>
                    <a:lnTo>
                      <a:pt x="0" y="37005"/>
                    </a:lnTo>
                    <a:cubicBezTo>
                      <a:pt x="3239" y="24460"/>
                      <a:pt x="8096" y="12240"/>
                      <a:pt x="14573" y="648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303382" y="3600698"/>
                <a:ext cx="80343" cy="56902"/>
              </a:xfrm>
              <a:custGeom>
                <a:avLst/>
                <a:gdLst/>
                <a:ahLst/>
                <a:cxnLst/>
                <a:rect l="l" t="t" r="r" b="b"/>
                <a:pathLst>
                  <a:path w="80343" h="56902">
                    <a:moveTo>
                      <a:pt x="0" y="0"/>
                    </a:moveTo>
                    <a:cubicBezTo>
                      <a:pt x="35260" y="2604"/>
                      <a:pt x="66184" y="24506"/>
                      <a:pt x="80343" y="56902"/>
                    </a:cubicBezTo>
                    <a:lnTo>
                      <a:pt x="27575" y="56902"/>
                    </a:lnTo>
                    <a:cubicBezTo>
                      <a:pt x="23324" y="38256"/>
                      <a:pt x="15984" y="20453"/>
                      <a:pt x="5858" y="4229"/>
                    </a:cubicBezTo>
                    <a:cubicBezTo>
                      <a:pt x="4712" y="2393"/>
                      <a:pt x="2975" y="1003"/>
                      <a:pt x="933" y="286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9470708" y="3624739"/>
              <a:ext cx="19680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Spoke B — AWS 中国区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69718" y="3933349"/>
              <a:ext cx="1968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aws-cn-2 (cn-northwest-1)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169718" y="4142899"/>
              <a:ext cx="20753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Consolas"/>
                  <a:ea typeface="Microsoft YaHei"/>
                  <a:cs typeface="Consolas"/>
                </a:rPr>
                <a:t>awslabs.aws-api-mcp-server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9182100" y="438150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169718" y="4485799"/>
              <a:ext cx="14701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独立账号 · 同模式扩展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762500" y="5314950"/>
            <a:ext cx="3088784" cy="762000"/>
            <a:chOff x="4762500" y="5314950"/>
            <a:chExt cx="3088784" cy="762000"/>
          </a:xfrm>
        </p:grpSpPr>
        <p:sp>
          <p:nvSpPr>
            <p:cNvPr id="65" name="Rectangle 65"/>
            <p:cNvSpPr/>
            <p:nvPr/>
          </p:nvSpPr>
          <p:spPr>
            <a:xfrm>
              <a:off x="4762500" y="5314950"/>
              <a:ext cx="2667000" cy="762000"/>
            </a:xfrm>
            <a:prstGeom prst="roundRect">
              <a:avLst>
                <a:gd name="adj" fmla="val 12500"/>
              </a:avLst>
            </a:prstGeom>
            <a:solidFill>
              <a:srgbClr val="0F1419"/>
            </a:solidFill>
            <a:ln w="9525">
              <a:solidFill>
                <a:srgbClr val="2D3748"/>
              </a:solidFill>
              <a:prstDash val="dash"/>
            </a:ln>
          </p:spPr>
        </p:sp>
        <p:sp>
          <p:nvSpPr>
            <p:cNvPr id="66" name="Freeform 66"/>
            <p:cNvSpPr/>
            <p:nvPr/>
          </p:nvSpPr>
          <p:spPr>
            <a:xfrm>
              <a:off x="4961731" y="5519752"/>
              <a:ext cx="192088" cy="177786"/>
            </a:xfrm>
            <a:custGeom>
              <a:avLst/>
              <a:gdLst/>
              <a:ahLst/>
              <a:cxnLst/>
              <a:rect l="l" t="t" r="r" b="b"/>
              <a:pathLst>
                <a:path w="192088" h="177786">
                  <a:moveTo>
                    <a:pt x="69850" y="160323"/>
                  </a:moveTo>
                  <a:cubicBezTo>
                    <a:pt x="69850" y="169967"/>
                    <a:pt x="62032" y="177786"/>
                    <a:pt x="52388" y="177786"/>
                  </a:cubicBezTo>
                  <a:lnTo>
                    <a:pt x="17463" y="177786"/>
                  </a:lnTo>
                  <a:cubicBezTo>
                    <a:pt x="12640" y="177786"/>
                    <a:pt x="8731" y="173877"/>
                    <a:pt x="8731" y="169054"/>
                  </a:cubicBezTo>
                  <a:cubicBezTo>
                    <a:pt x="8731" y="164232"/>
                    <a:pt x="12640" y="160323"/>
                    <a:pt x="17463" y="160323"/>
                  </a:cubicBezTo>
                  <a:lnTo>
                    <a:pt x="52388" y="160323"/>
                  </a:lnTo>
                  <a:lnTo>
                    <a:pt x="52388" y="134156"/>
                  </a:lnTo>
                  <a:lnTo>
                    <a:pt x="49393" y="134164"/>
                  </a:lnTo>
                  <a:cubicBezTo>
                    <a:pt x="49051" y="134164"/>
                    <a:pt x="48710" y="134144"/>
                    <a:pt x="48371" y="134103"/>
                  </a:cubicBezTo>
                  <a:lnTo>
                    <a:pt x="47454" y="134095"/>
                  </a:lnTo>
                  <a:cubicBezTo>
                    <a:pt x="21784" y="133134"/>
                    <a:pt x="1030" y="113148"/>
                    <a:pt x="44" y="88142"/>
                  </a:cubicBezTo>
                  <a:lnTo>
                    <a:pt x="0" y="86256"/>
                  </a:lnTo>
                  <a:cubicBezTo>
                    <a:pt x="0" y="62271"/>
                    <a:pt x="18161" y="42512"/>
                    <a:pt x="41770" y="38959"/>
                  </a:cubicBezTo>
                  <a:lnTo>
                    <a:pt x="42766" y="38819"/>
                  </a:lnTo>
                  <a:lnTo>
                    <a:pt x="43377" y="37239"/>
                  </a:lnTo>
                  <a:cubicBezTo>
                    <a:pt x="49166" y="23094"/>
                    <a:pt x="61328" y="11866"/>
                    <a:pt x="76809" y="6522"/>
                  </a:cubicBezTo>
                  <a:lnTo>
                    <a:pt x="78939" y="5824"/>
                  </a:lnTo>
                  <a:cubicBezTo>
                    <a:pt x="98096" y="0"/>
                    <a:pt x="119225" y="3868"/>
                    <a:pt x="134470" y="16092"/>
                  </a:cubicBezTo>
                  <a:cubicBezTo>
                    <a:pt x="146563" y="25766"/>
                    <a:pt x="153565" y="39544"/>
                    <a:pt x="154115" y="53985"/>
                  </a:cubicBezTo>
                  <a:lnTo>
                    <a:pt x="154150" y="55836"/>
                  </a:lnTo>
                  <a:lnTo>
                    <a:pt x="154945" y="55863"/>
                  </a:lnTo>
                  <a:cubicBezTo>
                    <a:pt x="175027" y="56797"/>
                    <a:pt x="191118" y="72985"/>
                    <a:pt x="192053" y="93145"/>
                  </a:cubicBezTo>
                  <a:lnTo>
                    <a:pt x="192088" y="94987"/>
                  </a:lnTo>
                  <a:cubicBezTo>
                    <a:pt x="192088" y="116623"/>
                    <a:pt x="174651" y="134164"/>
                    <a:pt x="153102" y="134164"/>
                  </a:cubicBezTo>
                  <a:lnTo>
                    <a:pt x="139700" y="134164"/>
                  </a:lnTo>
                  <a:lnTo>
                    <a:pt x="139700" y="160323"/>
                  </a:lnTo>
                  <a:lnTo>
                    <a:pt x="174625" y="160323"/>
                  </a:lnTo>
                  <a:cubicBezTo>
                    <a:pt x="179447" y="160323"/>
                    <a:pt x="183356" y="164232"/>
                    <a:pt x="183356" y="169054"/>
                  </a:cubicBezTo>
                  <a:cubicBezTo>
                    <a:pt x="183356" y="173877"/>
                    <a:pt x="179447" y="177786"/>
                    <a:pt x="174625" y="177786"/>
                  </a:cubicBezTo>
                  <a:lnTo>
                    <a:pt x="139700" y="177786"/>
                  </a:lnTo>
                  <a:cubicBezTo>
                    <a:pt x="130056" y="177786"/>
                    <a:pt x="122238" y="169967"/>
                    <a:pt x="122238" y="160323"/>
                  </a:cubicBezTo>
                  <a:lnTo>
                    <a:pt x="122238" y="134156"/>
                  </a:lnTo>
                  <a:lnTo>
                    <a:pt x="104775" y="134156"/>
                  </a:lnTo>
                  <a:lnTo>
                    <a:pt x="104775" y="169054"/>
                  </a:lnTo>
                  <a:cubicBezTo>
                    <a:pt x="104775" y="173877"/>
                    <a:pt x="100866" y="177786"/>
                    <a:pt x="96044" y="177786"/>
                  </a:cubicBezTo>
                  <a:cubicBezTo>
                    <a:pt x="91222" y="177786"/>
                    <a:pt x="87313" y="173877"/>
                    <a:pt x="87313" y="169054"/>
                  </a:cubicBezTo>
                  <a:lnTo>
                    <a:pt x="87313" y="134156"/>
                  </a:lnTo>
                  <a:lnTo>
                    <a:pt x="69850" y="134156"/>
                  </a:lnTo>
                  <a:close/>
                </a:path>
              </a:pathLst>
            </a:custGeom>
            <a:solidFill>
              <a:srgbClr val="6B7280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243512" y="5555456"/>
              <a:ext cx="26077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AA0A6"/>
                  </a:solidFill>
                  <a:latin typeface="Arial"/>
                  <a:ea typeface="SimHei"/>
                  <a:cs typeface="Arial"/>
                </a:rPr>
                <a:t>阿里云 / 自建 K8s / 客户内部 API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941570" y="5827395"/>
              <a:ext cx="26517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同 Bridge pattern 加 spoke — 客户复用即可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71500" y="5905500"/>
            <a:ext cx="3789705" cy="438150"/>
            <a:chOff x="571500" y="5905500"/>
            <a:chExt cx="3789705" cy="438150"/>
          </a:xfrm>
        </p:grpSpPr>
        <p:sp>
          <p:nvSpPr>
            <p:cNvPr id="70" name="Rectangle 70"/>
            <p:cNvSpPr/>
            <p:nvPr/>
          </p:nvSpPr>
          <p:spPr>
            <a:xfrm>
              <a:off x="571500" y="5905500"/>
              <a:ext cx="3619500" cy="438150"/>
            </a:xfrm>
            <a:prstGeom prst="roundRect">
              <a:avLst>
                <a:gd name="adj" fmla="val 17391"/>
              </a:avLst>
            </a:prstGeom>
            <a:solidFill>
              <a:srgbClr val="0F1419"/>
            </a:solidFill>
            <a:ln w="9525">
              <a:solidFill>
                <a:srgbClr val="FF9800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755650" y="6035675"/>
              <a:ext cx="127000" cy="158750"/>
            </a:xfrm>
            <a:custGeom>
              <a:avLst/>
              <a:gdLst/>
              <a:ahLst/>
              <a:cxnLst/>
              <a:rect l="l" t="t" r="r" b="b"/>
              <a:pathLst>
                <a:path w="127000" h="158750">
                  <a:moveTo>
                    <a:pt x="63500" y="0"/>
                  </a:moveTo>
                  <a:cubicBezTo>
                    <a:pt x="85419" y="0"/>
                    <a:pt x="103188" y="17769"/>
                    <a:pt x="103188" y="39688"/>
                  </a:cubicBezTo>
                  <a:lnTo>
                    <a:pt x="103188" y="63500"/>
                  </a:lnTo>
                  <a:cubicBezTo>
                    <a:pt x="116339" y="63500"/>
                    <a:pt x="127000" y="74161"/>
                    <a:pt x="127000" y="87313"/>
                  </a:cubicBezTo>
                  <a:lnTo>
                    <a:pt x="127000" y="134938"/>
                  </a:lnTo>
                  <a:cubicBezTo>
                    <a:pt x="127000" y="148089"/>
                    <a:pt x="116339" y="158750"/>
                    <a:pt x="103188" y="158750"/>
                  </a:cubicBezTo>
                  <a:lnTo>
                    <a:pt x="23812" y="158750"/>
                  </a:lnTo>
                  <a:cubicBezTo>
                    <a:pt x="10661" y="158750"/>
                    <a:pt x="0" y="148089"/>
                    <a:pt x="0" y="134938"/>
                  </a:cubicBezTo>
                  <a:lnTo>
                    <a:pt x="0" y="87313"/>
                  </a:lnTo>
                  <a:cubicBezTo>
                    <a:pt x="0" y="74161"/>
                    <a:pt x="10661" y="63500"/>
                    <a:pt x="23812" y="63500"/>
                  </a:cubicBezTo>
                  <a:lnTo>
                    <a:pt x="23812" y="39688"/>
                  </a:lnTo>
                  <a:cubicBezTo>
                    <a:pt x="23812" y="17769"/>
                    <a:pt x="41581" y="0"/>
                    <a:pt x="63500" y="0"/>
                  </a:cubicBezTo>
                  <a:moveTo>
                    <a:pt x="63500" y="95250"/>
                  </a:moveTo>
                  <a:cubicBezTo>
                    <a:pt x="55192" y="95247"/>
                    <a:pt x="48288" y="101650"/>
                    <a:pt x="47665" y="109934"/>
                  </a:cubicBezTo>
                  <a:lnTo>
                    <a:pt x="47625" y="111125"/>
                  </a:lnTo>
                  <a:cubicBezTo>
                    <a:pt x="47625" y="119893"/>
                    <a:pt x="54732" y="127000"/>
                    <a:pt x="63500" y="127000"/>
                  </a:cubicBezTo>
                  <a:cubicBezTo>
                    <a:pt x="72268" y="127000"/>
                    <a:pt x="79375" y="119893"/>
                    <a:pt x="79375" y="111125"/>
                  </a:cubicBezTo>
                  <a:cubicBezTo>
                    <a:pt x="79375" y="102357"/>
                    <a:pt x="72268" y="95250"/>
                    <a:pt x="63500" y="95250"/>
                  </a:cubicBezTo>
                  <a:moveTo>
                    <a:pt x="63500" y="15875"/>
                  </a:moveTo>
                  <a:cubicBezTo>
                    <a:pt x="50349" y="15875"/>
                    <a:pt x="39688" y="26536"/>
                    <a:pt x="39688" y="39688"/>
                  </a:cubicBezTo>
                  <a:lnTo>
                    <a:pt x="39688" y="63500"/>
                  </a:lnTo>
                  <a:lnTo>
                    <a:pt x="87313" y="63500"/>
                  </a:lnTo>
                  <a:lnTo>
                    <a:pt x="87313" y="39688"/>
                  </a:lnTo>
                  <a:cubicBezTo>
                    <a:pt x="87313" y="26536"/>
                    <a:pt x="76651" y="15875"/>
                    <a:pt x="63500" y="15875"/>
                  </a:cubicBezTo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77265" y="6068378"/>
              <a:ext cx="33839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每个 spoke 独立凭证 — 安全边界与 Agent 解耦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61022" y="6521291"/>
            <a:ext cx="11069956" cy="167640"/>
            <a:chOff x="561022" y="6521291"/>
            <a:chExt cx="11069956" cy="167640"/>
          </a:xfrm>
        </p:grpSpPr>
        <p:sp>
          <p:nvSpPr>
            <p:cNvPr id="74" name="TextBox 74"/>
            <p:cNvSpPr txBox="1"/>
            <p:nvPr/>
          </p:nvSpPr>
          <p:spPr>
            <a:xfrm>
              <a:off x="561022" y="6521291"/>
              <a:ext cx="54129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参考：DevOps Agent → Capabilities → MCP Servers · 项目仓库 chart/ + chart-aliyun/ + deploy/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206377" y="6521291"/>
              <a:ext cx="4246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06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/>
      <p:bldP spid="27" grpId="0"/>
      <p:bldP spid="46" grpId="0"/>
      <p:bldP spid="64" grpId="0"/>
      <p:bldP spid="69" grpId="0"/>
      <p:bldP spid="7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41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C0">
                    <a:alpha val="18000"/>
                  </a:srgbClr>
                </a:gs>
                <a:gs pos="100000">
                  <a:srgbClr val="1565C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952500" y="1047750"/>
            <a:ext cx="1646158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0" b="1" dirty="0">
                <a:solidFill>
                  <a:srgbClr val="1565C0">
                    <a:alpha val="15000"/>
                  </a:srgbClr>
                </a:solidFill>
                <a:latin typeface="Georgia"/>
                <a:ea typeface="SimSun"/>
                <a:cs typeface="Georgia"/>
              </a:rPr>
              <a:t>"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667250" y="1029652"/>
            <a:ext cx="2857500" cy="265748"/>
            <a:chOff x="4667250" y="1029652"/>
            <a:chExt cx="2857500" cy="265748"/>
          </a:xfrm>
        </p:grpSpPr>
        <p:sp>
          <p:nvSpPr>
            <p:cNvPr id="6" name="TextBox 6"/>
            <p:cNvSpPr txBox="1"/>
            <p:nvPr/>
          </p:nvSpPr>
          <p:spPr>
            <a:xfrm>
              <a:off x="4818657" y="1029652"/>
              <a:ext cx="25546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AGENT 内部推理 · DIRECT EVIDENCE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4667250" y="1285875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14288">
              <a:solidFill>
                <a:srgbClr val="FF980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2744264" y="1487805"/>
            <a:ext cx="6703471" cy="426720"/>
            <a:chOff x="2744264" y="1487805"/>
            <a:chExt cx="6703471" cy="426720"/>
          </a:xfrm>
        </p:grpSpPr>
        <p:sp>
          <p:nvSpPr>
            <p:cNvPr id="9" name="TextBox 9"/>
            <p:cNvSpPr txBox="1"/>
            <p:nvPr/>
          </p:nvSpPr>
          <p:spPr>
            <a:xfrm>
              <a:off x="2744264" y="1487805"/>
              <a:ext cx="670347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Agent 自己识别 MCP 扩展点 — 路由决策一行话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43000" y="2571750"/>
            <a:ext cx="9906000" cy="2095500"/>
            <a:chOff x="1143000" y="2571750"/>
            <a:chExt cx="9906000" cy="2095500"/>
          </a:xfrm>
        </p:grpSpPr>
        <p:sp>
          <p:nvSpPr>
            <p:cNvPr id="11" name="Rectangle 11"/>
            <p:cNvSpPr/>
            <p:nvPr/>
          </p:nvSpPr>
          <p:spPr>
            <a:xfrm>
              <a:off x="1143000" y="2571750"/>
              <a:ext cx="9906000" cy="2095500"/>
            </a:xfrm>
            <a:prstGeom prst="roundRect">
              <a:avLst>
                <a:gd name="adj" fmla="val 7273"/>
              </a:avLst>
            </a:prstGeom>
            <a:solidFill>
              <a:srgbClr val="1A2332"/>
            </a:solidFill>
            <a:ln w="14288">
              <a:solidFill>
                <a:srgbClr val="42A5F5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143000" y="2571750"/>
              <a:ext cx="57150" cy="2095500"/>
            </a:xfrm>
            <a:prstGeom prst="roundRect">
              <a:avLst>
                <a:gd name="adj" fmla="val 33333"/>
              </a:avLst>
            </a:prstGeom>
            <a:solidFill>
              <a:srgbClr val="42A5F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98295" y="2946082"/>
              <a:ext cx="54760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8EAED"/>
                  </a:solidFill>
                  <a:latin typeface="Consolas"/>
                  <a:ea typeface="Microsoft YaHei"/>
                  <a:cs typeface="Consolas"/>
                </a:rPr>
                <a:t>"China accounts aren't directly in the enabled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98295" y="3269932"/>
              <a:ext cx="5717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8EAED"/>
                  </a:solidFill>
                  <a:latin typeface="Consolas"/>
                  <a:ea typeface="Microsoft YaHei"/>
                  <a:cs typeface="Consolas"/>
                </a:rPr>
                <a:t>associations; instead they're accessed through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98295" y="3593782"/>
              <a:ext cx="59248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the custom MCP servers, so I'll need to use the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98295" y="3917632"/>
              <a:ext cx="632974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aws_cn_2_mcp tools to reach the Beijing account."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04962" y="4336256"/>
              <a:ext cx="53028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— Agent thinking 字段，C2 调查 journal recordId 8e7a143f · 13:24 BJ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5143500"/>
            <a:ext cx="11049000" cy="952500"/>
            <a:chOff x="571500" y="5143500"/>
            <a:chExt cx="11049000" cy="952500"/>
          </a:xfrm>
        </p:grpSpPr>
        <p:grpSp>
          <p:nvGrpSpPr>
            <p:cNvPr id="24" name="Group 24"/>
            <p:cNvGrpSpPr/>
            <p:nvPr/>
          </p:nvGrpSpPr>
          <p:grpSpPr>
            <a:xfrm>
              <a:off x="571500" y="5143500"/>
              <a:ext cx="3619500" cy="952500"/>
              <a:chOff x="571500" y="5143500"/>
              <a:chExt cx="3619500" cy="952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71500" y="5143500"/>
                <a:ext cx="3619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1A2332"/>
              </a:solidFill>
              <a:ln w="9525">
                <a:solidFill>
                  <a:srgbClr val="42A5F5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27710" y="5156835"/>
                <a:ext cx="192796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1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165860" y="5280660"/>
                <a:ext cx="187991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Agent 主动识别扩展点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68718" y="5562124"/>
                <a:ext cx="248826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从 association 列表读到自定义 MCP，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168718" y="5752624"/>
                <a:ext cx="208242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自动决定路由 — 不需 query hint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4286250" y="5143500"/>
              <a:ext cx="3619500" cy="952500"/>
              <a:chOff x="4286250" y="5143500"/>
              <a:chExt cx="3619500" cy="952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286250" y="5143500"/>
                <a:ext cx="3619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1A2332"/>
              </a:solidFill>
              <a:ln w="9525">
                <a:solidFill>
                  <a:srgbClr val="FF9800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442460" y="5156835"/>
                <a:ext cx="296308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2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880610" y="5280660"/>
                <a:ext cx="2137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Skill 帮助选择正确的 MCP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883468" y="5562124"/>
                <a:ext cx="253810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china-region-multi-account-routing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883468" y="5752624"/>
                <a:ext cx="25096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告诉 agent aws-cn vs aws-cn-2 区分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001000" y="5143500"/>
              <a:ext cx="3619500" cy="952500"/>
              <a:chOff x="8001000" y="5143500"/>
              <a:chExt cx="3619500" cy="9525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001000" y="5143500"/>
                <a:ext cx="3619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1A2332"/>
              </a:solidFill>
              <a:ln w="9525">
                <a:solidFill>
                  <a:srgbClr val="4CAF50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157210" y="5156835"/>
                <a:ext cx="296308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4CAF50"/>
                    </a:solidFill>
                    <a:latin typeface="Arial"/>
                    <a:ea typeface="SimHei"/>
                    <a:cs typeface="Arial"/>
                  </a:rPr>
                  <a:t>3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595360" y="5280660"/>
                <a:ext cx="15026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每次调用全程审计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598218" y="5562124"/>
                <a:ext cx="193290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MCP pod access log 一行不漏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598218" y="5752624"/>
                <a:ext cx="5943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合规可证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561022" y="6521291"/>
            <a:ext cx="11069956" cy="167640"/>
            <a:chOff x="561022" y="6521291"/>
            <a:chExt cx="11069956" cy="167640"/>
          </a:xfrm>
        </p:grpSpPr>
        <p:sp>
          <p:nvSpPr>
            <p:cNvPr id="38" name="TextBox 38"/>
            <p:cNvSpPr txBox="1"/>
            <p:nvPr/>
          </p:nvSpPr>
          <p:spPr>
            <a:xfrm>
              <a:off x="561022" y="6521291"/>
              <a:ext cx="467794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证据保存于 blog/cli-evidence/case2/c2-journal-real.json (300 KB) · 100 records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06377" y="6521291"/>
              <a:ext cx="4246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8" grpId="0"/>
      <p:bldP spid="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7210" y="476250"/>
            <a:ext cx="8142589" cy="1162050"/>
            <a:chOff x="537210" y="476250"/>
            <a:chExt cx="8142589" cy="116205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11940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PART 3 · SKILLS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814258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9</a:t>
              </a:r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 xml:space="preserve"> 个 Skill, 分三层 — 让 Agent 真正懂中国区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394460"/>
              <a:ext cx="58052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Skill 是策略层 — Foundation 兜底，分析层应需调用，Pipeline 走故事剧本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35217" y="2000250"/>
            <a:ext cx="2321566" cy="476250"/>
            <a:chOff x="4935217" y="2000250"/>
            <a:chExt cx="2321566" cy="476250"/>
          </a:xfrm>
        </p:grpSpPr>
        <p:sp>
          <p:nvSpPr>
            <p:cNvPr id="8" name="Polygon 8"/>
            <p:cNvSpPr/>
            <p:nvPr/>
          </p:nvSpPr>
          <p:spPr>
            <a:xfrm>
              <a:off x="5143500" y="2000250"/>
              <a:ext cx="1905000" cy="476250"/>
            </a:xfrm>
            <a:custGeom>
              <a:avLst/>
              <a:gdLst/>
              <a:ahLst/>
              <a:cxnLst/>
              <a:rect l="l" t="t" r="r" b="b"/>
              <a:pathLst>
                <a:path w="1905000" h="476250">
                  <a:moveTo>
                    <a:pt x="0" y="0"/>
                  </a:moveTo>
                  <a:lnTo>
                    <a:pt x="1905000" y="0"/>
                  </a:lnTo>
                  <a:lnTo>
                    <a:pt x="1524000" y="476250"/>
                  </a:lnTo>
                  <a:lnTo>
                    <a:pt x="381000" y="476250"/>
                  </a:lnTo>
                  <a:close/>
                </a:path>
              </a:pathLst>
            </a:custGeom>
            <a:gradFill>
              <a:gsLst>
                <a:gs pos="0">
                  <a:srgbClr val="4CAF50">
                    <a:alpha val="90000"/>
                  </a:srgbClr>
                </a:gs>
                <a:gs pos="100000">
                  <a:srgbClr val="81C784">
                    <a:alpha val="90000"/>
                  </a:srgbClr>
                </a:gs>
              </a:gsLst>
              <a:lin ang="0" scaled="1"/>
            </a:gradFill>
            <a:ln w="9525">
              <a:solidFill>
                <a:srgbClr val="4CAF5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935217" y="2156460"/>
              <a:ext cx="2321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cn-partition-arn-routing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0" y="2571750"/>
            <a:ext cx="2667000" cy="571500"/>
            <a:chOff x="4762500" y="2571750"/>
            <a:chExt cx="2667000" cy="571500"/>
          </a:xfrm>
        </p:grpSpPr>
        <p:sp>
          <p:nvSpPr>
            <p:cNvPr id="11" name="Polygon 11"/>
            <p:cNvSpPr/>
            <p:nvPr/>
          </p:nvSpPr>
          <p:spPr>
            <a:xfrm>
              <a:off x="4762500" y="2571750"/>
              <a:ext cx="2667000" cy="571500"/>
            </a:xfrm>
            <a:custGeom>
              <a:avLst/>
              <a:gdLst/>
              <a:ahLst/>
              <a:cxnLst/>
              <a:rect l="l" t="t" r="r" b="b"/>
              <a:pathLst>
                <a:path w="2667000" h="571500">
                  <a:moveTo>
                    <a:pt x="0" y="0"/>
                  </a:moveTo>
                  <a:lnTo>
                    <a:pt x="2667000" y="0"/>
                  </a:lnTo>
                  <a:lnTo>
                    <a:pt x="2286000" y="571500"/>
                  </a:lnTo>
                  <a:lnTo>
                    <a:pt x="381000" y="571500"/>
                  </a:lnTo>
                  <a:close/>
                </a:path>
              </a:pathLst>
            </a:custGeom>
            <a:gradFill>
              <a:gsLst>
                <a:gs pos="0">
                  <a:srgbClr val="F44336">
                    <a:alpha val="90000"/>
                  </a:srgbClr>
                </a:gs>
                <a:gs pos="100000">
                  <a:srgbClr val="FF7043">
                    <a:alpha val="90000"/>
                  </a:srgbClr>
                </a:gs>
              </a:gsLst>
              <a:lin ang="0" scaled="1"/>
            </a:gradFill>
            <a:ln w="9525">
              <a:solidFill>
                <a:srgbClr val="F4433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197539" y="2688431"/>
              <a:ext cx="17969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Pipeline 层 — 4 个 Skill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78562" y="2931795"/>
              <a:ext cx="24348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 val="90000"/>
                    </a:srgbClr>
                  </a:solidFill>
                  <a:latin typeface="Consolas"/>
                  <a:ea typeface="Microsoft YaHei"/>
                  <a:cs typeface="Consolas"/>
                </a:rPr>
                <a:t>prevention · triage · rca · mitigation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997881" y="3238500"/>
            <a:ext cx="4196239" cy="666750"/>
            <a:chOff x="3997881" y="3238500"/>
            <a:chExt cx="4196239" cy="666750"/>
          </a:xfrm>
        </p:grpSpPr>
        <p:sp>
          <p:nvSpPr>
            <p:cNvPr id="15" name="Polygon 15"/>
            <p:cNvSpPr/>
            <p:nvPr/>
          </p:nvSpPr>
          <p:spPr>
            <a:xfrm>
              <a:off x="4286250" y="3238500"/>
              <a:ext cx="3619500" cy="666750"/>
            </a:xfrm>
            <a:custGeom>
              <a:avLst/>
              <a:gdLst/>
              <a:ahLst/>
              <a:cxnLst/>
              <a:rect l="l" t="t" r="r" b="b"/>
              <a:pathLst>
                <a:path w="3619500" h="666750">
                  <a:moveTo>
                    <a:pt x="0" y="0"/>
                  </a:moveTo>
                  <a:lnTo>
                    <a:pt x="3619500" y="0"/>
                  </a:lnTo>
                  <a:lnTo>
                    <a:pt x="3238500" y="666750"/>
                  </a:lnTo>
                  <a:lnTo>
                    <a:pt x="381000" y="666750"/>
                  </a:lnTo>
                  <a:close/>
                </a:path>
              </a:pathLst>
            </a:custGeom>
            <a:gradFill>
              <a:gsLst>
                <a:gs pos="0">
                  <a:srgbClr val="FF9800">
                    <a:alpha val="90000"/>
                  </a:srgbClr>
                </a:gs>
                <a:gs pos="100000">
                  <a:srgbClr val="FFB74D">
                    <a:alpha val="90000"/>
                  </a:srgbClr>
                </a:gs>
              </a:gsLst>
              <a:lin ang="0" scaled="1"/>
            </a:gradFill>
            <a:ln w="9525">
              <a:solidFill>
                <a:srgbClr val="FF980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65748" y="3374231"/>
              <a:ext cx="14605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分析层 — 3 个 Skill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97881" y="3636645"/>
              <a:ext cx="41962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 val="90000"/>
                    </a:srgbClr>
                  </a:solidFill>
                  <a:latin typeface="Consolas"/>
                  <a:ea typeface="Microsoft YaHei"/>
                  <a:cs typeface="Consolas"/>
                </a:rPr>
                <a:t>inventory-compare · cost-attribution · security-posture-check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619500" y="4000500"/>
            <a:ext cx="4953000" cy="857250"/>
            <a:chOff x="3619500" y="4000500"/>
            <a:chExt cx="4953000" cy="857250"/>
          </a:xfrm>
        </p:grpSpPr>
        <p:sp>
          <p:nvSpPr>
            <p:cNvPr id="19" name="Polygon 19"/>
            <p:cNvSpPr/>
            <p:nvPr/>
          </p:nvSpPr>
          <p:spPr>
            <a:xfrm>
              <a:off x="3619500" y="4000500"/>
              <a:ext cx="4953000" cy="857250"/>
            </a:xfrm>
            <a:custGeom>
              <a:avLst/>
              <a:gdLst/>
              <a:ahLst/>
              <a:cxnLst/>
              <a:rect l="l" t="t" r="r" b="b"/>
              <a:pathLst>
                <a:path w="4953000" h="857250">
                  <a:moveTo>
                    <a:pt x="0" y="0"/>
                  </a:moveTo>
                  <a:lnTo>
                    <a:pt x="4953000" y="0"/>
                  </a:lnTo>
                  <a:lnTo>
                    <a:pt x="4572000" y="857250"/>
                  </a:lnTo>
                  <a:lnTo>
                    <a:pt x="381000" y="857250"/>
                  </a:lnTo>
                  <a:close/>
                </a:path>
              </a:pathLst>
            </a:custGeom>
            <a:gradFill>
              <a:gsLst>
                <a:gs pos="0">
                  <a:srgbClr val="1565C0">
                    <a:alpha val="95000"/>
                  </a:srgbClr>
                </a:gs>
                <a:gs pos="100000">
                  <a:srgbClr val="42A5F5">
                    <a:alpha val="95000"/>
                  </a:srgbClr>
                </a:gs>
              </a:gsLst>
              <a:lin ang="0" scaled="1"/>
            </a:gradFill>
            <a:ln w="9525">
              <a:solidFill>
                <a:srgbClr val="1565C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081087" y="4164806"/>
              <a:ext cx="20298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Foundation 层 — 1 个 Skill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24568" y="4455795"/>
              <a:ext cx="23428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 val="90000"/>
                    </a:srgbClr>
                  </a:solidFill>
                  <a:latin typeface="Consolas"/>
                  <a:ea typeface="Microsoft YaHei"/>
                  <a:cs typeface="Consolas"/>
                </a:rPr>
                <a:t>china-region-multi-account-routing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61308" y="4625816"/>
              <a:ext cx="30693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>
                      <a:alpha val="80000"/>
                    </a:srgbClr>
                  </a:solidFill>
                  <a:latin typeface="Arial"/>
                  <a:ea typeface="Microsoft YaHei"/>
                  <a:cs typeface="Arial"/>
                </a:rPr>
                <a:t>aws-cn = 北京 · aws-cn-2 = 宁夏 — 所有 skill 隐式依赖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71500" y="4095750"/>
            <a:ext cx="3048000" cy="771525"/>
            <a:chOff x="571500" y="4095750"/>
            <a:chExt cx="3048000" cy="771525"/>
          </a:xfrm>
        </p:grpSpPr>
        <p:sp>
          <p:nvSpPr>
            <p:cNvPr id="24" name="Line 24"/>
            <p:cNvSpPr/>
            <p:nvPr/>
          </p:nvSpPr>
          <p:spPr>
            <a:xfrm>
              <a:off x="2095500" y="442912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152400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1565C0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047875" y="4381500"/>
              <a:ext cx="95250" cy="952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71500" y="4095750"/>
              <a:ext cx="1476375" cy="762000"/>
            </a:xfrm>
            <a:prstGeom prst="roundRect">
              <a:avLst>
                <a:gd name="adj" fmla="val 10000"/>
              </a:avLst>
            </a:prstGeom>
            <a:solidFill>
              <a:srgbClr val="1A2332"/>
            </a:solidFill>
            <a:ln w="9525">
              <a:solidFill>
                <a:srgbClr val="1565C0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7697" y="4262623"/>
              <a:ext cx="143847" cy="142497"/>
              <a:chOff x="737697" y="4262623"/>
              <a:chExt cx="143847" cy="142497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14847" y="4362450"/>
                <a:ext cx="60250" cy="42670"/>
              </a:xfrm>
              <a:custGeom>
                <a:avLst/>
                <a:gdLst/>
                <a:ahLst/>
                <a:cxnLst/>
                <a:rect l="l" t="t" r="r" b="b"/>
                <a:pathLst>
                  <a:path w="60250" h="42670">
                    <a:moveTo>
                      <a:pt x="60250" y="0"/>
                    </a:moveTo>
                    <a:cubicBezTo>
                      <a:pt x="49643" y="24303"/>
                      <a:pt x="26446" y="40731"/>
                      <a:pt x="0" y="42670"/>
                    </a:cubicBezTo>
                    <a:cubicBezTo>
                      <a:pt x="1829" y="42234"/>
                      <a:pt x="3413" y="41094"/>
                      <a:pt x="4408" y="39498"/>
                    </a:cubicBezTo>
                    <a:cubicBezTo>
                      <a:pt x="12001" y="27334"/>
                      <a:pt x="17506" y="13987"/>
                      <a:pt x="20695" y="7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44153" y="4362450"/>
                <a:ext cx="60243" cy="42670"/>
              </a:xfrm>
              <a:custGeom>
                <a:avLst/>
                <a:gdLst/>
                <a:ahLst/>
                <a:cxnLst/>
                <a:rect l="l" t="t" r="r" b="b"/>
                <a:pathLst>
                  <a:path w="60243" h="42670">
                    <a:moveTo>
                      <a:pt x="39555" y="0"/>
                    </a:moveTo>
                    <a:cubicBezTo>
                      <a:pt x="42743" y="13985"/>
                      <a:pt x="48248" y="27337"/>
                      <a:pt x="55843" y="39505"/>
                    </a:cubicBezTo>
                    <a:cubicBezTo>
                      <a:pt x="56837" y="41097"/>
                      <a:pt x="58418" y="42234"/>
                      <a:pt x="60243" y="42670"/>
                    </a:cubicBezTo>
                    <a:cubicBezTo>
                      <a:pt x="33800" y="40729"/>
                      <a:pt x="10606" y="24301"/>
                      <a:pt x="0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98409" y="4362450"/>
                <a:ext cx="22431" cy="27746"/>
              </a:xfrm>
              <a:custGeom>
                <a:avLst/>
                <a:gdLst/>
                <a:ahLst/>
                <a:cxnLst/>
                <a:rect l="l" t="t" r="r" b="b"/>
                <a:pathLst>
                  <a:path w="22431" h="27746">
                    <a:moveTo>
                      <a:pt x="22431" y="0"/>
                    </a:moveTo>
                    <a:cubicBezTo>
                      <a:pt x="19925" y="9700"/>
                      <a:pt x="16154" y="19029"/>
                      <a:pt x="11216" y="27746"/>
                    </a:cubicBezTo>
                    <a:cubicBezTo>
                      <a:pt x="6277" y="19029"/>
                      <a:pt x="2506" y="9700"/>
                      <a:pt x="0" y="0"/>
                    </a:cubicBezTo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37697" y="4319588"/>
                <a:ext cx="43596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596" h="28575">
                    <a:moveTo>
                      <a:pt x="43596" y="0"/>
                    </a:moveTo>
                    <a:cubicBezTo>
                      <a:pt x="42535" y="9495"/>
                      <a:pt x="42535" y="19080"/>
                      <a:pt x="43596" y="28575"/>
                    </a:cubicBezTo>
                    <a:lnTo>
                      <a:pt x="1934" y="28575"/>
                    </a:lnTo>
                    <a:cubicBezTo>
                      <a:pt x="5" y="19148"/>
                      <a:pt x="0" y="9429"/>
                      <a:pt x="1920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94485" y="4319588"/>
                <a:ext cx="3028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0280" h="28575">
                    <a:moveTo>
                      <a:pt x="29085" y="0"/>
                    </a:moveTo>
                    <a:cubicBezTo>
                      <a:pt x="30280" y="9487"/>
                      <a:pt x="30280" y="19088"/>
                      <a:pt x="29085" y="28575"/>
                    </a:cubicBezTo>
                    <a:lnTo>
                      <a:pt x="1195" y="28575"/>
                    </a:lnTo>
                    <a:cubicBezTo>
                      <a:pt x="0" y="19088"/>
                      <a:pt x="0" y="9487"/>
                      <a:pt x="1195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7957" y="4319588"/>
                <a:ext cx="435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587" h="28575">
                    <a:moveTo>
                      <a:pt x="41677" y="0"/>
                    </a:moveTo>
                    <a:cubicBezTo>
                      <a:pt x="43587" y="9430"/>
                      <a:pt x="43582" y="19147"/>
                      <a:pt x="41662" y="28575"/>
                    </a:cubicBezTo>
                    <a:lnTo>
                      <a:pt x="0" y="28575"/>
                    </a:lnTo>
                    <a:cubicBezTo>
                      <a:pt x="1064" y="19081"/>
                      <a:pt x="1064" y="9501"/>
                      <a:pt x="0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44131" y="4262630"/>
                <a:ext cx="60258" cy="42670"/>
              </a:xfrm>
              <a:custGeom>
                <a:avLst/>
                <a:gdLst/>
                <a:ahLst/>
                <a:cxnLst/>
                <a:rect l="l" t="t" r="r" b="b"/>
                <a:pathLst>
                  <a:path w="60258" h="42670">
                    <a:moveTo>
                      <a:pt x="60258" y="0"/>
                    </a:moveTo>
                    <a:cubicBezTo>
                      <a:pt x="58433" y="439"/>
                      <a:pt x="56855" y="1579"/>
                      <a:pt x="55864" y="3172"/>
                    </a:cubicBezTo>
                    <a:cubicBezTo>
                      <a:pt x="48270" y="15337"/>
                      <a:pt x="42765" y="28688"/>
                      <a:pt x="39576" y="42670"/>
                    </a:cubicBezTo>
                    <a:lnTo>
                      <a:pt x="0" y="42670"/>
                    </a:lnTo>
                    <a:cubicBezTo>
                      <a:pt x="10514" y="18607"/>
                      <a:pt x="33369" y="2243"/>
                      <a:pt x="59536" y="43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98409" y="4277554"/>
                <a:ext cx="22431" cy="27753"/>
              </a:xfrm>
              <a:custGeom>
                <a:avLst/>
                <a:gdLst/>
                <a:ahLst/>
                <a:cxnLst/>
                <a:rect l="l" t="t" r="r" b="b"/>
                <a:pathLst>
                  <a:path w="22431" h="27753">
                    <a:moveTo>
                      <a:pt x="11216" y="0"/>
                    </a:moveTo>
                    <a:cubicBezTo>
                      <a:pt x="16155" y="8719"/>
                      <a:pt x="19926" y="18051"/>
                      <a:pt x="22431" y="27753"/>
                    </a:cubicBezTo>
                    <a:lnTo>
                      <a:pt x="0" y="27753"/>
                    </a:lnTo>
                    <a:cubicBezTo>
                      <a:pt x="2429" y="18345"/>
                      <a:pt x="6072" y="9180"/>
                      <a:pt x="10930" y="486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4861" y="4262623"/>
                <a:ext cx="60258" cy="42677"/>
              </a:xfrm>
              <a:custGeom>
                <a:avLst/>
                <a:gdLst/>
                <a:ahLst/>
                <a:cxnLst/>
                <a:rect l="l" t="t" r="r" b="b"/>
                <a:pathLst>
                  <a:path w="60258" h="42677">
                    <a:moveTo>
                      <a:pt x="0" y="0"/>
                    </a:moveTo>
                    <a:cubicBezTo>
                      <a:pt x="26445" y="1953"/>
                      <a:pt x="49638" y="18379"/>
                      <a:pt x="60258" y="42677"/>
                    </a:cubicBezTo>
                    <a:lnTo>
                      <a:pt x="20681" y="42677"/>
                    </a:lnTo>
                    <a:cubicBezTo>
                      <a:pt x="17493" y="28692"/>
                      <a:pt x="11988" y="15340"/>
                      <a:pt x="4393" y="3172"/>
                    </a:cubicBezTo>
                    <a:cubicBezTo>
                      <a:pt x="3534" y="1795"/>
                      <a:pt x="2231" y="752"/>
                      <a:pt x="700" y="214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40118" y="4276249"/>
              <a:ext cx="8097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Foundation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2470" y="4531995"/>
              <a:ext cx="10218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所有 skill 都引用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2470" y="4684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的账号路由表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572500" y="3238500"/>
            <a:ext cx="3056477" cy="771525"/>
            <a:chOff x="8572500" y="3238500"/>
            <a:chExt cx="3056477" cy="771525"/>
          </a:xfrm>
        </p:grpSpPr>
        <p:sp>
          <p:nvSpPr>
            <p:cNvPr id="41" name="Line 41"/>
            <p:cNvSpPr/>
            <p:nvPr/>
          </p:nvSpPr>
          <p:spPr>
            <a:xfrm>
              <a:off x="8572500" y="357187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4288">
              <a:solidFill>
                <a:srgbClr val="FF9800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10048875" y="3524250"/>
              <a:ext cx="95250" cy="95250"/>
            </a:xfrm>
            <a:prstGeom prst="ellipse">
              <a:avLst/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144125" y="3238500"/>
              <a:ext cx="1476375" cy="762000"/>
            </a:xfrm>
            <a:prstGeom prst="roundRect">
              <a:avLst>
                <a:gd name="adj" fmla="val 10000"/>
              </a:avLst>
            </a:prstGeom>
            <a:solidFill>
              <a:srgbClr val="1A2332"/>
            </a:solidFill>
            <a:ln w="9525">
              <a:solidFill>
                <a:srgbClr val="FF9800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303357" y="3419475"/>
              <a:ext cx="157467" cy="114300"/>
            </a:xfrm>
            <a:custGeom>
              <a:avLst/>
              <a:gdLst/>
              <a:ahLst/>
              <a:cxnLst/>
              <a:rect l="l" t="t" r="r" b="b"/>
              <a:pathLst>
                <a:path w="157467" h="114300">
                  <a:moveTo>
                    <a:pt x="78893" y="0"/>
                  </a:moveTo>
                  <a:cubicBezTo>
                    <a:pt x="109539" y="0"/>
                    <a:pt x="135064" y="17352"/>
                    <a:pt x="155081" y="51106"/>
                  </a:cubicBezTo>
                  <a:lnTo>
                    <a:pt x="156652" y="53814"/>
                  </a:lnTo>
                  <a:lnTo>
                    <a:pt x="156974" y="54528"/>
                  </a:lnTo>
                  <a:lnTo>
                    <a:pt x="157188" y="55121"/>
                  </a:lnTo>
                  <a:lnTo>
                    <a:pt x="157288" y="55514"/>
                  </a:lnTo>
                  <a:lnTo>
                    <a:pt x="157388" y="56100"/>
                  </a:lnTo>
                  <a:lnTo>
                    <a:pt x="157467" y="56814"/>
                  </a:lnTo>
                  <a:lnTo>
                    <a:pt x="157467" y="57600"/>
                  </a:lnTo>
                  <a:lnTo>
                    <a:pt x="157367" y="58393"/>
                  </a:lnTo>
                  <a:cubicBezTo>
                    <a:pt x="157320" y="58658"/>
                    <a:pt x="157258" y="58921"/>
                    <a:pt x="157181" y="59179"/>
                  </a:cubicBezTo>
                  <a:lnTo>
                    <a:pt x="156902" y="59950"/>
                  </a:lnTo>
                  <a:lnTo>
                    <a:pt x="156645" y="60486"/>
                  </a:lnTo>
                  <a:lnTo>
                    <a:pt x="156531" y="60700"/>
                  </a:lnTo>
                  <a:cubicBezTo>
                    <a:pt x="136785" y="95248"/>
                    <a:pt x="111525" y="113421"/>
                    <a:pt x="81128" y="114271"/>
                  </a:cubicBezTo>
                  <a:lnTo>
                    <a:pt x="78893" y="114300"/>
                  </a:lnTo>
                  <a:cubicBezTo>
                    <a:pt x="47489" y="114300"/>
                    <a:pt x="21478" y="96091"/>
                    <a:pt x="1254" y="60693"/>
                  </a:cubicBezTo>
                  <a:cubicBezTo>
                    <a:pt x="0" y="58498"/>
                    <a:pt x="0" y="55802"/>
                    <a:pt x="1254" y="53607"/>
                  </a:cubicBezTo>
                  <a:cubicBezTo>
                    <a:pt x="21478" y="18209"/>
                    <a:pt x="47489" y="0"/>
                    <a:pt x="78893" y="0"/>
                  </a:cubicBezTo>
                  <a:close/>
                  <a:moveTo>
                    <a:pt x="78893" y="35719"/>
                  </a:moveTo>
                  <a:cubicBezTo>
                    <a:pt x="67056" y="35719"/>
                    <a:pt x="57461" y="45314"/>
                    <a:pt x="57461" y="57150"/>
                  </a:cubicBezTo>
                  <a:cubicBezTo>
                    <a:pt x="57461" y="68986"/>
                    <a:pt x="67056" y="78581"/>
                    <a:pt x="78893" y="78581"/>
                  </a:cubicBezTo>
                  <a:cubicBezTo>
                    <a:pt x="90729" y="78581"/>
                    <a:pt x="100324" y="68986"/>
                    <a:pt x="100324" y="57150"/>
                  </a:cubicBezTo>
                  <a:cubicBezTo>
                    <a:pt x="100324" y="45314"/>
                    <a:pt x="90729" y="35719"/>
                    <a:pt x="78893" y="35719"/>
                  </a:cubicBezTo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512742" y="341899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分析层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85095" y="3674745"/>
              <a:ext cx="11204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用户主动 query 时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85095" y="3827145"/>
              <a:ext cx="13438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激活 (Generic agent)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429500" y="2476500"/>
            <a:ext cx="3048000" cy="771525"/>
            <a:chOff x="7429500" y="2476500"/>
            <a:chExt cx="3048000" cy="771525"/>
          </a:xfrm>
        </p:grpSpPr>
        <p:sp>
          <p:nvSpPr>
            <p:cNvPr id="49" name="Line 49"/>
            <p:cNvSpPr/>
            <p:nvPr/>
          </p:nvSpPr>
          <p:spPr>
            <a:xfrm>
              <a:off x="7429500" y="280987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4288">
              <a:solidFill>
                <a:srgbClr val="F44336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8905875" y="2762250"/>
              <a:ext cx="95250" cy="95250"/>
            </a:xfrm>
            <a:prstGeom prst="ellipse">
              <a:avLst/>
            </a:prstGeom>
            <a:solidFill>
              <a:srgbClr val="F44336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001125" y="2476500"/>
              <a:ext cx="1476375" cy="762000"/>
            </a:xfrm>
            <a:prstGeom prst="roundRect">
              <a:avLst>
                <a:gd name="adj" fmla="val 10000"/>
              </a:avLst>
            </a:prstGeom>
            <a:solidFill>
              <a:srgbClr val="1A2332"/>
            </a:solidFill>
            <a:ln w="9525">
              <a:solidFill>
                <a:srgbClr val="F44336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9181777" y="2643188"/>
              <a:ext cx="114947" cy="145525"/>
            </a:xfrm>
            <a:custGeom>
              <a:avLst/>
              <a:gdLst/>
              <a:ahLst/>
              <a:cxnLst/>
              <a:rect l="l" t="t" r="r" b="b"/>
              <a:pathLst>
                <a:path w="114947" h="145525">
                  <a:moveTo>
                    <a:pt x="64617" y="0"/>
                  </a:moveTo>
                  <a:lnTo>
                    <a:pt x="64746" y="7"/>
                  </a:lnTo>
                  <a:lnTo>
                    <a:pt x="64860" y="14"/>
                  </a:lnTo>
                  <a:lnTo>
                    <a:pt x="65453" y="50"/>
                  </a:lnTo>
                  <a:lnTo>
                    <a:pt x="65532" y="64"/>
                  </a:lnTo>
                  <a:lnTo>
                    <a:pt x="65610" y="64"/>
                  </a:lnTo>
                  <a:lnTo>
                    <a:pt x="65882" y="129"/>
                  </a:lnTo>
                  <a:lnTo>
                    <a:pt x="66253" y="186"/>
                  </a:lnTo>
                  <a:lnTo>
                    <a:pt x="66367" y="229"/>
                  </a:lnTo>
                  <a:lnTo>
                    <a:pt x="66446" y="236"/>
                  </a:lnTo>
                  <a:lnTo>
                    <a:pt x="66653" y="314"/>
                  </a:lnTo>
                  <a:lnTo>
                    <a:pt x="67025" y="414"/>
                  </a:lnTo>
                  <a:lnTo>
                    <a:pt x="67160" y="479"/>
                  </a:lnTo>
                  <a:lnTo>
                    <a:pt x="67268" y="507"/>
                  </a:lnTo>
                  <a:lnTo>
                    <a:pt x="67468" y="607"/>
                  </a:lnTo>
                  <a:lnTo>
                    <a:pt x="67753" y="729"/>
                  </a:lnTo>
                  <a:lnTo>
                    <a:pt x="67903" y="814"/>
                  </a:lnTo>
                  <a:lnTo>
                    <a:pt x="68060" y="886"/>
                  </a:lnTo>
                  <a:lnTo>
                    <a:pt x="68225" y="993"/>
                  </a:lnTo>
                  <a:lnTo>
                    <a:pt x="68446" y="1114"/>
                  </a:lnTo>
                  <a:lnTo>
                    <a:pt x="68689" y="1286"/>
                  </a:lnTo>
                  <a:lnTo>
                    <a:pt x="68818" y="1364"/>
                  </a:lnTo>
                  <a:lnTo>
                    <a:pt x="68911" y="1450"/>
                  </a:lnTo>
                  <a:lnTo>
                    <a:pt x="69082" y="1572"/>
                  </a:lnTo>
                  <a:lnTo>
                    <a:pt x="69353" y="1815"/>
                  </a:lnTo>
                  <a:lnTo>
                    <a:pt x="69511" y="1936"/>
                  </a:lnTo>
                  <a:lnTo>
                    <a:pt x="69568" y="2007"/>
                  </a:lnTo>
                  <a:lnTo>
                    <a:pt x="69668" y="2093"/>
                  </a:lnTo>
                  <a:lnTo>
                    <a:pt x="69925" y="2386"/>
                  </a:lnTo>
                  <a:lnTo>
                    <a:pt x="70111" y="2579"/>
                  </a:lnTo>
                  <a:lnTo>
                    <a:pt x="70154" y="2643"/>
                  </a:lnTo>
                  <a:cubicBezTo>
                    <a:pt x="71011" y="3693"/>
                    <a:pt x="71554" y="4943"/>
                    <a:pt x="71711" y="6308"/>
                  </a:cubicBezTo>
                  <a:lnTo>
                    <a:pt x="71718" y="6394"/>
                  </a:lnTo>
                  <a:lnTo>
                    <a:pt x="71732" y="6687"/>
                  </a:lnTo>
                  <a:lnTo>
                    <a:pt x="71761" y="7144"/>
                  </a:lnTo>
                  <a:lnTo>
                    <a:pt x="71761" y="50006"/>
                  </a:lnTo>
                  <a:lnTo>
                    <a:pt x="107480" y="50006"/>
                  </a:lnTo>
                  <a:cubicBezTo>
                    <a:pt x="110028" y="50006"/>
                    <a:pt x="112383" y="51362"/>
                    <a:pt x="113662" y="53567"/>
                  </a:cubicBezTo>
                  <a:cubicBezTo>
                    <a:pt x="114940" y="55771"/>
                    <a:pt x="114947" y="58489"/>
                    <a:pt x="113680" y="60700"/>
                  </a:cubicBezTo>
                  <a:lnTo>
                    <a:pt x="113252" y="61351"/>
                  </a:lnTo>
                  <a:lnTo>
                    <a:pt x="56102" y="139932"/>
                  </a:lnTo>
                  <a:cubicBezTo>
                    <a:pt x="52044" y="145525"/>
                    <a:pt x="43186" y="142646"/>
                    <a:pt x="43186" y="135731"/>
                  </a:cubicBezTo>
                  <a:lnTo>
                    <a:pt x="43186" y="92869"/>
                  </a:lnTo>
                  <a:lnTo>
                    <a:pt x="7467" y="92869"/>
                  </a:lnTo>
                  <a:cubicBezTo>
                    <a:pt x="4919" y="92869"/>
                    <a:pt x="2564" y="91513"/>
                    <a:pt x="1285" y="89308"/>
                  </a:cubicBezTo>
                  <a:cubicBezTo>
                    <a:pt x="7" y="87104"/>
                    <a:pt x="0" y="84386"/>
                    <a:pt x="1266" y="82175"/>
                  </a:cubicBezTo>
                  <a:lnTo>
                    <a:pt x="1695" y="81524"/>
                  </a:lnTo>
                  <a:lnTo>
                    <a:pt x="58845" y="2943"/>
                  </a:lnTo>
                  <a:lnTo>
                    <a:pt x="58916" y="2850"/>
                  </a:lnTo>
                  <a:lnTo>
                    <a:pt x="59045" y="2679"/>
                  </a:lnTo>
                  <a:lnTo>
                    <a:pt x="59281" y="2407"/>
                  </a:lnTo>
                  <a:lnTo>
                    <a:pt x="59409" y="2250"/>
                  </a:lnTo>
                  <a:lnTo>
                    <a:pt x="59474" y="2193"/>
                  </a:lnTo>
                  <a:lnTo>
                    <a:pt x="59567" y="2093"/>
                  </a:lnTo>
                  <a:lnTo>
                    <a:pt x="59852" y="1836"/>
                  </a:lnTo>
                  <a:lnTo>
                    <a:pt x="60052" y="1650"/>
                  </a:lnTo>
                  <a:lnTo>
                    <a:pt x="60109" y="1607"/>
                  </a:lnTo>
                  <a:cubicBezTo>
                    <a:pt x="60947" y="922"/>
                    <a:pt x="61929" y="436"/>
                    <a:pt x="62981" y="186"/>
                  </a:cubicBezTo>
                  <a:lnTo>
                    <a:pt x="63060" y="179"/>
                  </a:lnTo>
                  <a:lnTo>
                    <a:pt x="63253" y="143"/>
                  </a:lnTo>
                  <a:lnTo>
                    <a:pt x="63781" y="50"/>
                  </a:lnTo>
                  <a:lnTo>
                    <a:pt x="63860" y="43"/>
                  </a:lnTo>
                  <a:lnTo>
                    <a:pt x="64153" y="29"/>
                  </a:lnTo>
                  <a:close/>
                </a:path>
              </a:pathLst>
            </a:custGeom>
            <a:solidFill>
              <a:srgbClr val="F4433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369742" y="2656999"/>
              <a:ext cx="570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44336"/>
                  </a:solidFill>
                  <a:latin typeface="Arial"/>
                  <a:ea typeface="SimHei"/>
                  <a:cs typeface="Arial"/>
                </a:rPr>
                <a:t>Pipeline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142095" y="2912745"/>
              <a:ext cx="10612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Webhook 触发后,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142095" y="3065145"/>
              <a:ext cx="8312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逐级 handoff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714500" y="1952625"/>
            <a:ext cx="3048000" cy="771525"/>
            <a:chOff x="1714500" y="1952625"/>
            <a:chExt cx="3048000" cy="771525"/>
          </a:xfrm>
        </p:grpSpPr>
        <p:sp>
          <p:nvSpPr>
            <p:cNvPr id="57" name="Line 57"/>
            <p:cNvSpPr/>
            <p:nvPr/>
          </p:nvSpPr>
          <p:spPr>
            <a:xfrm>
              <a:off x="3238500" y="22860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152400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4CAF50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3190875" y="2238375"/>
              <a:ext cx="95250" cy="95250"/>
            </a:xfrm>
            <a:prstGeom prst="ellipse">
              <a:avLst/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714500" y="1952625"/>
              <a:ext cx="1476375" cy="762000"/>
            </a:xfrm>
            <a:prstGeom prst="roundRect">
              <a:avLst>
                <a:gd name="adj" fmla="val 10000"/>
              </a:avLst>
            </a:prstGeom>
            <a:solidFill>
              <a:srgbClr val="1A2332"/>
            </a:solidFill>
            <a:ln w="9525">
              <a:solidFill>
                <a:srgbClr val="4CAF50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1881187" y="2116113"/>
              <a:ext cx="150425" cy="151012"/>
            </a:xfrm>
            <a:custGeom>
              <a:avLst/>
              <a:gdLst/>
              <a:ahLst/>
              <a:cxnLst/>
              <a:rect l="l" t="t" r="r" b="b"/>
              <a:pathLst>
                <a:path w="150425" h="151012">
                  <a:moveTo>
                    <a:pt x="107157" y="12773"/>
                  </a:moveTo>
                  <a:cubicBezTo>
                    <a:pt x="137181" y="30107"/>
                    <a:pt x="150425" y="66495"/>
                    <a:pt x="138567" y="99073"/>
                  </a:cubicBezTo>
                  <a:cubicBezTo>
                    <a:pt x="126710" y="131650"/>
                    <a:pt x="93174" y="151012"/>
                    <a:pt x="59032" y="144991"/>
                  </a:cubicBezTo>
                  <a:cubicBezTo>
                    <a:pt x="24891" y="138971"/>
                    <a:pt x="0" y="109306"/>
                    <a:pt x="1" y="74637"/>
                  </a:cubicBezTo>
                  <a:lnTo>
                    <a:pt x="37" y="72323"/>
                  </a:lnTo>
                  <a:cubicBezTo>
                    <a:pt x="850" y="47227"/>
                    <a:pt x="14780" y="24400"/>
                    <a:pt x="36726" y="12200"/>
                  </a:cubicBezTo>
                  <a:cubicBezTo>
                    <a:pt x="58672" y="0"/>
                    <a:pt x="85412" y="217"/>
                    <a:pt x="107157" y="12773"/>
                  </a:cubicBezTo>
                  <a:moveTo>
                    <a:pt x="62202" y="55299"/>
                  </a:moveTo>
                  <a:cubicBezTo>
                    <a:pt x="59412" y="52511"/>
                    <a:pt x="54890" y="52511"/>
                    <a:pt x="52100" y="55299"/>
                  </a:cubicBezTo>
                  <a:lnTo>
                    <a:pt x="37813" y="69587"/>
                  </a:lnTo>
                  <a:cubicBezTo>
                    <a:pt x="35024" y="72376"/>
                    <a:pt x="35024" y="76898"/>
                    <a:pt x="37813" y="79688"/>
                  </a:cubicBezTo>
                  <a:lnTo>
                    <a:pt x="52100" y="93976"/>
                  </a:lnTo>
                  <a:cubicBezTo>
                    <a:pt x="54890" y="96764"/>
                    <a:pt x="59412" y="96764"/>
                    <a:pt x="62202" y="93976"/>
                  </a:cubicBezTo>
                  <a:lnTo>
                    <a:pt x="62794" y="93304"/>
                  </a:lnTo>
                  <a:cubicBezTo>
                    <a:pt x="65000" y="90460"/>
                    <a:pt x="64746" y="86419"/>
                    <a:pt x="62202" y="83874"/>
                  </a:cubicBezTo>
                  <a:lnTo>
                    <a:pt x="52972" y="74637"/>
                  </a:lnTo>
                  <a:lnTo>
                    <a:pt x="62202" y="65401"/>
                  </a:lnTo>
                  <a:cubicBezTo>
                    <a:pt x="64990" y="62611"/>
                    <a:pt x="64990" y="58089"/>
                    <a:pt x="62202" y="55299"/>
                  </a:cubicBezTo>
                  <a:moveTo>
                    <a:pt x="90777" y="55299"/>
                  </a:moveTo>
                  <a:cubicBezTo>
                    <a:pt x="87987" y="52511"/>
                    <a:pt x="83465" y="52511"/>
                    <a:pt x="80675" y="55299"/>
                  </a:cubicBezTo>
                  <a:lnTo>
                    <a:pt x="80082" y="55971"/>
                  </a:lnTo>
                  <a:cubicBezTo>
                    <a:pt x="77876" y="58815"/>
                    <a:pt x="78130" y="62856"/>
                    <a:pt x="80675" y="65401"/>
                  </a:cubicBezTo>
                  <a:lnTo>
                    <a:pt x="89905" y="74637"/>
                  </a:lnTo>
                  <a:lnTo>
                    <a:pt x="80675" y="83874"/>
                  </a:lnTo>
                  <a:cubicBezTo>
                    <a:pt x="77968" y="86677"/>
                    <a:pt x="78007" y="91133"/>
                    <a:pt x="80762" y="93889"/>
                  </a:cubicBezTo>
                  <a:cubicBezTo>
                    <a:pt x="83518" y="96644"/>
                    <a:pt x="87973" y="96683"/>
                    <a:pt x="90777" y="93976"/>
                  </a:cubicBezTo>
                  <a:lnTo>
                    <a:pt x="105064" y="79688"/>
                  </a:lnTo>
                  <a:cubicBezTo>
                    <a:pt x="107853" y="76898"/>
                    <a:pt x="107853" y="72376"/>
                    <a:pt x="105064" y="69587"/>
                  </a:cubicBez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083118" y="213312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CAF50"/>
                  </a:solidFill>
                  <a:latin typeface="Arial"/>
                  <a:ea typeface="SimHei"/>
                  <a:cs typeface="Arial"/>
                </a:rPr>
                <a:t>领域知识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855470" y="2388870"/>
              <a:ext cx="9889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补 agent 的中国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855470" y="2541270"/>
              <a:ext cx="1080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区 partition 盲区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71500" y="5286375"/>
            <a:ext cx="11049000" cy="1100137"/>
            <a:chOff x="571500" y="5286375"/>
            <a:chExt cx="11049000" cy="1100137"/>
          </a:xfrm>
        </p:grpSpPr>
        <p:sp>
          <p:nvSpPr>
            <p:cNvPr id="65" name="Rectangle 65"/>
            <p:cNvSpPr/>
            <p:nvPr/>
          </p:nvSpPr>
          <p:spPr>
            <a:xfrm>
              <a:off x="571500" y="5286375"/>
              <a:ext cx="11049000" cy="952500"/>
            </a:xfrm>
            <a:prstGeom prst="roundRect">
              <a:avLst>
                <a:gd name="adj" fmla="val 10000"/>
              </a:avLst>
            </a:prstGeom>
            <a:solidFill>
              <a:srgbClr val="1A2332"/>
            </a:solidFill>
            <a:ln w="9525">
              <a:solidFill>
                <a:srgbClr val="2D374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46760" y="5471160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分层为什么有用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48665" y="5754052"/>
              <a:ext cx="49799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 xml:space="preserve">1. </a:t>
              </a:r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复用</a:t>
              </a:r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 xml:space="preserve"> — Foundation 层一份知识，6 个上层 skill 隐式继承；不重复维护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48665" y="5963602"/>
              <a:ext cx="64981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 xml:space="preserve">2. </a:t>
              </a:r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按需激活</a:t>
              </a:r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 xml:space="preserve"> — Pipeline 4 个 skill 用 Agent Type 锁死，避免 Generic agent 加载浪费 context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48665" y="6173152"/>
              <a:ext cx="58003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 xml:space="preserve">3. </a:t>
              </a:r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演进路径清晰</a:t>
              </a:r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 xml:space="preserve"> — 加新领域知识 = 加 partition skill；加新 case = 加 pipeline skill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61022" y="6521291"/>
            <a:ext cx="11069956" cy="167640"/>
            <a:chOff x="561022" y="6521291"/>
            <a:chExt cx="11069956" cy="167640"/>
          </a:xfrm>
        </p:grpSpPr>
        <p:sp>
          <p:nvSpPr>
            <p:cNvPr id="71" name="TextBox 71"/>
            <p:cNvSpPr txBox="1"/>
            <p:nvPr/>
          </p:nvSpPr>
          <p:spPr>
            <a:xfrm>
              <a:off x="561022" y="6521291"/>
              <a:ext cx="28223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来源：blog/03-skills-in-action.md §3 三层架构图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206377" y="6521291"/>
              <a:ext cx="4246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08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9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8" grpId="0"/>
      <p:bldP spid="23" grpId="0"/>
      <p:bldP spid="40" grpId="0"/>
      <p:bldP spid="48" grpId="0"/>
      <p:bldP spid="56" grpId="0"/>
      <p:bldP spid="64" grpId="0"/>
      <p:bldP spid="7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7210" y="476250"/>
            <a:ext cx="7252378" cy="1162050"/>
            <a:chOff x="537210" y="476250"/>
            <a:chExt cx="7252378" cy="116205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职责分层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72523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Webhook · MCP · Skill — 三层</a:t>
              </a:r>
              <a:r>
                <a:rPr lang="zh-CN" sz="27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缺一不可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394460"/>
              <a:ext cx="49114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客户咨询时常把这三件事混淆 — 这页给一个清晰的 SA 答疑模板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905000"/>
            <a:ext cx="3581400" cy="4095750"/>
            <a:chOff x="571500" y="1905000"/>
            <a:chExt cx="3581400" cy="4095750"/>
          </a:xfrm>
        </p:grpSpPr>
        <p:sp>
          <p:nvSpPr>
            <p:cNvPr id="8" name="Rectangle 8"/>
            <p:cNvSpPr/>
            <p:nvPr/>
          </p:nvSpPr>
          <p:spPr>
            <a:xfrm>
              <a:off x="571500" y="1905000"/>
              <a:ext cx="3581400" cy="4095750"/>
            </a:xfrm>
            <a:prstGeom prst="roundRect">
              <a:avLst>
                <a:gd name="adj" fmla="val 3723"/>
              </a:avLst>
            </a:prstGeom>
            <a:solidFill>
              <a:srgbClr val="1A2332"/>
            </a:solidFill>
            <a:ln w="14288">
              <a:solidFill>
                <a:srgbClr val="42A5F5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905000"/>
              <a:ext cx="3581400" cy="476250"/>
            </a:xfrm>
            <a:prstGeom prst="roundRect">
              <a:avLst>
                <a:gd name="adj" fmla="val 28000"/>
              </a:avLst>
            </a:prstGeom>
            <a:solidFill>
              <a:srgbClr val="1565C0">
                <a:alpha val="22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2286000"/>
              <a:ext cx="3581400" cy="95250"/>
            </a:xfrm>
            <a:prstGeom prst="rect">
              <a:avLst/>
            </a:prstGeom>
            <a:solidFill>
              <a:srgbClr val="1A233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802808" y="2039938"/>
              <a:ext cx="166034" cy="210203"/>
            </a:xfrm>
            <a:custGeom>
              <a:avLst/>
              <a:gdLst/>
              <a:ahLst/>
              <a:cxnLst/>
              <a:rect l="l" t="t" r="r" b="b"/>
              <a:pathLst>
                <a:path w="166034" h="210203">
                  <a:moveTo>
                    <a:pt x="93336" y="0"/>
                  </a:moveTo>
                  <a:lnTo>
                    <a:pt x="93522" y="10"/>
                  </a:lnTo>
                  <a:lnTo>
                    <a:pt x="93687" y="21"/>
                  </a:lnTo>
                  <a:lnTo>
                    <a:pt x="94543" y="72"/>
                  </a:lnTo>
                  <a:lnTo>
                    <a:pt x="94657" y="93"/>
                  </a:lnTo>
                  <a:lnTo>
                    <a:pt x="94770" y="93"/>
                  </a:lnTo>
                  <a:lnTo>
                    <a:pt x="95162" y="186"/>
                  </a:lnTo>
                  <a:lnTo>
                    <a:pt x="95699" y="268"/>
                  </a:lnTo>
                  <a:lnTo>
                    <a:pt x="95864" y="330"/>
                  </a:lnTo>
                  <a:lnTo>
                    <a:pt x="95978" y="341"/>
                  </a:lnTo>
                  <a:lnTo>
                    <a:pt x="96277" y="454"/>
                  </a:lnTo>
                  <a:lnTo>
                    <a:pt x="96813" y="598"/>
                  </a:lnTo>
                  <a:lnTo>
                    <a:pt x="97009" y="691"/>
                  </a:lnTo>
                  <a:lnTo>
                    <a:pt x="97164" y="733"/>
                  </a:lnTo>
                  <a:lnTo>
                    <a:pt x="97453" y="877"/>
                  </a:lnTo>
                  <a:lnTo>
                    <a:pt x="97866" y="1053"/>
                  </a:lnTo>
                  <a:lnTo>
                    <a:pt x="98083" y="1176"/>
                  </a:lnTo>
                  <a:lnTo>
                    <a:pt x="98310" y="1280"/>
                  </a:lnTo>
                  <a:lnTo>
                    <a:pt x="98547" y="1434"/>
                  </a:lnTo>
                  <a:lnTo>
                    <a:pt x="98867" y="1610"/>
                  </a:lnTo>
                  <a:lnTo>
                    <a:pt x="99218" y="1857"/>
                  </a:lnTo>
                  <a:lnTo>
                    <a:pt x="99403" y="1971"/>
                  </a:lnTo>
                  <a:lnTo>
                    <a:pt x="99538" y="2095"/>
                  </a:lnTo>
                  <a:lnTo>
                    <a:pt x="99785" y="2270"/>
                  </a:lnTo>
                  <a:lnTo>
                    <a:pt x="100177" y="2621"/>
                  </a:lnTo>
                  <a:lnTo>
                    <a:pt x="100404" y="2796"/>
                  </a:lnTo>
                  <a:lnTo>
                    <a:pt x="100487" y="2900"/>
                  </a:lnTo>
                  <a:lnTo>
                    <a:pt x="100631" y="3023"/>
                  </a:lnTo>
                  <a:lnTo>
                    <a:pt x="101003" y="3446"/>
                  </a:lnTo>
                  <a:lnTo>
                    <a:pt x="101271" y="3725"/>
                  </a:lnTo>
                  <a:lnTo>
                    <a:pt x="101333" y="3818"/>
                  </a:lnTo>
                  <a:cubicBezTo>
                    <a:pt x="102571" y="5335"/>
                    <a:pt x="103355" y="7141"/>
                    <a:pt x="103582" y="9111"/>
                  </a:cubicBezTo>
                  <a:lnTo>
                    <a:pt x="103593" y="9235"/>
                  </a:lnTo>
                  <a:lnTo>
                    <a:pt x="103613" y="9658"/>
                  </a:lnTo>
                  <a:lnTo>
                    <a:pt x="103655" y="10319"/>
                  </a:lnTo>
                  <a:lnTo>
                    <a:pt x="103655" y="72231"/>
                  </a:lnTo>
                  <a:lnTo>
                    <a:pt x="155248" y="72231"/>
                  </a:lnTo>
                  <a:cubicBezTo>
                    <a:pt x="158929" y="72230"/>
                    <a:pt x="162332" y="74190"/>
                    <a:pt x="164178" y="77374"/>
                  </a:cubicBezTo>
                  <a:cubicBezTo>
                    <a:pt x="166024" y="80558"/>
                    <a:pt x="166034" y="84485"/>
                    <a:pt x="164205" y="87678"/>
                  </a:cubicBezTo>
                  <a:lnTo>
                    <a:pt x="163586" y="88617"/>
                  </a:lnTo>
                  <a:lnTo>
                    <a:pt x="81036" y="202124"/>
                  </a:lnTo>
                  <a:cubicBezTo>
                    <a:pt x="75175" y="210203"/>
                    <a:pt x="62380" y="206045"/>
                    <a:pt x="62380" y="196056"/>
                  </a:cubicBezTo>
                  <a:lnTo>
                    <a:pt x="62380" y="134144"/>
                  </a:lnTo>
                  <a:lnTo>
                    <a:pt x="10786" y="134144"/>
                  </a:lnTo>
                  <a:cubicBezTo>
                    <a:pt x="7105" y="134145"/>
                    <a:pt x="3703" y="132185"/>
                    <a:pt x="1857" y="129001"/>
                  </a:cubicBezTo>
                  <a:cubicBezTo>
                    <a:pt x="10" y="125817"/>
                    <a:pt x="0" y="121890"/>
                    <a:pt x="1829" y="118697"/>
                  </a:cubicBezTo>
                  <a:lnTo>
                    <a:pt x="2448" y="117758"/>
                  </a:lnTo>
                  <a:lnTo>
                    <a:pt x="84998" y="4251"/>
                  </a:lnTo>
                  <a:lnTo>
                    <a:pt x="85102" y="4117"/>
                  </a:lnTo>
                  <a:lnTo>
                    <a:pt x="85287" y="3870"/>
                  </a:lnTo>
                  <a:lnTo>
                    <a:pt x="85628" y="3477"/>
                  </a:lnTo>
                  <a:lnTo>
                    <a:pt x="85814" y="3250"/>
                  </a:lnTo>
                  <a:lnTo>
                    <a:pt x="85906" y="3168"/>
                  </a:lnTo>
                  <a:lnTo>
                    <a:pt x="86041" y="3023"/>
                  </a:lnTo>
                  <a:lnTo>
                    <a:pt x="86453" y="2652"/>
                  </a:lnTo>
                  <a:lnTo>
                    <a:pt x="86742" y="2384"/>
                  </a:lnTo>
                  <a:lnTo>
                    <a:pt x="86825" y="2322"/>
                  </a:lnTo>
                  <a:cubicBezTo>
                    <a:pt x="88034" y="1332"/>
                    <a:pt x="89453" y="630"/>
                    <a:pt x="90973" y="268"/>
                  </a:cubicBezTo>
                  <a:lnTo>
                    <a:pt x="91086" y="258"/>
                  </a:lnTo>
                  <a:lnTo>
                    <a:pt x="91365" y="206"/>
                  </a:lnTo>
                  <a:lnTo>
                    <a:pt x="92129" y="72"/>
                  </a:lnTo>
                  <a:lnTo>
                    <a:pt x="92242" y="62"/>
                  </a:lnTo>
                  <a:lnTo>
                    <a:pt x="92665" y="41"/>
                  </a:lnTo>
                  <a:close/>
                </a:path>
              </a:pathLst>
            </a:custGeom>
            <a:solidFill>
              <a:srgbClr val="42A5F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85850" y="2047875"/>
              <a:ext cx="169430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Webhook · 入口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8665" y="26489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SimHei"/>
                  <a:cs typeface="Arial"/>
                </a:rPr>
                <a:t>职责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6760" y="2880360"/>
              <a:ext cx="19933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把外部告警变成 incident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6760" y="3089910"/>
              <a:ext cx="19408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— Agent 自主调查的起点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762000" y="352425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8665" y="369665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SimHei"/>
                  <a:cs typeface="Arial"/>
                </a:rPr>
                <a:t>实现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8665" y="3944302"/>
              <a:ext cx="15065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SNS → bridge Lambda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665" y="4153852"/>
              <a:ext cx="14221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→ HMAC 签名 → POST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0570" y="4455795"/>
              <a:ext cx="18236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2A5F5"/>
                  </a:solidFill>
                  <a:latin typeface="Consolas"/>
                  <a:ea typeface="Microsoft YaHei"/>
                  <a:cs typeface="Consolas"/>
                </a:rPr>
                <a:t>/devops-agent/webhook-url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62000" y="485775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8665" y="503015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SimHei"/>
                  <a:cs typeface="Arial"/>
                </a:rPr>
                <a:t>缺它会怎样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8665" y="5296852"/>
              <a:ext cx="16982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Agent 看不到外部告警 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8665" y="5487352"/>
              <a:ext cx="14221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"自主调查"无从触发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9618" y="576214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客户须自己拉过来才有事干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305300" y="1905000"/>
            <a:ext cx="3581400" cy="4095750"/>
            <a:chOff x="4305300" y="1905000"/>
            <a:chExt cx="3581400" cy="4095750"/>
          </a:xfrm>
        </p:grpSpPr>
        <p:sp>
          <p:nvSpPr>
            <p:cNvPr id="27" name="Rectangle 27"/>
            <p:cNvSpPr/>
            <p:nvPr/>
          </p:nvSpPr>
          <p:spPr>
            <a:xfrm>
              <a:off x="4305300" y="1905000"/>
              <a:ext cx="3581400" cy="4095750"/>
            </a:xfrm>
            <a:prstGeom prst="roundRect">
              <a:avLst>
                <a:gd name="adj" fmla="val 3723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305300" y="1905000"/>
              <a:ext cx="3581400" cy="476250"/>
            </a:xfrm>
            <a:prstGeom prst="roundRect">
              <a:avLst>
                <a:gd name="adj" fmla="val 28000"/>
              </a:avLst>
            </a:prstGeom>
            <a:solidFill>
              <a:srgbClr val="FF9800">
                <a:alpha val="18000"/>
              </a:srgbClr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305300" y="2286000"/>
              <a:ext cx="3581400" cy="95250"/>
            </a:xfrm>
            <a:prstGeom prst="rect">
              <a:avLst/>
            </a:prstGeom>
            <a:solidFill>
              <a:srgbClr val="1A2332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4526756" y="2081212"/>
              <a:ext cx="185738" cy="144462"/>
            </a:xfrm>
            <a:custGeom>
              <a:avLst/>
              <a:gdLst/>
              <a:ahLst/>
              <a:cxnLst/>
              <a:rect l="l" t="t" r="r" b="b"/>
              <a:pathLst>
                <a:path w="185738" h="144462">
                  <a:moveTo>
                    <a:pt x="154781" y="0"/>
                  </a:moveTo>
                  <a:cubicBezTo>
                    <a:pt x="171878" y="0"/>
                    <a:pt x="185738" y="13860"/>
                    <a:pt x="185738" y="30956"/>
                  </a:cubicBezTo>
                  <a:lnTo>
                    <a:pt x="185738" y="123825"/>
                  </a:lnTo>
                  <a:cubicBezTo>
                    <a:pt x="185738" y="135223"/>
                    <a:pt x="176498" y="144462"/>
                    <a:pt x="165100" y="144462"/>
                  </a:cubicBezTo>
                  <a:lnTo>
                    <a:pt x="144463" y="144462"/>
                  </a:lnTo>
                  <a:cubicBezTo>
                    <a:pt x="133065" y="144462"/>
                    <a:pt x="123825" y="135223"/>
                    <a:pt x="123825" y="123825"/>
                  </a:cubicBezTo>
                  <a:lnTo>
                    <a:pt x="123825" y="103188"/>
                  </a:lnTo>
                  <a:cubicBezTo>
                    <a:pt x="123825" y="86091"/>
                    <a:pt x="109965" y="72231"/>
                    <a:pt x="92869" y="72231"/>
                  </a:cubicBezTo>
                  <a:cubicBezTo>
                    <a:pt x="75772" y="72231"/>
                    <a:pt x="61912" y="86091"/>
                    <a:pt x="61912" y="103188"/>
                  </a:cubicBezTo>
                  <a:lnTo>
                    <a:pt x="61912" y="123825"/>
                  </a:lnTo>
                  <a:cubicBezTo>
                    <a:pt x="61912" y="135223"/>
                    <a:pt x="52673" y="144462"/>
                    <a:pt x="41275" y="144462"/>
                  </a:cubicBezTo>
                  <a:lnTo>
                    <a:pt x="20638" y="144462"/>
                  </a:lnTo>
                  <a:cubicBezTo>
                    <a:pt x="9240" y="144462"/>
                    <a:pt x="0" y="135223"/>
                    <a:pt x="0" y="123825"/>
                  </a:cubicBezTo>
                  <a:lnTo>
                    <a:pt x="0" y="30956"/>
                  </a:lnTo>
                  <a:cubicBezTo>
                    <a:pt x="0" y="13860"/>
                    <a:pt x="13860" y="0"/>
                    <a:pt x="30956" y="0"/>
                  </a:cubicBez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819650" y="20478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MCP · 能力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82465" y="26489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SimHei"/>
                  <a:cs typeface="Arial"/>
                </a:rPr>
                <a:t>职责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80560" y="2880360"/>
              <a:ext cx="201968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提供 Agent 调用外部资源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80560" y="3089910"/>
              <a:ext cx="19758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的工具（tool surface）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4495800" y="352425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482465" y="369665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SimHei"/>
                  <a:cs typeface="Arial"/>
                </a:rPr>
                <a:t>实现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82465" y="3944302"/>
              <a:ext cx="16292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MCP server pod (EKS)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82465" y="4153852"/>
              <a:ext cx="19895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+ VPC Lattice Private Conn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84370" y="4455795"/>
              <a:ext cx="20208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aws-api-mcp-server / 任意自建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4495800" y="485775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482465" y="503015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SimHei"/>
                  <a:cs typeface="Arial"/>
                </a:rPr>
                <a:t>缺它会怎样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482465" y="5296852"/>
              <a:ext cx="21122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Agent 没有 tool 可调外部资源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82465" y="5487352"/>
              <a:ext cx="20279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— 只能看 native association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83418" y="5762149"/>
              <a:ext cx="21892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客户私网 / 跨 partition 全靠这层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039100" y="1905000"/>
            <a:ext cx="3581400" cy="4095750"/>
            <a:chOff x="8039100" y="1905000"/>
            <a:chExt cx="3581400" cy="4095750"/>
          </a:xfrm>
        </p:grpSpPr>
        <p:sp>
          <p:nvSpPr>
            <p:cNvPr id="46" name="Rectangle 46"/>
            <p:cNvSpPr/>
            <p:nvPr/>
          </p:nvSpPr>
          <p:spPr>
            <a:xfrm>
              <a:off x="8039100" y="1905000"/>
              <a:ext cx="3581400" cy="4095750"/>
            </a:xfrm>
            <a:prstGeom prst="roundRect">
              <a:avLst>
                <a:gd name="adj" fmla="val 3723"/>
              </a:avLst>
            </a:prstGeom>
            <a:solidFill>
              <a:srgbClr val="1A2332"/>
            </a:solidFill>
            <a:ln w="14288">
              <a:solidFill>
                <a:srgbClr val="4CAF50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039100" y="1905000"/>
              <a:ext cx="3581400" cy="476250"/>
            </a:xfrm>
            <a:prstGeom prst="roundRect">
              <a:avLst>
                <a:gd name="adj" fmla="val 28000"/>
              </a:avLst>
            </a:prstGeom>
            <a:solidFill>
              <a:srgbClr val="4CAF50">
                <a:alpha val="18000"/>
              </a:srgbClr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039100" y="2286000"/>
              <a:ext cx="3581400" cy="95250"/>
            </a:xfrm>
            <a:prstGeom prst="rect">
              <a:avLst/>
            </a:prstGeom>
            <a:solidFill>
              <a:srgbClr val="1A2332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8250236" y="2035315"/>
              <a:ext cx="217281" cy="218128"/>
            </a:xfrm>
            <a:custGeom>
              <a:avLst/>
              <a:gdLst/>
              <a:ahLst/>
              <a:cxnLst/>
              <a:rect l="l" t="t" r="r" b="b"/>
              <a:pathLst>
                <a:path w="217281" h="218128">
                  <a:moveTo>
                    <a:pt x="154783" y="18449"/>
                  </a:moveTo>
                  <a:cubicBezTo>
                    <a:pt x="198150" y="43488"/>
                    <a:pt x="217281" y="96049"/>
                    <a:pt x="200153" y="143105"/>
                  </a:cubicBezTo>
                  <a:cubicBezTo>
                    <a:pt x="183025" y="190162"/>
                    <a:pt x="134584" y="218128"/>
                    <a:pt x="85269" y="209432"/>
                  </a:cubicBezTo>
                  <a:cubicBezTo>
                    <a:pt x="35953" y="200735"/>
                    <a:pt x="0" y="157886"/>
                    <a:pt x="1" y="107810"/>
                  </a:cubicBezTo>
                  <a:lnTo>
                    <a:pt x="53" y="104466"/>
                  </a:lnTo>
                  <a:cubicBezTo>
                    <a:pt x="1228" y="68216"/>
                    <a:pt x="21349" y="35245"/>
                    <a:pt x="53049" y="17623"/>
                  </a:cubicBezTo>
                  <a:cubicBezTo>
                    <a:pt x="84749" y="0"/>
                    <a:pt x="123373" y="314"/>
                    <a:pt x="154783" y="18449"/>
                  </a:cubicBezTo>
                  <a:moveTo>
                    <a:pt x="89847" y="79877"/>
                  </a:moveTo>
                  <a:cubicBezTo>
                    <a:pt x="85817" y="75849"/>
                    <a:pt x="79285" y="75849"/>
                    <a:pt x="75256" y="79877"/>
                  </a:cubicBezTo>
                  <a:lnTo>
                    <a:pt x="54618" y="100514"/>
                  </a:lnTo>
                  <a:cubicBezTo>
                    <a:pt x="50590" y="104544"/>
                    <a:pt x="50590" y="111076"/>
                    <a:pt x="54618" y="115105"/>
                  </a:cubicBezTo>
                  <a:lnTo>
                    <a:pt x="75256" y="135743"/>
                  </a:lnTo>
                  <a:cubicBezTo>
                    <a:pt x="79285" y="139771"/>
                    <a:pt x="85817" y="139771"/>
                    <a:pt x="89847" y="135743"/>
                  </a:cubicBezTo>
                  <a:lnTo>
                    <a:pt x="90703" y="134773"/>
                  </a:lnTo>
                  <a:cubicBezTo>
                    <a:pt x="93890" y="130665"/>
                    <a:pt x="93523" y="124828"/>
                    <a:pt x="89847" y="121152"/>
                  </a:cubicBezTo>
                  <a:lnTo>
                    <a:pt x="76515" y="107810"/>
                  </a:lnTo>
                  <a:lnTo>
                    <a:pt x="89847" y="94468"/>
                  </a:lnTo>
                  <a:cubicBezTo>
                    <a:pt x="93875" y="90438"/>
                    <a:pt x="93875" y="83906"/>
                    <a:pt x="89847" y="79877"/>
                  </a:cubicBezTo>
                  <a:moveTo>
                    <a:pt x="131122" y="79877"/>
                  </a:moveTo>
                  <a:cubicBezTo>
                    <a:pt x="127092" y="75849"/>
                    <a:pt x="120560" y="75849"/>
                    <a:pt x="116531" y="79877"/>
                  </a:cubicBezTo>
                  <a:lnTo>
                    <a:pt x="115674" y="80847"/>
                  </a:lnTo>
                  <a:cubicBezTo>
                    <a:pt x="112488" y="84955"/>
                    <a:pt x="112855" y="90791"/>
                    <a:pt x="116531" y="94468"/>
                  </a:cubicBezTo>
                  <a:lnTo>
                    <a:pt x="129863" y="107810"/>
                  </a:lnTo>
                  <a:lnTo>
                    <a:pt x="116531" y="121152"/>
                  </a:lnTo>
                  <a:cubicBezTo>
                    <a:pt x="112620" y="125201"/>
                    <a:pt x="112676" y="131637"/>
                    <a:pt x="116657" y="135617"/>
                  </a:cubicBezTo>
                  <a:cubicBezTo>
                    <a:pt x="120637" y="139597"/>
                    <a:pt x="127073" y="139653"/>
                    <a:pt x="131122" y="135743"/>
                  </a:cubicBezTo>
                  <a:lnTo>
                    <a:pt x="151759" y="115105"/>
                  </a:lnTo>
                  <a:cubicBezTo>
                    <a:pt x="155787" y="111076"/>
                    <a:pt x="155787" y="104544"/>
                    <a:pt x="151759" y="100514"/>
                  </a:cubicBez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553450" y="2047875"/>
              <a:ext cx="122274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4CAF50"/>
                  </a:solidFill>
                  <a:latin typeface="Arial"/>
                  <a:ea typeface="SimHei"/>
                  <a:cs typeface="Arial"/>
                </a:rPr>
                <a:t>Skill · 策略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16265" y="26489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SimHei"/>
                  <a:cs typeface="Arial"/>
                </a:rPr>
                <a:t>职责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14360" y="2880360"/>
              <a:ext cx="21949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告诉 Agent 什么场景调什么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14360" y="3089910"/>
              <a:ext cx="2133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+ 怎么组织输出 + 加锁审核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8229600" y="352425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216265" y="369665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SimHei"/>
                  <a:cs typeface="Arial"/>
                </a:rPr>
                <a:t>实现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16265" y="3944302"/>
              <a:ext cx="19895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SKILL.md (markdown only)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216265" y="4153852"/>
              <a:ext cx="17902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picker 按 description 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18170" y="4455795"/>
              <a:ext cx="1534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CAF50"/>
                  </a:solidFill>
                  <a:latin typeface="Consolas"/>
                  <a:ea typeface="Microsoft YaHei"/>
                  <a:cs typeface="Consolas"/>
                </a:rPr>
                <a:t>agentskills.io spec 子集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8229600" y="485775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216265" y="503015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SimHei"/>
                  <a:cs typeface="Arial"/>
                </a:rPr>
                <a:t>缺它会怎样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16265" y="5296852"/>
              <a:ext cx="18745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Agent 知道工具但不知何时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216265" y="5487352"/>
              <a:ext cx="25723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用 — 输出格式发散，approval 不约束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217218" y="5762149"/>
              <a:ext cx="16338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实测调查质量 30% → 60%+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71500" y="6191250"/>
            <a:ext cx="11049000" cy="381000"/>
            <a:chOff x="571500" y="6191250"/>
            <a:chExt cx="11049000" cy="381000"/>
          </a:xfrm>
        </p:grpSpPr>
        <p:sp>
          <p:nvSpPr>
            <p:cNvPr id="65" name="Rectangle 65"/>
            <p:cNvSpPr/>
            <p:nvPr/>
          </p:nvSpPr>
          <p:spPr>
            <a:xfrm>
              <a:off x="571500" y="6191250"/>
              <a:ext cx="11049000" cy="381000"/>
            </a:xfrm>
            <a:prstGeom prst="roundRect">
              <a:avLst>
                <a:gd name="adj" fmla="val 15000"/>
              </a:avLst>
            </a:prstGeom>
            <a:solidFill>
              <a:srgbClr val="0F1419"/>
            </a:solidFill>
            <a:ln w="9525">
              <a:solidFill>
                <a:srgbClr val="FF9800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2652936" y="6325552"/>
              <a:ext cx="68861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Webhook 把告警拉过来 · MCP 把外部资源接上来 · Skill 让 Agent 知道怎么用 — 三件事各管各的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11206377" y="6673691"/>
            <a:ext cx="4246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09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5" grpId="0"/>
      <p:bldP spid="64" grpId="0"/>
      <p:bldP spid="6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41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F9800">
                    <a:alpha val="18000"/>
                  </a:srgbClr>
                </a:gs>
                <a:gs pos="100000">
                  <a:srgbClr val="FF98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209550" y="-409575"/>
            <a:ext cx="11049000" cy="6148388"/>
            <a:chOff x="209550" y="-409575"/>
            <a:chExt cx="11049000" cy="6148388"/>
          </a:xfrm>
        </p:grpSpPr>
        <p:sp>
          <p:nvSpPr>
            <p:cNvPr id="6" name="TextBox 6"/>
            <p:cNvSpPr txBox="1"/>
            <p:nvPr/>
          </p:nvSpPr>
          <p:spPr>
            <a:xfrm>
              <a:off x="209550" y="-409575"/>
              <a:ext cx="4438864" cy="5791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0" b="1" dirty="0">
                  <a:solidFill>
                    <a:srgbClr val="1565C0">
                      <a:alpha val="10000"/>
                    </a:srgbClr>
                  </a:solidFill>
                  <a:latin typeface="Arial"/>
                  <a:ea typeface="SimHei"/>
                  <a:cs typeface="Arial"/>
                </a:rPr>
                <a:t>C1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5143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rgbClr val="FF9800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0829925" y="1495425"/>
              <a:ext cx="57150" cy="57150"/>
            </a:xfrm>
            <a:prstGeom prst="ellipse">
              <a:avLst/>
            </a:prstGeom>
            <a:solidFill>
              <a:srgbClr val="42A5F5">
                <a:alpha val="6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220450" y="2076450"/>
              <a:ext cx="38100" cy="38100"/>
            </a:xfrm>
            <a:prstGeom prst="ellipse">
              <a:avLst/>
            </a:prstGeom>
            <a:solidFill>
              <a:srgbClr val="42A5F5">
                <a:alpha val="5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0453688" y="5691188"/>
              <a:ext cx="47625" cy="47625"/>
            </a:xfrm>
            <a:prstGeom prst="ellipse">
              <a:avLst/>
            </a:prstGeom>
            <a:solidFill>
              <a:srgbClr val="FF9800">
                <a:alpha val="50000"/>
              </a:srgb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21725" y="1501775"/>
            <a:ext cx="4376119" cy="307975"/>
            <a:chOff x="621725" y="1501775"/>
            <a:chExt cx="4376119" cy="307975"/>
          </a:xfrm>
        </p:grpSpPr>
        <p:sp>
          <p:nvSpPr>
            <p:cNvPr id="12" name="Freeform 12"/>
            <p:cNvSpPr/>
            <p:nvPr/>
          </p:nvSpPr>
          <p:spPr>
            <a:xfrm>
              <a:off x="621725" y="1501775"/>
              <a:ext cx="204350" cy="258712"/>
            </a:xfrm>
            <a:custGeom>
              <a:avLst/>
              <a:gdLst/>
              <a:ahLst/>
              <a:cxnLst/>
              <a:rect l="l" t="t" r="r" b="b"/>
              <a:pathLst>
                <a:path w="204350" h="258712">
                  <a:moveTo>
                    <a:pt x="114875" y="0"/>
                  </a:moveTo>
                  <a:lnTo>
                    <a:pt x="115104" y="13"/>
                  </a:lnTo>
                  <a:lnTo>
                    <a:pt x="115307" y="25"/>
                  </a:lnTo>
                  <a:lnTo>
                    <a:pt x="116361" y="89"/>
                  </a:lnTo>
                  <a:lnTo>
                    <a:pt x="116501" y="114"/>
                  </a:lnTo>
                  <a:lnTo>
                    <a:pt x="116640" y="114"/>
                  </a:lnTo>
                  <a:lnTo>
                    <a:pt x="117123" y="229"/>
                  </a:lnTo>
                  <a:lnTo>
                    <a:pt x="117783" y="330"/>
                  </a:lnTo>
                  <a:lnTo>
                    <a:pt x="117987" y="406"/>
                  </a:lnTo>
                  <a:lnTo>
                    <a:pt x="118126" y="419"/>
                  </a:lnTo>
                  <a:lnTo>
                    <a:pt x="118495" y="559"/>
                  </a:lnTo>
                  <a:lnTo>
                    <a:pt x="119155" y="737"/>
                  </a:lnTo>
                  <a:lnTo>
                    <a:pt x="119396" y="851"/>
                  </a:lnTo>
                  <a:lnTo>
                    <a:pt x="119587" y="902"/>
                  </a:lnTo>
                  <a:lnTo>
                    <a:pt x="119942" y="1080"/>
                  </a:lnTo>
                  <a:lnTo>
                    <a:pt x="120450" y="1295"/>
                  </a:lnTo>
                  <a:lnTo>
                    <a:pt x="120717" y="1448"/>
                  </a:lnTo>
                  <a:lnTo>
                    <a:pt x="120996" y="1575"/>
                  </a:lnTo>
                  <a:lnTo>
                    <a:pt x="121289" y="1765"/>
                  </a:lnTo>
                  <a:lnTo>
                    <a:pt x="121682" y="1981"/>
                  </a:lnTo>
                  <a:lnTo>
                    <a:pt x="122114" y="2286"/>
                  </a:lnTo>
                  <a:lnTo>
                    <a:pt x="122343" y="2426"/>
                  </a:lnTo>
                  <a:lnTo>
                    <a:pt x="122508" y="2578"/>
                  </a:lnTo>
                  <a:lnTo>
                    <a:pt x="122813" y="2794"/>
                  </a:lnTo>
                  <a:lnTo>
                    <a:pt x="123295" y="3226"/>
                  </a:lnTo>
                  <a:lnTo>
                    <a:pt x="123575" y="3442"/>
                  </a:lnTo>
                  <a:lnTo>
                    <a:pt x="123676" y="3569"/>
                  </a:lnTo>
                  <a:lnTo>
                    <a:pt x="123854" y="3721"/>
                  </a:lnTo>
                  <a:lnTo>
                    <a:pt x="124311" y="4242"/>
                  </a:lnTo>
                  <a:lnTo>
                    <a:pt x="124641" y="4585"/>
                  </a:lnTo>
                  <a:lnTo>
                    <a:pt x="124718" y="4699"/>
                  </a:lnTo>
                  <a:cubicBezTo>
                    <a:pt x="126242" y="6566"/>
                    <a:pt x="127207" y="8788"/>
                    <a:pt x="127486" y="11214"/>
                  </a:cubicBezTo>
                  <a:lnTo>
                    <a:pt x="127499" y="11366"/>
                  </a:lnTo>
                  <a:lnTo>
                    <a:pt x="127524" y="11887"/>
                  </a:lnTo>
                  <a:lnTo>
                    <a:pt x="127575" y="12700"/>
                  </a:lnTo>
                  <a:lnTo>
                    <a:pt x="127575" y="88900"/>
                  </a:lnTo>
                  <a:lnTo>
                    <a:pt x="191075" y="88900"/>
                  </a:lnTo>
                  <a:cubicBezTo>
                    <a:pt x="195605" y="88899"/>
                    <a:pt x="199793" y="91311"/>
                    <a:pt x="202065" y="95230"/>
                  </a:cubicBezTo>
                  <a:cubicBezTo>
                    <a:pt x="204337" y="99148"/>
                    <a:pt x="204350" y="103981"/>
                    <a:pt x="202099" y="107912"/>
                  </a:cubicBezTo>
                  <a:lnTo>
                    <a:pt x="201337" y="109068"/>
                  </a:lnTo>
                  <a:lnTo>
                    <a:pt x="99737" y="248768"/>
                  </a:lnTo>
                  <a:cubicBezTo>
                    <a:pt x="92523" y="258712"/>
                    <a:pt x="76775" y="253594"/>
                    <a:pt x="76775" y="241300"/>
                  </a:cubicBezTo>
                  <a:lnTo>
                    <a:pt x="76775" y="165100"/>
                  </a:lnTo>
                  <a:lnTo>
                    <a:pt x="13275" y="165100"/>
                  </a:lnTo>
                  <a:cubicBezTo>
                    <a:pt x="8745" y="165101"/>
                    <a:pt x="4557" y="162689"/>
                    <a:pt x="2285" y="158770"/>
                  </a:cubicBezTo>
                  <a:cubicBezTo>
                    <a:pt x="13" y="154852"/>
                    <a:pt x="0" y="150019"/>
                    <a:pt x="2251" y="146088"/>
                  </a:cubicBezTo>
                  <a:lnTo>
                    <a:pt x="3013" y="144932"/>
                  </a:lnTo>
                  <a:lnTo>
                    <a:pt x="104613" y="5232"/>
                  </a:lnTo>
                  <a:lnTo>
                    <a:pt x="104740" y="5067"/>
                  </a:lnTo>
                  <a:lnTo>
                    <a:pt x="104969" y="4762"/>
                  </a:lnTo>
                  <a:lnTo>
                    <a:pt x="105388" y="4280"/>
                  </a:lnTo>
                  <a:lnTo>
                    <a:pt x="105617" y="4001"/>
                  </a:lnTo>
                  <a:lnTo>
                    <a:pt x="105731" y="3899"/>
                  </a:lnTo>
                  <a:lnTo>
                    <a:pt x="105896" y="3721"/>
                  </a:lnTo>
                  <a:lnTo>
                    <a:pt x="106404" y="3264"/>
                  </a:lnTo>
                  <a:lnTo>
                    <a:pt x="106760" y="2934"/>
                  </a:lnTo>
                  <a:lnTo>
                    <a:pt x="106861" y="2858"/>
                  </a:lnTo>
                  <a:cubicBezTo>
                    <a:pt x="108350" y="1639"/>
                    <a:pt x="110095" y="775"/>
                    <a:pt x="111967" y="330"/>
                  </a:cubicBezTo>
                  <a:lnTo>
                    <a:pt x="112106" y="317"/>
                  </a:lnTo>
                  <a:lnTo>
                    <a:pt x="112449" y="254"/>
                  </a:lnTo>
                  <a:lnTo>
                    <a:pt x="113389" y="89"/>
                  </a:lnTo>
                  <a:lnTo>
                    <a:pt x="113529" y="76"/>
                  </a:lnTo>
                  <a:lnTo>
                    <a:pt x="114050" y="51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7260" y="1565910"/>
              <a:ext cx="40605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CASE 1 · WEBHOOK AUTONOMOUS INVESTIGATION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95300" y="2400300"/>
            <a:ext cx="12159901" cy="1981200"/>
            <a:chOff x="495300" y="2400300"/>
            <a:chExt cx="12159901" cy="1981200"/>
          </a:xfrm>
        </p:grpSpPr>
        <p:sp>
          <p:nvSpPr>
            <p:cNvPr id="15" name="TextBox 15"/>
            <p:cNvSpPr txBox="1"/>
            <p:nvPr/>
          </p:nvSpPr>
          <p:spPr>
            <a:xfrm>
              <a:off x="495300" y="2400300"/>
              <a:ext cx="783536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Webhook 自主调查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5300" y="3162300"/>
              <a:ext cx="12159901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gradFill>
                    <a:gsLst>
                      <a:gs pos="0">
                        <a:srgbClr val="1565C0"/>
                      </a:gs>
                      <a:gs pos="100000">
                        <a:srgbClr val="42A5F5"/>
                      </a:gs>
                    </a:gsLst>
                    <a:lin ang="0" scaled="1"/>
                  </a:gradFill>
                  <a:latin typeface="Arial"/>
                  <a:ea typeface="SimHei"/>
                  <a:cs typeface="Arial"/>
                </a:rPr>
                <a:t>人没碰按钮，agent 全程接管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0545" y="4381500"/>
            <a:ext cx="6934010" cy="804862"/>
            <a:chOff x="550545" y="4381500"/>
            <a:chExt cx="6934010" cy="804862"/>
          </a:xfrm>
        </p:grpSpPr>
        <p:sp>
          <p:nvSpPr>
            <p:cNvPr id="18" name="Line 18"/>
            <p:cNvSpPr/>
            <p:nvPr/>
          </p:nvSpPr>
          <p:spPr>
            <a:xfrm>
              <a:off x="571500" y="43815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8575">
              <a:solidFill>
                <a:srgbClr val="FF980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50545" y="4584382"/>
              <a:ext cx="542786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alarm 触发 90 秒，bridge POST webhook 200 OK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0545" y="4851082"/>
              <a:ext cx="693401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Agent 12 分钟出 RCA + 4 阶段 Mitigation Plan + Slack 自主投递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5524500"/>
            <a:ext cx="7396067" cy="762000"/>
            <a:chOff x="571500" y="5524500"/>
            <a:chExt cx="7396067" cy="762000"/>
          </a:xfrm>
        </p:grpSpPr>
        <p:grpSp>
          <p:nvGrpSpPr>
            <p:cNvPr id="26" name="Group 26"/>
            <p:cNvGrpSpPr/>
            <p:nvPr/>
          </p:nvGrpSpPr>
          <p:grpSpPr>
            <a:xfrm>
              <a:off x="571500" y="5524500"/>
              <a:ext cx="2462784" cy="762000"/>
              <a:chOff x="571500" y="5524500"/>
              <a:chExt cx="2462784" cy="7620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715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42A5F5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31520" y="5627370"/>
                <a:ext cx="465811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90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91565" y="577310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秒 alarm 触发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50570" y="6046470"/>
                <a:ext cx="228371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CloudWatch period 60s + 1 datapoint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3048000" y="5524500"/>
              <a:ext cx="2935986" cy="762000"/>
              <a:chOff x="3048000" y="5524500"/>
              <a:chExt cx="2935986" cy="7620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30480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FF9800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3208020" y="5627370"/>
                <a:ext cx="373799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15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568065" y="5773102"/>
                <a:ext cx="7704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+ 步调查链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227070" y="6046470"/>
                <a:ext cx="275691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kubectl describe + EKS list + GitHub commit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5524500" y="5524500"/>
              <a:ext cx="2443067" cy="762000"/>
              <a:chOff x="5524500" y="5524500"/>
              <a:chExt cx="2443067" cy="7620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55245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4CAF50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5684520" y="5627370"/>
                <a:ext cx="263385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4CAF50"/>
                    </a:solidFill>
                    <a:latin typeface="Arial"/>
                    <a:ea typeface="SimHei"/>
                    <a:cs typeface="Arial"/>
                  </a:rPr>
                  <a:t>0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930265" y="5773102"/>
                <a:ext cx="8011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人工 query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703570" y="6046470"/>
                <a:ext cx="226399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webhook 触发 + 主动 sub-agent 调度</a:t>
                </a:r>
              </a:p>
            </p:txBody>
          </p:sp>
        </p:grpSp>
      </p:grpSp>
      <p:sp>
        <p:nvSpPr>
          <p:cNvPr id="38" name="TextBox 38"/>
          <p:cNvSpPr txBox="1"/>
          <p:nvPr/>
        </p:nvSpPr>
        <p:spPr>
          <a:xfrm>
            <a:off x="11236500" y="652129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10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21" grpId="0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7210" y="476250"/>
            <a:ext cx="8266805" cy="1000125"/>
            <a:chOff x="537210" y="476250"/>
            <a:chExt cx="8266805" cy="1000125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C1 · 端到端流程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82668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 xml:space="preserve">90 秒自主调查 → 12 分钟出 RCA — </a:t>
              </a:r>
              <a:r>
                <a:rPr lang="zh-CN" sz="27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人没碰按钮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2000250"/>
            <a:ext cx="2095500" cy="857250"/>
            <a:chOff x="571500" y="2000250"/>
            <a:chExt cx="2095500" cy="857250"/>
          </a:xfrm>
        </p:grpSpPr>
        <p:sp>
          <p:nvSpPr>
            <p:cNvPr id="7" name="Polygon 7"/>
            <p:cNvSpPr/>
            <p:nvPr/>
          </p:nvSpPr>
          <p:spPr>
            <a:xfrm>
              <a:off x="571500" y="2000250"/>
              <a:ext cx="2095500" cy="857250"/>
            </a:xfrm>
            <a:custGeom>
              <a:avLst/>
              <a:gdLst/>
              <a:ahLst/>
              <a:cxnLst/>
              <a:rect l="l" t="t" r="r" b="b"/>
              <a:pathLst>
                <a:path w="2095500" h="857250">
                  <a:moveTo>
                    <a:pt x="0" y="0"/>
                  </a:moveTo>
                  <a:lnTo>
                    <a:pt x="1714500" y="0"/>
                  </a:lnTo>
                  <a:lnTo>
                    <a:pt x="2095500" y="428625"/>
                  </a:lnTo>
                  <a:lnTo>
                    <a:pt x="1714500" y="857250"/>
                  </a:lnTo>
                  <a:lnTo>
                    <a:pt x="0" y="857250"/>
                  </a:lnTo>
                  <a:close/>
                </a:path>
              </a:pathLst>
            </a:custGeom>
            <a:gradFill>
              <a:gsLst>
                <a:gs pos="0">
                  <a:srgbClr val="F44336">
                    <a:alpha val="85000"/>
                  </a:srgbClr>
                </a:gs>
                <a:gs pos="100000">
                  <a:srgbClr val="FF7043">
                    <a:alpha val="8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893762" y="2244725"/>
              <a:ext cx="174625" cy="147715"/>
            </a:xfrm>
            <a:custGeom>
              <a:avLst/>
              <a:gdLst/>
              <a:ahLst/>
              <a:cxnLst/>
              <a:rect l="l" t="t" r="r" b="b"/>
              <a:pathLst>
                <a:path w="174625" h="147715">
                  <a:moveTo>
                    <a:pt x="87313" y="0"/>
                  </a:moveTo>
                  <a:cubicBezTo>
                    <a:pt x="105922" y="0"/>
                    <a:pt x="121263" y="14592"/>
                    <a:pt x="122194" y="33179"/>
                  </a:cubicBezTo>
                  <a:lnTo>
                    <a:pt x="122238" y="34925"/>
                  </a:lnTo>
                  <a:cubicBezTo>
                    <a:pt x="123530" y="34924"/>
                    <a:pt x="124806" y="35211"/>
                    <a:pt x="125974" y="35763"/>
                  </a:cubicBezTo>
                  <a:lnTo>
                    <a:pt x="152456" y="18842"/>
                  </a:lnTo>
                  <a:cubicBezTo>
                    <a:pt x="155084" y="17075"/>
                    <a:pt x="158462" y="16869"/>
                    <a:pt x="161285" y="18303"/>
                  </a:cubicBezTo>
                  <a:cubicBezTo>
                    <a:pt x="164108" y="19738"/>
                    <a:pt x="165933" y="22589"/>
                    <a:pt x="166054" y="25753"/>
                  </a:cubicBezTo>
                  <a:cubicBezTo>
                    <a:pt x="166175" y="28917"/>
                    <a:pt x="164574" y="31899"/>
                    <a:pt x="161869" y="33545"/>
                  </a:cubicBezTo>
                  <a:lnTo>
                    <a:pt x="135544" y="50406"/>
                  </a:lnTo>
                  <a:cubicBezTo>
                    <a:pt x="137956" y="56624"/>
                    <a:pt x="139359" y="63188"/>
                    <a:pt x="139700" y="69850"/>
                  </a:cubicBezTo>
                  <a:lnTo>
                    <a:pt x="165894" y="69850"/>
                  </a:lnTo>
                  <a:cubicBezTo>
                    <a:pt x="170716" y="69850"/>
                    <a:pt x="174625" y="73759"/>
                    <a:pt x="174625" y="78581"/>
                  </a:cubicBezTo>
                  <a:cubicBezTo>
                    <a:pt x="174625" y="83403"/>
                    <a:pt x="170716" y="87313"/>
                    <a:pt x="165894" y="87313"/>
                  </a:cubicBezTo>
                  <a:lnTo>
                    <a:pt x="139700" y="87313"/>
                  </a:lnTo>
                  <a:lnTo>
                    <a:pt x="139700" y="96044"/>
                  </a:lnTo>
                  <a:cubicBezTo>
                    <a:pt x="139705" y="100537"/>
                    <a:pt x="139133" y="105012"/>
                    <a:pt x="137997" y="109359"/>
                  </a:cubicBezTo>
                  <a:lnTo>
                    <a:pt x="161642" y="123469"/>
                  </a:lnTo>
                  <a:cubicBezTo>
                    <a:pt x="165784" y="125942"/>
                    <a:pt x="167136" y="131306"/>
                    <a:pt x="164663" y="135448"/>
                  </a:cubicBezTo>
                  <a:cubicBezTo>
                    <a:pt x="162189" y="139590"/>
                    <a:pt x="156826" y="140943"/>
                    <a:pt x="152683" y="138469"/>
                  </a:cubicBezTo>
                  <a:lnTo>
                    <a:pt x="130733" y="125363"/>
                  </a:lnTo>
                  <a:cubicBezTo>
                    <a:pt x="122714" y="137245"/>
                    <a:pt x="110177" y="145323"/>
                    <a:pt x="96044" y="147715"/>
                  </a:cubicBezTo>
                  <a:lnTo>
                    <a:pt x="96044" y="96044"/>
                  </a:lnTo>
                  <a:cubicBezTo>
                    <a:pt x="96044" y="91222"/>
                    <a:pt x="92135" y="87313"/>
                    <a:pt x="87313" y="87313"/>
                  </a:cubicBezTo>
                  <a:cubicBezTo>
                    <a:pt x="82490" y="87313"/>
                    <a:pt x="78581" y="91222"/>
                    <a:pt x="78581" y="96044"/>
                  </a:cubicBezTo>
                  <a:lnTo>
                    <a:pt x="78581" y="147707"/>
                  </a:lnTo>
                  <a:cubicBezTo>
                    <a:pt x="64448" y="145314"/>
                    <a:pt x="51911" y="137236"/>
                    <a:pt x="43892" y="125355"/>
                  </a:cubicBezTo>
                  <a:lnTo>
                    <a:pt x="21942" y="138478"/>
                  </a:lnTo>
                  <a:cubicBezTo>
                    <a:pt x="17799" y="140951"/>
                    <a:pt x="12436" y="139599"/>
                    <a:pt x="9962" y="135457"/>
                  </a:cubicBezTo>
                  <a:cubicBezTo>
                    <a:pt x="7489" y="131314"/>
                    <a:pt x="8841" y="125951"/>
                    <a:pt x="12983" y="123477"/>
                  </a:cubicBezTo>
                  <a:lnTo>
                    <a:pt x="36628" y="109368"/>
                  </a:lnTo>
                  <a:cubicBezTo>
                    <a:pt x="35492" y="105018"/>
                    <a:pt x="34919" y="100540"/>
                    <a:pt x="34925" y="96044"/>
                  </a:cubicBezTo>
                  <a:lnTo>
                    <a:pt x="34925" y="87313"/>
                  </a:lnTo>
                  <a:lnTo>
                    <a:pt x="8731" y="87313"/>
                  </a:lnTo>
                  <a:cubicBezTo>
                    <a:pt x="3909" y="87313"/>
                    <a:pt x="0" y="83403"/>
                    <a:pt x="0" y="78581"/>
                  </a:cubicBezTo>
                  <a:cubicBezTo>
                    <a:pt x="0" y="73759"/>
                    <a:pt x="3909" y="69850"/>
                    <a:pt x="8731" y="69850"/>
                  </a:cubicBezTo>
                  <a:lnTo>
                    <a:pt x="34934" y="69850"/>
                  </a:lnTo>
                  <a:lnTo>
                    <a:pt x="34934" y="69370"/>
                  </a:lnTo>
                  <a:cubicBezTo>
                    <a:pt x="35293" y="62865"/>
                    <a:pt x="36690" y="56460"/>
                    <a:pt x="39072" y="50397"/>
                  </a:cubicBezTo>
                  <a:lnTo>
                    <a:pt x="12756" y="33545"/>
                  </a:lnTo>
                  <a:cubicBezTo>
                    <a:pt x="10051" y="31899"/>
                    <a:pt x="8450" y="28917"/>
                    <a:pt x="8571" y="25753"/>
                  </a:cubicBezTo>
                  <a:cubicBezTo>
                    <a:pt x="8692" y="22589"/>
                    <a:pt x="10517" y="19738"/>
                    <a:pt x="13340" y="18303"/>
                  </a:cubicBezTo>
                  <a:cubicBezTo>
                    <a:pt x="16163" y="16869"/>
                    <a:pt x="19541" y="17075"/>
                    <a:pt x="22169" y="18842"/>
                  </a:cubicBezTo>
                  <a:lnTo>
                    <a:pt x="48642" y="35772"/>
                  </a:lnTo>
                  <a:lnTo>
                    <a:pt x="48851" y="35667"/>
                  </a:lnTo>
                  <a:lnTo>
                    <a:pt x="49445" y="35431"/>
                  </a:lnTo>
                  <a:lnTo>
                    <a:pt x="49611" y="35388"/>
                  </a:lnTo>
                  <a:lnTo>
                    <a:pt x="49751" y="35335"/>
                  </a:lnTo>
                  <a:lnTo>
                    <a:pt x="50030" y="35266"/>
                  </a:lnTo>
                  <a:lnTo>
                    <a:pt x="50379" y="35152"/>
                  </a:lnTo>
                  <a:lnTo>
                    <a:pt x="50676" y="35091"/>
                  </a:lnTo>
                  <a:lnTo>
                    <a:pt x="50973" y="35056"/>
                  </a:lnTo>
                  <a:lnTo>
                    <a:pt x="51366" y="34986"/>
                  </a:lnTo>
                  <a:lnTo>
                    <a:pt x="51497" y="34977"/>
                  </a:lnTo>
                  <a:lnTo>
                    <a:pt x="51628" y="34960"/>
                  </a:lnTo>
                  <a:lnTo>
                    <a:pt x="52388" y="34925"/>
                  </a:lnTo>
                  <a:cubicBezTo>
                    <a:pt x="52388" y="15636"/>
                    <a:pt x="68024" y="0"/>
                    <a:pt x="87313" y="0"/>
                  </a:cubicBezTo>
                  <a:close/>
                  <a:moveTo>
                    <a:pt x="87313" y="17463"/>
                  </a:moveTo>
                  <a:cubicBezTo>
                    <a:pt x="77668" y="17463"/>
                    <a:pt x="69850" y="25281"/>
                    <a:pt x="69850" y="34925"/>
                  </a:cubicBezTo>
                  <a:lnTo>
                    <a:pt x="104775" y="34925"/>
                  </a:lnTo>
                  <a:cubicBezTo>
                    <a:pt x="104775" y="25281"/>
                    <a:pt x="96957" y="17463"/>
                    <a:pt x="87313" y="174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7760" y="2251710"/>
              <a:ext cx="5549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① 注入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3918" y="2542699"/>
              <a:ext cx="12921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 val="95000"/>
                    </a:srgbClr>
                  </a:solidFill>
                  <a:latin typeface="Arial"/>
                  <a:ea typeface="Microsoft YaHei"/>
                  <a:cs typeface="Arial"/>
                </a:rPr>
                <a:t>L6: 错误 image tag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571750" y="2000250"/>
            <a:ext cx="2286000" cy="857250"/>
            <a:chOff x="2571750" y="2000250"/>
            <a:chExt cx="2286000" cy="857250"/>
          </a:xfrm>
        </p:grpSpPr>
        <p:sp>
          <p:nvSpPr>
            <p:cNvPr id="12" name="Polygon 12"/>
            <p:cNvSpPr/>
            <p:nvPr/>
          </p:nvSpPr>
          <p:spPr>
            <a:xfrm>
              <a:off x="2571750" y="200025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0" y="0"/>
                  </a:moveTo>
                  <a:lnTo>
                    <a:pt x="1905000" y="0"/>
                  </a:lnTo>
                  <a:lnTo>
                    <a:pt x="2286000" y="428625"/>
                  </a:lnTo>
                  <a:lnTo>
                    <a:pt x="1905000" y="857250"/>
                  </a:lnTo>
                  <a:lnTo>
                    <a:pt x="0" y="857250"/>
                  </a:lnTo>
                  <a:lnTo>
                    <a:pt x="381000" y="428625"/>
                  </a:lnTo>
                  <a:close/>
                </a:path>
              </a:pathLst>
            </a:custGeom>
            <a:gradFill>
              <a:gsLst>
                <a:gs pos="0">
                  <a:srgbClr val="FF9800">
                    <a:alpha val="85000"/>
                  </a:srgbClr>
                </a:gs>
                <a:gs pos="100000">
                  <a:srgbClr val="FFB74D">
                    <a:alpha val="8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046412" y="2217330"/>
              <a:ext cx="174625" cy="194441"/>
            </a:xfrm>
            <a:custGeom>
              <a:avLst/>
              <a:gdLst/>
              <a:ahLst/>
              <a:cxnLst/>
              <a:rect l="l" t="t" r="r" b="b"/>
              <a:pathLst>
                <a:path w="174625" h="194441">
                  <a:moveTo>
                    <a:pt x="73561" y="4816"/>
                  </a:moveTo>
                  <a:cubicBezTo>
                    <a:pt x="81723" y="315"/>
                    <a:pt x="91548" y="0"/>
                    <a:pt x="99982" y="3969"/>
                  </a:cubicBezTo>
                  <a:lnTo>
                    <a:pt x="101640" y="4816"/>
                  </a:lnTo>
                  <a:lnTo>
                    <a:pt x="160795" y="39697"/>
                  </a:lnTo>
                  <a:lnTo>
                    <a:pt x="161633" y="40247"/>
                  </a:lnTo>
                  <a:lnTo>
                    <a:pt x="162436" y="40920"/>
                  </a:lnTo>
                  <a:lnTo>
                    <a:pt x="163370" y="41574"/>
                  </a:lnTo>
                  <a:cubicBezTo>
                    <a:pt x="169502" y="46172"/>
                    <a:pt x="173494" y="53071"/>
                    <a:pt x="174424" y="60678"/>
                  </a:cubicBezTo>
                  <a:lnTo>
                    <a:pt x="174581" y="62442"/>
                  </a:lnTo>
                  <a:lnTo>
                    <a:pt x="174625" y="64223"/>
                  </a:lnTo>
                  <a:lnTo>
                    <a:pt x="174625" y="127822"/>
                  </a:lnTo>
                  <a:cubicBezTo>
                    <a:pt x="174625" y="137479"/>
                    <a:pt x="169648" y="146411"/>
                    <a:pt x="161930" y="151335"/>
                  </a:cubicBezTo>
                  <a:lnTo>
                    <a:pt x="160445" y="152208"/>
                  </a:lnTo>
                  <a:lnTo>
                    <a:pt x="101047" y="189770"/>
                  </a:lnTo>
                  <a:cubicBezTo>
                    <a:pt x="93031" y="194171"/>
                    <a:pt x="83418" y="194441"/>
                    <a:pt x="74818" y="190364"/>
                  </a:cubicBezTo>
                  <a:lnTo>
                    <a:pt x="73107" y="189491"/>
                  </a:lnTo>
                  <a:lnTo>
                    <a:pt x="14651" y="152496"/>
                  </a:lnTo>
                  <a:cubicBezTo>
                    <a:pt x="6195" y="147873"/>
                    <a:pt x="691" y="139246"/>
                    <a:pt x="61" y="129629"/>
                  </a:cubicBezTo>
                  <a:lnTo>
                    <a:pt x="0" y="127822"/>
                  </a:lnTo>
                  <a:lnTo>
                    <a:pt x="0" y="64215"/>
                  </a:lnTo>
                  <a:cubicBezTo>
                    <a:pt x="0" y="54558"/>
                    <a:pt x="4977" y="45634"/>
                    <a:pt x="12887" y="40597"/>
                  </a:cubicBezTo>
                  <a:lnTo>
                    <a:pt x="73570" y="4816"/>
                  </a:lnTo>
                  <a:close/>
                  <a:moveTo>
                    <a:pt x="87400" y="123439"/>
                  </a:moveTo>
                  <a:lnTo>
                    <a:pt x="86291" y="123500"/>
                  </a:lnTo>
                  <a:cubicBezTo>
                    <a:pt x="81899" y="124022"/>
                    <a:pt x="78591" y="127747"/>
                    <a:pt x="78591" y="132170"/>
                  </a:cubicBezTo>
                  <a:cubicBezTo>
                    <a:pt x="78591" y="136593"/>
                    <a:pt x="81899" y="140318"/>
                    <a:pt x="86291" y="140840"/>
                  </a:cubicBezTo>
                  <a:lnTo>
                    <a:pt x="87313" y="140901"/>
                  </a:lnTo>
                  <a:lnTo>
                    <a:pt x="88421" y="140840"/>
                  </a:lnTo>
                  <a:cubicBezTo>
                    <a:pt x="92814" y="140318"/>
                    <a:pt x="96121" y="136593"/>
                    <a:pt x="96121" y="132170"/>
                  </a:cubicBezTo>
                  <a:cubicBezTo>
                    <a:pt x="96121" y="127747"/>
                    <a:pt x="92814" y="124022"/>
                    <a:pt x="88421" y="123500"/>
                  </a:cubicBezTo>
                  <a:lnTo>
                    <a:pt x="87400" y="123439"/>
                  </a:lnTo>
                  <a:close/>
                  <a:moveTo>
                    <a:pt x="87313" y="53589"/>
                  </a:moveTo>
                  <a:cubicBezTo>
                    <a:pt x="82886" y="53589"/>
                    <a:pt x="79160" y="56902"/>
                    <a:pt x="78642" y="61298"/>
                  </a:cubicBezTo>
                  <a:lnTo>
                    <a:pt x="78581" y="62320"/>
                  </a:lnTo>
                  <a:lnTo>
                    <a:pt x="78581" y="97245"/>
                  </a:lnTo>
                  <a:lnTo>
                    <a:pt x="78642" y="98266"/>
                  </a:lnTo>
                  <a:cubicBezTo>
                    <a:pt x="79165" y="102659"/>
                    <a:pt x="82889" y="105966"/>
                    <a:pt x="87313" y="105966"/>
                  </a:cubicBezTo>
                  <a:cubicBezTo>
                    <a:pt x="91736" y="105966"/>
                    <a:pt x="95460" y="102659"/>
                    <a:pt x="95983" y="98266"/>
                  </a:cubicBezTo>
                  <a:lnTo>
                    <a:pt x="96044" y="97245"/>
                  </a:lnTo>
                  <a:lnTo>
                    <a:pt x="96044" y="62320"/>
                  </a:lnTo>
                  <a:lnTo>
                    <a:pt x="95983" y="61298"/>
                  </a:lnTo>
                  <a:cubicBezTo>
                    <a:pt x="95465" y="56902"/>
                    <a:pt x="91739" y="53589"/>
                    <a:pt x="87313" y="535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280410" y="2251710"/>
              <a:ext cx="9137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② Pod 失败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16568" y="2542699"/>
              <a:ext cx="12280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 val="95000"/>
                    </a:srgbClr>
                  </a:solidFill>
                  <a:latin typeface="Arial"/>
                  <a:ea typeface="Microsoft YaHei"/>
                  <a:cs typeface="Arial"/>
                </a:rPr>
                <a:t>ImagePullBackOff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762500" y="2000250"/>
            <a:ext cx="2286000" cy="857250"/>
            <a:chOff x="4762500" y="2000250"/>
            <a:chExt cx="2286000" cy="857250"/>
          </a:xfrm>
        </p:grpSpPr>
        <p:sp>
          <p:nvSpPr>
            <p:cNvPr id="17" name="Polygon 17"/>
            <p:cNvSpPr/>
            <p:nvPr/>
          </p:nvSpPr>
          <p:spPr>
            <a:xfrm>
              <a:off x="4762500" y="200025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0" y="0"/>
                  </a:moveTo>
                  <a:lnTo>
                    <a:pt x="1905000" y="0"/>
                  </a:lnTo>
                  <a:lnTo>
                    <a:pt x="2286000" y="428625"/>
                  </a:lnTo>
                  <a:lnTo>
                    <a:pt x="1905000" y="857250"/>
                  </a:lnTo>
                  <a:lnTo>
                    <a:pt x="0" y="857250"/>
                  </a:lnTo>
                  <a:lnTo>
                    <a:pt x="381000" y="428625"/>
                  </a:lnTo>
                  <a:close/>
                </a:path>
              </a:pathLst>
            </a:custGeom>
            <a:gradFill>
              <a:gsLst>
                <a:gs pos="0">
                  <a:srgbClr val="1565C0">
                    <a:alpha val="85000"/>
                  </a:srgbClr>
                </a:gs>
                <a:gs pos="100000">
                  <a:srgbClr val="42A5F5">
                    <a:alpha val="8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5254230" y="2227262"/>
              <a:ext cx="140491" cy="177864"/>
            </a:xfrm>
            <a:custGeom>
              <a:avLst/>
              <a:gdLst/>
              <a:ahLst/>
              <a:cxnLst/>
              <a:rect l="l" t="t" r="r" b="b"/>
              <a:pathLst>
                <a:path w="140491" h="177864">
                  <a:moveTo>
                    <a:pt x="78977" y="0"/>
                  </a:moveTo>
                  <a:lnTo>
                    <a:pt x="79134" y="9"/>
                  </a:lnTo>
                  <a:lnTo>
                    <a:pt x="79273" y="17"/>
                  </a:lnTo>
                  <a:lnTo>
                    <a:pt x="79998" y="61"/>
                  </a:lnTo>
                  <a:lnTo>
                    <a:pt x="80094" y="79"/>
                  </a:lnTo>
                  <a:lnTo>
                    <a:pt x="80190" y="79"/>
                  </a:lnTo>
                  <a:lnTo>
                    <a:pt x="80522" y="157"/>
                  </a:lnTo>
                  <a:lnTo>
                    <a:pt x="80976" y="227"/>
                  </a:lnTo>
                  <a:lnTo>
                    <a:pt x="81116" y="279"/>
                  </a:lnTo>
                  <a:lnTo>
                    <a:pt x="81212" y="288"/>
                  </a:lnTo>
                  <a:lnTo>
                    <a:pt x="81465" y="384"/>
                  </a:lnTo>
                  <a:lnTo>
                    <a:pt x="81919" y="506"/>
                  </a:lnTo>
                  <a:lnTo>
                    <a:pt x="82085" y="585"/>
                  </a:lnTo>
                  <a:lnTo>
                    <a:pt x="82216" y="620"/>
                  </a:lnTo>
                  <a:lnTo>
                    <a:pt x="82460" y="742"/>
                  </a:lnTo>
                  <a:lnTo>
                    <a:pt x="82810" y="891"/>
                  </a:lnTo>
                  <a:lnTo>
                    <a:pt x="82993" y="995"/>
                  </a:lnTo>
                  <a:lnTo>
                    <a:pt x="83185" y="1083"/>
                  </a:lnTo>
                  <a:lnTo>
                    <a:pt x="83386" y="1214"/>
                  </a:lnTo>
                  <a:lnTo>
                    <a:pt x="83657" y="1362"/>
                  </a:lnTo>
                  <a:lnTo>
                    <a:pt x="83953" y="1572"/>
                  </a:lnTo>
                  <a:lnTo>
                    <a:pt x="84111" y="1668"/>
                  </a:lnTo>
                  <a:lnTo>
                    <a:pt x="84224" y="1772"/>
                  </a:lnTo>
                  <a:lnTo>
                    <a:pt x="84434" y="1921"/>
                  </a:lnTo>
                  <a:lnTo>
                    <a:pt x="84765" y="2218"/>
                  </a:lnTo>
                  <a:lnTo>
                    <a:pt x="84957" y="2366"/>
                  </a:lnTo>
                  <a:lnTo>
                    <a:pt x="85027" y="2453"/>
                  </a:lnTo>
                  <a:lnTo>
                    <a:pt x="85150" y="2558"/>
                  </a:lnTo>
                  <a:lnTo>
                    <a:pt x="85464" y="2916"/>
                  </a:lnTo>
                  <a:lnTo>
                    <a:pt x="85691" y="3152"/>
                  </a:lnTo>
                  <a:lnTo>
                    <a:pt x="85743" y="3231"/>
                  </a:lnTo>
                  <a:cubicBezTo>
                    <a:pt x="86791" y="4514"/>
                    <a:pt x="87455" y="6042"/>
                    <a:pt x="87647" y="7710"/>
                  </a:cubicBezTo>
                  <a:lnTo>
                    <a:pt x="87655" y="7814"/>
                  </a:lnTo>
                  <a:lnTo>
                    <a:pt x="87673" y="8172"/>
                  </a:lnTo>
                  <a:lnTo>
                    <a:pt x="87708" y="8731"/>
                  </a:lnTo>
                  <a:lnTo>
                    <a:pt x="87708" y="61119"/>
                  </a:lnTo>
                  <a:lnTo>
                    <a:pt x="131364" y="61119"/>
                  </a:lnTo>
                  <a:cubicBezTo>
                    <a:pt x="134478" y="61118"/>
                    <a:pt x="137357" y="62776"/>
                    <a:pt x="138920" y="65470"/>
                  </a:cubicBezTo>
                  <a:cubicBezTo>
                    <a:pt x="140482" y="68165"/>
                    <a:pt x="140491" y="71487"/>
                    <a:pt x="138943" y="74189"/>
                  </a:cubicBezTo>
                  <a:lnTo>
                    <a:pt x="138419" y="74984"/>
                  </a:lnTo>
                  <a:lnTo>
                    <a:pt x="68569" y="171028"/>
                  </a:lnTo>
                  <a:cubicBezTo>
                    <a:pt x="63610" y="177864"/>
                    <a:pt x="52783" y="174346"/>
                    <a:pt x="52783" y="165894"/>
                  </a:cubicBezTo>
                  <a:lnTo>
                    <a:pt x="52783" y="113506"/>
                  </a:lnTo>
                  <a:lnTo>
                    <a:pt x="9127" y="113506"/>
                  </a:lnTo>
                  <a:cubicBezTo>
                    <a:pt x="6012" y="113507"/>
                    <a:pt x="3133" y="111849"/>
                    <a:pt x="1571" y="109155"/>
                  </a:cubicBezTo>
                  <a:cubicBezTo>
                    <a:pt x="9" y="106460"/>
                    <a:pt x="0" y="103138"/>
                    <a:pt x="1548" y="100436"/>
                  </a:cubicBezTo>
                  <a:lnTo>
                    <a:pt x="2072" y="99641"/>
                  </a:lnTo>
                  <a:lnTo>
                    <a:pt x="71922" y="3597"/>
                  </a:lnTo>
                  <a:lnTo>
                    <a:pt x="72009" y="3484"/>
                  </a:lnTo>
                  <a:lnTo>
                    <a:pt x="72166" y="3274"/>
                  </a:lnTo>
                  <a:lnTo>
                    <a:pt x="72454" y="2942"/>
                  </a:lnTo>
                  <a:lnTo>
                    <a:pt x="72611" y="2750"/>
                  </a:lnTo>
                  <a:lnTo>
                    <a:pt x="72690" y="2680"/>
                  </a:lnTo>
                  <a:lnTo>
                    <a:pt x="72804" y="2558"/>
                  </a:lnTo>
                  <a:lnTo>
                    <a:pt x="73153" y="2244"/>
                  </a:lnTo>
                  <a:lnTo>
                    <a:pt x="73397" y="2017"/>
                  </a:lnTo>
                  <a:lnTo>
                    <a:pt x="73467" y="1965"/>
                  </a:lnTo>
                  <a:cubicBezTo>
                    <a:pt x="74490" y="1127"/>
                    <a:pt x="75691" y="533"/>
                    <a:pt x="76977" y="227"/>
                  </a:cubicBezTo>
                  <a:lnTo>
                    <a:pt x="77073" y="218"/>
                  </a:lnTo>
                  <a:lnTo>
                    <a:pt x="77309" y="175"/>
                  </a:lnTo>
                  <a:lnTo>
                    <a:pt x="77955" y="61"/>
                  </a:lnTo>
                  <a:lnTo>
                    <a:pt x="78051" y="52"/>
                  </a:lnTo>
                  <a:lnTo>
                    <a:pt x="78409" y="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471160" y="2251710"/>
              <a:ext cx="6837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③ Alarm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07318" y="2542699"/>
              <a:ext cx="7937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 val="95000"/>
                    </a:srgbClr>
                  </a:solidFill>
                  <a:latin typeface="Arial"/>
                  <a:ea typeface="Microsoft YaHei"/>
                  <a:cs typeface="Arial"/>
                </a:rPr>
                <a:t>OK → ALARM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953250" y="2000250"/>
            <a:ext cx="2286000" cy="857250"/>
            <a:chOff x="6953250" y="2000250"/>
            <a:chExt cx="2286000" cy="857250"/>
          </a:xfrm>
        </p:grpSpPr>
        <p:sp>
          <p:nvSpPr>
            <p:cNvPr id="22" name="Polygon 22"/>
            <p:cNvSpPr/>
            <p:nvPr/>
          </p:nvSpPr>
          <p:spPr>
            <a:xfrm>
              <a:off x="6953250" y="200025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0" y="0"/>
                  </a:moveTo>
                  <a:lnTo>
                    <a:pt x="1905000" y="0"/>
                  </a:lnTo>
                  <a:lnTo>
                    <a:pt x="2286000" y="428625"/>
                  </a:lnTo>
                  <a:lnTo>
                    <a:pt x="1905000" y="857250"/>
                  </a:lnTo>
                  <a:lnTo>
                    <a:pt x="0" y="857250"/>
                  </a:lnTo>
                  <a:lnTo>
                    <a:pt x="381000" y="428625"/>
                  </a:lnTo>
                  <a:close/>
                </a:path>
              </a:pathLst>
            </a:custGeom>
            <a:gradFill>
              <a:gsLst>
                <a:gs pos="0">
                  <a:srgbClr val="42A5F5">
                    <a:alpha val="85000"/>
                  </a:srgbClr>
                </a:gs>
                <a:gs pos="100000">
                  <a:srgbClr val="42A5F5">
                    <a:alpha val="8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7436644" y="2262188"/>
              <a:ext cx="157162" cy="122238"/>
            </a:xfrm>
            <a:custGeom>
              <a:avLst/>
              <a:gdLst/>
              <a:ahLst/>
              <a:cxnLst/>
              <a:rect l="l" t="t" r="r" b="b"/>
              <a:pathLst>
                <a:path w="157162" h="122238">
                  <a:moveTo>
                    <a:pt x="130969" y="0"/>
                  </a:moveTo>
                  <a:cubicBezTo>
                    <a:pt x="145435" y="0"/>
                    <a:pt x="157162" y="11727"/>
                    <a:pt x="157162" y="26194"/>
                  </a:cubicBezTo>
                  <a:lnTo>
                    <a:pt x="157162" y="104775"/>
                  </a:lnTo>
                  <a:cubicBezTo>
                    <a:pt x="157162" y="114419"/>
                    <a:pt x="149344" y="122238"/>
                    <a:pt x="139700" y="122238"/>
                  </a:cubicBezTo>
                  <a:lnTo>
                    <a:pt x="122238" y="122238"/>
                  </a:lnTo>
                  <a:cubicBezTo>
                    <a:pt x="112593" y="122238"/>
                    <a:pt x="104775" y="114419"/>
                    <a:pt x="104775" y="104775"/>
                  </a:cubicBezTo>
                  <a:lnTo>
                    <a:pt x="104775" y="87312"/>
                  </a:lnTo>
                  <a:cubicBezTo>
                    <a:pt x="104775" y="72846"/>
                    <a:pt x="93048" y="61119"/>
                    <a:pt x="78581" y="61119"/>
                  </a:cubicBezTo>
                  <a:cubicBezTo>
                    <a:pt x="64115" y="61119"/>
                    <a:pt x="52388" y="72846"/>
                    <a:pt x="52388" y="87312"/>
                  </a:cubicBezTo>
                  <a:lnTo>
                    <a:pt x="52388" y="104775"/>
                  </a:lnTo>
                  <a:cubicBezTo>
                    <a:pt x="52388" y="114419"/>
                    <a:pt x="44569" y="122238"/>
                    <a:pt x="34925" y="122238"/>
                  </a:cubicBezTo>
                  <a:lnTo>
                    <a:pt x="17463" y="122238"/>
                  </a:lnTo>
                  <a:cubicBezTo>
                    <a:pt x="7818" y="122238"/>
                    <a:pt x="0" y="114419"/>
                    <a:pt x="0" y="104775"/>
                  </a:cubicBezTo>
                  <a:lnTo>
                    <a:pt x="0" y="26194"/>
                  </a:lnTo>
                  <a:cubicBezTo>
                    <a:pt x="0" y="11727"/>
                    <a:pt x="11727" y="0"/>
                    <a:pt x="261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61910" y="2251710"/>
              <a:ext cx="7481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④ Bridge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98068" y="2542699"/>
              <a:ext cx="15484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 val="95000"/>
                    </a:srgbClr>
                  </a:solidFill>
                  <a:latin typeface="Arial"/>
                  <a:ea typeface="Microsoft YaHei"/>
                  <a:cs typeface="Arial"/>
                </a:rPr>
                <a:t>SNS → Lambda → 200 OK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144000" y="2000250"/>
            <a:ext cx="2286000" cy="857250"/>
            <a:chOff x="9144000" y="2000250"/>
            <a:chExt cx="2286000" cy="857250"/>
          </a:xfrm>
        </p:grpSpPr>
        <p:sp>
          <p:nvSpPr>
            <p:cNvPr id="27" name="Polygon 27"/>
            <p:cNvSpPr/>
            <p:nvPr/>
          </p:nvSpPr>
          <p:spPr>
            <a:xfrm>
              <a:off x="9144000" y="200025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0" y="0"/>
                  </a:moveTo>
                  <a:lnTo>
                    <a:pt x="1905000" y="0"/>
                  </a:lnTo>
                  <a:lnTo>
                    <a:pt x="2286000" y="428625"/>
                  </a:lnTo>
                  <a:lnTo>
                    <a:pt x="1905000" y="857250"/>
                  </a:lnTo>
                  <a:lnTo>
                    <a:pt x="0" y="857250"/>
                  </a:lnTo>
                  <a:lnTo>
                    <a:pt x="381000" y="428625"/>
                  </a:lnTo>
                  <a:close/>
                </a:path>
              </a:pathLst>
            </a:custGeom>
            <a:gradFill>
              <a:gsLst>
                <a:gs pos="0">
                  <a:srgbClr val="4CAF50">
                    <a:alpha val="85000"/>
                  </a:srgbClr>
                </a:gs>
                <a:gs pos="100000">
                  <a:srgbClr val="81C784">
                    <a:alpha val="8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9609551" y="2244725"/>
              <a:ext cx="192459" cy="139700"/>
            </a:xfrm>
            <a:custGeom>
              <a:avLst/>
              <a:gdLst/>
              <a:ahLst/>
              <a:cxnLst/>
              <a:rect l="l" t="t" r="r" b="b"/>
              <a:pathLst>
                <a:path w="192459" h="139700">
                  <a:moveTo>
                    <a:pt x="96424" y="0"/>
                  </a:moveTo>
                  <a:cubicBezTo>
                    <a:pt x="133881" y="0"/>
                    <a:pt x="165078" y="21208"/>
                    <a:pt x="189543" y="62463"/>
                  </a:cubicBezTo>
                  <a:lnTo>
                    <a:pt x="191464" y="65773"/>
                  </a:lnTo>
                  <a:lnTo>
                    <a:pt x="191857" y="66646"/>
                  </a:lnTo>
                  <a:lnTo>
                    <a:pt x="192119" y="67370"/>
                  </a:lnTo>
                  <a:lnTo>
                    <a:pt x="192241" y="67851"/>
                  </a:lnTo>
                  <a:lnTo>
                    <a:pt x="192363" y="68567"/>
                  </a:lnTo>
                  <a:lnTo>
                    <a:pt x="192459" y="69440"/>
                  </a:lnTo>
                  <a:lnTo>
                    <a:pt x="192459" y="70400"/>
                  </a:lnTo>
                  <a:lnTo>
                    <a:pt x="192337" y="71369"/>
                  </a:lnTo>
                  <a:cubicBezTo>
                    <a:pt x="192280" y="71693"/>
                    <a:pt x="192204" y="72014"/>
                    <a:pt x="192110" y="72330"/>
                  </a:cubicBezTo>
                  <a:lnTo>
                    <a:pt x="191769" y="73273"/>
                  </a:lnTo>
                  <a:lnTo>
                    <a:pt x="191455" y="73927"/>
                  </a:lnTo>
                  <a:lnTo>
                    <a:pt x="191315" y="74189"/>
                  </a:lnTo>
                  <a:cubicBezTo>
                    <a:pt x="167182" y="116414"/>
                    <a:pt x="136309" y="138626"/>
                    <a:pt x="99157" y="139665"/>
                  </a:cubicBezTo>
                  <a:lnTo>
                    <a:pt x="96424" y="139700"/>
                  </a:lnTo>
                  <a:cubicBezTo>
                    <a:pt x="58042" y="139700"/>
                    <a:pt x="26251" y="117444"/>
                    <a:pt x="1533" y="74181"/>
                  </a:cubicBezTo>
                  <a:cubicBezTo>
                    <a:pt x="0" y="71497"/>
                    <a:pt x="0" y="68203"/>
                    <a:pt x="1533" y="65519"/>
                  </a:cubicBezTo>
                  <a:cubicBezTo>
                    <a:pt x="26251" y="22256"/>
                    <a:pt x="58042" y="0"/>
                    <a:pt x="96424" y="0"/>
                  </a:cubicBezTo>
                  <a:close/>
                  <a:moveTo>
                    <a:pt x="96424" y="43656"/>
                  </a:moveTo>
                  <a:cubicBezTo>
                    <a:pt x="81958" y="43656"/>
                    <a:pt x="70230" y="55384"/>
                    <a:pt x="70230" y="69850"/>
                  </a:cubicBezTo>
                  <a:cubicBezTo>
                    <a:pt x="70230" y="84316"/>
                    <a:pt x="81958" y="96044"/>
                    <a:pt x="96424" y="96044"/>
                  </a:cubicBezTo>
                  <a:cubicBezTo>
                    <a:pt x="110891" y="96044"/>
                    <a:pt x="122618" y="84316"/>
                    <a:pt x="122618" y="69850"/>
                  </a:cubicBezTo>
                  <a:cubicBezTo>
                    <a:pt x="122618" y="55384"/>
                    <a:pt x="110891" y="43656"/>
                    <a:pt x="96424" y="436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852660" y="2251710"/>
              <a:ext cx="11162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⑤ Agent 调查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88818" y="2542699"/>
              <a:ext cx="7794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 val="95000"/>
                    </a:srgbClr>
                  </a:solidFill>
                  <a:latin typeface="Arial"/>
                  <a:ea typeface="Microsoft YaHei"/>
                  <a:cs typeface="Arial"/>
                </a:rPr>
                <a:t>15 步 · 自主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095750" y="3429000"/>
            <a:ext cx="6953250" cy="1143000"/>
            <a:chOff x="4095750" y="3429000"/>
            <a:chExt cx="6953250" cy="1143000"/>
          </a:xfrm>
        </p:grpSpPr>
        <p:sp>
          <p:nvSpPr>
            <p:cNvPr id="32" name="Polygon 32"/>
            <p:cNvSpPr/>
            <p:nvPr/>
          </p:nvSpPr>
          <p:spPr>
            <a:xfrm>
              <a:off x="4095750" y="3429000"/>
              <a:ext cx="6953250" cy="1143000"/>
            </a:xfrm>
            <a:custGeom>
              <a:avLst/>
              <a:gdLst/>
              <a:ahLst/>
              <a:cxnLst/>
              <a:rect l="l" t="t" r="r" b="b"/>
              <a:pathLst>
                <a:path w="6953250" h="1143000">
                  <a:moveTo>
                    <a:pt x="0" y="0"/>
                  </a:moveTo>
                  <a:lnTo>
                    <a:pt x="6381750" y="0"/>
                  </a:lnTo>
                  <a:lnTo>
                    <a:pt x="6953250" y="571500"/>
                  </a:lnTo>
                  <a:lnTo>
                    <a:pt x="6381750" y="1143000"/>
                  </a:lnTo>
                  <a:lnTo>
                    <a:pt x="0" y="1143000"/>
                  </a:lnTo>
                  <a:lnTo>
                    <a:pt x="571500" y="571500"/>
                  </a:lnTo>
                  <a:close/>
                </a:path>
              </a:pathLst>
            </a:custGeom>
            <a:gradFill>
              <a:gsLst>
                <a:gs pos="0">
                  <a:srgbClr val="4CAF50">
                    <a:alpha val="85000"/>
                  </a:srgbClr>
                </a:gs>
                <a:gs pos="100000">
                  <a:srgbClr val="9CCC65">
                    <a:alpha val="85000"/>
                  </a:srgbClr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4578350" y="3787775"/>
              <a:ext cx="254001" cy="258280"/>
              <a:chOff x="4578350" y="3787775"/>
              <a:chExt cx="254001" cy="25828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667250" y="3787775"/>
                <a:ext cx="165101" cy="165120"/>
              </a:xfrm>
              <a:custGeom>
                <a:avLst/>
                <a:gdLst/>
                <a:ahLst/>
                <a:cxnLst/>
                <a:rect l="l" t="t" r="r" b="b"/>
                <a:pathLst>
                  <a:path w="165101" h="165120">
                    <a:moveTo>
                      <a:pt x="151143" y="165036"/>
                    </a:moveTo>
                    <a:lnTo>
                      <a:pt x="150584" y="164960"/>
                    </a:lnTo>
                    <a:cubicBezTo>
                      <a:pt x="150143" y="164932"/>
                      <a:pt x="149707" y="164847"/>
                      <a:pt x="149289" y="164706"/>
                    </a:cubicBezTo>
                    <a:lnTo>
                      <a:pt x="148717" y="164554"/>
                    </a:lnTo>
                    <a:lnTo>
                      <a:pt x="148107" y="164338"/>
                    </a:lnTo>
                    <a:lnTo>
                      <a:pt x="147536" y="164135"/>
                    </a:lnTo>
                    <a:lnTo>
                      <a:pt x="146990" y="163881"/>
                    </a:lnTo>
                    <a:lnTo>
                      <a:pt x="146418" y="163601"/>
                    </a:lnTo>
                    <a:lnTo>
                      <a:pt x="145910" y="163297"/>
                    </a:lnTo>
                    <a:lnTo>
                      <a:pt x="145351" y="162966"/>
                    </a:lnTo>
                    <a:lnTo>
                      <a:pt x="144805" y="162560"/>
                    </a:lnTo>
                    <a:lnTo>
                      <a:pt x="144348" y="162217"/>
                    </a:lnTo>
                    <a:cubicBezTo>
                      <a:pt x="144026" y="161953"/>
                      <a:pt x="143716" y="161673"/>
                      <a:pt x="143421" y="161379"/>
                    </a:cubicBezTo>
                    <a:lnTo>
                      <a:pt x="109042" y="127000"/>
                    </a:lnTo>
                    <a:lnTo>
                      <a:pt x="25400" y="127000"/>
                    </a:lnTo>
                    <a:cubicBezTo>
                      <a:pt x="11372" y="127000"/>
                      <a:pt x="0" y="115628"/>
                      <a:pt x="0" y="1016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39700" y="0"/>
                    </a:lnTo>
                    <a:cubicBezTo>
                      <a:pt x="153728" y="0"/>
                      <a:pt x="165100" y="11372"/>
                      <a:pt x="165100" y="25400"/>
                    </a:cubicBezTo>
                    <a:lnTo>
                      <a:pt x="165100" y="152400"/>
                    </a:lnTo>
                    <a:cubicBezTo>
                      <a:pt x="165101" y="154069"/>
                      <a:pt x="164773" y="155722"/>
                      <a:pt x="164135" y="157264"/>
                    </a:cubicBezTo>
                    <a:lnTo>
                      <a:pt x="163881" y="157810"/>
                    </a:lnTo>
                    <a:lnTo>
                      <a:pt x="163601" y="158382"/>
                    </a:lnTo>
                    <a:lnTo>
                      <a:pt x="163297" y="158890"/>
                    </a:lnTo>
                    <a:lnTo>
                      <a:pt x="162966" y="159448"/>
                    </a:lnTo>
                    <a:lnTo>
                      <a:pt x="162560" y="159995"/>
                    </a:lnTo>
                    <a:lnTo>
                      <a:pt x="162217" y="160452"/>
                    </a:lnTo>
                    <a:cubicBezTo>
                      <a:pt x="160354" y="162726"/>
                      <a:pt x="157760" y="164284"/>
                      <a:pt x="154876" y="164859"/>
                    </a:cubicBezTo>
                    <a:lnTo>
                      <a:pt x="154216" y="164960"/>
                    </a:lnTo>
                    <a:lnTo>
                      <a:pt x="153657" y="165036"/>
                    </a:lnTo>
                    <a:cubicBezTo>
                      <a:pt x="152821" y="165120"/>
                      <a:pt x="151979" y="165120"/>
                      <a:pt x="151143" y="1650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578350" y="3876662"/>
                <a:ext cx="165100" cy="169393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9393">
                    <a:moveTo>
                      <a:pt x="63500" y="0"/>
                    </a:moveTo>
                    <a:lnTo>
                      <a:pt x="63500" y="12713"/>
                    </a:lnTo>
                    <a:cubicBezTo>
                      <a:pt x="63500" y="40769"/>
                      <a:pt x="86244" y="63513"/>
                      <a:pt x="114300" y="63513"/>
                    </a:cubicBezTo>
                    <a:lnTo>
                      <a:pt x="165100" y="63513"/>
                    </a:lnTo>
                    <a:lnTo>
                      <a:pt x="165100" y="101613"/>
                    </a:lnTo>
                    <a:cubicBezTo>
                      <a:pt x="165100" y="115641"/>
                      <a:pt x="153728" y="127013"/>
                      <a:pt x="139700" y="127013"/>
                    </a:cubicBezTo>
                    <a:lnTo>
                      <a:pt x="56058" y="127013"/>
                    </a:lnTo>
                    <a:lnTo>
                      <a:pt x="21679" y="161392"/>
                    </a:lnTo>
                    <a:cubicBezTo>
                      <a:pt x="13678" y="169393"/>
                      <a:pt x="0" y="163728"/>
                      <a:pt x="0" y="152413"/>
                    </a:cubicBezTo>
                    <a:lnTo>
                      <a:pt x="0" y="25413"/>
                    </a:lnTo>
                    <a:cubicBezTo>
                      <a:pt x="0" y="11385"/>
                      <a:pt x="11372" y="13"/>
                      <a:pt x="25400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4981575" y="3762375"/>
              <a:ext cx="45696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⑥ RCA + 4 阶段 Mitigation + Slack 自主投递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87290" y="4134802"/>
              <a:ext cx="50873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5000"/>
                    </a:srgbClr>
                  </a:solidFill>
                  <a:latin typeface="Arial"/>
                  <a:ea typeface="Microsoft YaHei"/>
                  <a:cs typeface="Arial"/>
                </a:rPr>
                <a:t>Investigation started → Pod ImagePullBackOff → kubectl rollout undo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88242" y="4333399"/>
              <a:ext cx="38980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 val="85000"/>
                    </a:srgbClr>
                  </a:solidFill>
                  <a:latin typeface="Arial"/>
                  <a:ea typeface="Microsoft YaHei"/>
                  <a:cs typeface="Arial"/>
                </a:rPr>
                <a:t>每条命令带 rollback + approval contract，等用户单步授权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59118" y="5095875"/>
            <a:ext cx="11061382" cy="330994"/>
            <a:chOff x="559118" y="5095875"/>
            <a:chExt cx="11061382" cy="330994"/>
          </a:xfrm>
        </p:grpSpPr>
        <p:sp>
          <p:nvSpPr>
            <p:cNvPr id="40" name="Line 40"/>
            <p:cNvSpPr/>
            <p:nvPr/>
          </p:nvSpPr>
          <p:spPr>
            <a:xfrm>
              <a:off x="571500" y="5143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2D374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59118" y="522874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T+0s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0118" y="52287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注入故障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14375" y="5095875"/>
              <a:ext cx="95250" cy="95250"/>
            </a:xfrm>
            <a:prstGeom prst="ellipse">
              <a:avLst/>
            </a:prstGeom>
            <a:solidFill>
              <a:srgbClr val="F4433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511742" y="522874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T+30s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940368" y="5228749"/>
              <a:ext cx="15057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Pod ImagePullBackOff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2667000" y="5095875"/>
              <a:ext cx="95250" cy="95250"/>
            </a:xfrm>
            <a:prstGeom prst="ellipse">
              <a:avLst/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845368" y="522874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T+90s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273992" y="5228749"/>
              <a:ext cx="1007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Alarm + Bridge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5000625" y="5095875"/>
              <a:ext cx="95250" cy="952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40868" y="522874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T+93s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69492" y="5228749"/>
              <a:ext cx="10286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Agent 自主接管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096125" y="5095875"/>
              <a:ext cx="95250" cy="95250"/>
            </a:xfrm>
            <a:prstGeom prst="ellipse">
              <a:avLst/>
            </a:prstGeom>
            <a:solidFill>
              <a:srgbClr val="42A5F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607868" y="5228749"/>
              <a:ext cx="5302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T+12min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226992" y="5228749"/>
              <a:ext cx="6452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RCA Done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9763125" y="5095875"/>
              <a:ext cx="95250" cy="95250"/>
            </a:xfrm>
            <a:prstGeom prst="ellipse">
              <a:avLst/>
            </a:prstGeom>
            <a:solidFill>
              <a:srgbClr val="4CAF50"/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571500" y="5715000"/>
            <a:ext cx="11049000" cy="709612"/>
            <a:chOff x="571500" y="5715000"/>
            <a:chExt cx="11049000" cy="709612"/>
          </a:xfrm>
        </p:grpSpPr>
        <p:sp>
          <p:nvSpPr>
            <p:cNvPr id="57" name="Rectangle 57"/>
            <p:cNvSpPr/>
            <p:nvPr/>
          </p:nvSpPr>
          <p:spPr>
            <a:xfrm>
              <a:off x="571500" y="5715000"/>
              <a:ext cx="11049000" cy="704850"/>
            </a:xfrm>
            <a:prstGeom prst="roundRect">
              <a:avLst>
                <a:gd name="adj" fmla="val 13514"/>
              </a:avLst>
            </a:prstGeom>
            <a:solidFill>
              <a:srgbClr val="1A2332"/>
            </a:solidFill>
            <a:ln w="9525">
              <a:solidFill>
                <a:srgbClr val="FF9800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800100" y="5962650"/>
              <a:ext cx="152400" cy="190500"/>
            </a:xfrm>
            <a:custGeom>
              <a:avLst/>
              <a:gdLst/>
              <a:ahLst/>
              <a:cxnLst/>
              <a:rect l="l" t="t" r="r" b="b"/>
              <a:pathLst>
                <a:path w="152400" h="190500">
                  <a:moveTo>
                    <a:pt x="76200" y="0"/>
                  </a:moveTo>
                  <a:cubicBezTo>
                    <a:pt x="102503" y="0"/>
                    <a:pt x="123825" y="21322"/>
                    <a:pt x="123825" y="47625"/>
                  </a:cubicBezTo>
                  <a:lnTo>
                    <a:pt x="123825" y="76200"/>
                  </a:lnTo>
                  <a:cubicBezTo>
                    <a:pt x="139607" y="76200"/>
                    <a:pt x="152400" y="88993"/>
                    <a:pt x="152400" y="104775"/>
                  </a:cubicBezTo>
                  <a:lnTo>
                    <a:pt x="152400" y="161925"/>
                  </a:lnTo>
                  <a:cubicBezTo>
                    <a:pt x="152400" y="177707"/>
                    <a:pt x="139607" y="190500"/>
                    <a:pt x="123825" y="190500"/>
                  </a:cubicBezTo>
                  <a:lnTo>
                    <a:pt x="28575" y="190500"/>
                  </a:lnTo>
                  <a:cubicBezTo>
                    <a:pt x="12793" y="190500"/>
                    <a:pt x="0" y="177707"/>
                    <a:pt x="0" y="161925"/>
                  </a:cubicBezTo>
                  <a:lnTo>
                    <a:pt x="0" y="104775"/>
                  </a:lnTo>
                  <a:cubicBezTo>
                    <a:pt x="0" y="88993"/>
                    <a:pt x="12793" y="76200"/>
                    <a:pt x="28575" y="76200"/>
                  </a:cubicBezTo>
                  <a:lnTo>
                    <a:pt x="28575" y="47625"/>
                  </a:lnTo>
                  <a:cubicBezTo>
                    <a:pt x="28575" y="21322"/>
                    <a:pt x="49897" y="0"/>
                    <a:pt x="76200" y="0"/>
                  </a:cubicBezTo>
                  <a:moveTo>
                    <a:pt x="76200" y="114300"/>
                  </a:moveTo>
                  <a:cubicBezTo>
                    <a:pt x="66231" y="114297"/>
                    <a:pt x="57945" y="121980"/>
                    <a:pt x="57198" y="131921"/>
                  </a:cubicBezTo>
                  <a:lnTo>
                    <a:pt x="57150" y="133350"/>
                  </a:lnTo>
                  <a:cubicBezTo>
                    <a:pt x="57150" y="143871"/>
                    <a:pt x="65679" y="152400"/>
                    <a:pt x="76200" y="152400"/>
                  </a:cubicBezTo>
                  <a:cubicBezTo>
                    <a:pt x="86721" y="152400"/>
                    <a:pt x="95250" y="143871"/>
                    <a:pt x="95250" y="133350"/>
                  </a:cubicBezTo>
                  <a:cubicBezTo>
                    <a:pt x="95250" y="122829"/>
                    <a:pt x="86721" y="114300"/>
                    <a:pt x="76200" y="114300"/>
                  </a:cubicBezTo>
                  <a:moveTo>
                    <a:pt x="76200" y="19050"/>
                  </a:moveTo>
                  <a:cubicBezTo>
                    <a:pt x="60418" y="19050"/>
                    <a:pt x="47625" y="31843"/>
                    <a:pt x="47625" y="47625"/>
                  </a:cubicBezTo>
                  <a:lnTo>
                    <a:pt x="47625" y="76200"/>
                  </a:lnTo>
                  <a:lnTo>
                    <a:pt x="104775" y="76200"/>
                  </a:lnTo>
                  <a:lnTo>
                    <a:pt x="104775" y="47625"/>
                  </a:lnTo>
                  <a:cubicBezTo>
                    <a:pt x="104775" y="31843"/>
                    <a:pt x="91982" y="19050"/>
                    <a:pt x="76200" y="19050"/>
                  </a:cubicBezTo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108710" y="5947410"/>
              <a:ext cx="16590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Approval Contract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10615" y="6211252"/>
              <a:ext cx="80623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Mitigation 命令 </a:t>
              </a:r>
              <a:r>
                <a:rPr lang="zh-CN" sz="1050" b="1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不会自动执行</a:t>
              </a:r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 — 每步等用户输入 "approve step N" 才动；这是 Skill 的 hard rule，抗 LLM 语义漂移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266622" y="667369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11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21" grpId="0"/>
      <p:bldP spid="26" grpId="0"/>
      <p:bldP spid="31" grpId="0"/>
      <p:bldP spid="39" grpId="0"/>
      <p:bldP spid="56" grpId="0"/>
      <p:bldP spid="6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7210" y="476250"/>
            <a:ext cx="6362167" cy="1000125"/>
            <a:chOff x="537210" y="476250"/>
            <a:chExt cx="6362167" cy="1000125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C1 · 现场证据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636216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不是手画占位 — 是</a:t>
              </a:r>
              <a:r>
                <a:rPr lang="zh-CN" sz="27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真 agent</a:t>
              </a:r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真截图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1809750"/>
            <a:ext cx="5524500" cy="2095500"/>
            <a:chOff x="571500" y="1809750"/>
            <a:chExt cx="5524500" cy="2095500"/>
          </a:xfrm>
        </p:grpSpPr>
        <p:sp>
          <p:nvSpPr>
            <p:cNvPr id="7" name="Rectangle 7"/>
            <p:cNvSpPr/>
            <p:nvPr/>
          </p:nvSpPr>
          <p:spPr>
            <a:xfrm>
              <a:off x="571500" y="1809750"/>
              <a:ext cx="5524500" cy="2095500"/>
            </a:xfrm>
            <a:prstGeom prst="roundRect">
              <a:avLst>
                <a:gd name="adj" fmla="val 4545"/>
              </a:avLst>
            </a:prstGeom>
            <a:solidFill>
              <a:srgbClr val="1A2332"/>
            </a:solidFill>
            <a:ln w="9525">
              <a:solidFill>
                <a:srgbClr val="2D3748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1962150"/>
              <a:ext cx="5219700" cy="131445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709612" y="3450431"/>
              <a:ext cx="3893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① kubectl 终端：3 Running + 1 ImagePullBackOff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1518" y="3666649"/>
              <a:ext cx="40261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L6 注入 30 秒后，新 pod 卡在 ImagePullBackOff（红字证据）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86500" y="1809750"/>
            <a:ext cx="5334000" cy="2095500"/>
            <a:chOff x="6286500" y="1809750"/>
            <a:chExt cx="53340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809750"/>
              <a:ext cx="5334000" cy="2095500"/>
            </a:xfrm>
            <a:prstGeom prst="roundRect">
              <a:avLst>
                <a:gd name="adj" fmla="val 4545"/>
              </a:avLst>
            </a:prstGeom>
            <a:solidFill>
              <a:srgbClr val="1A2332"/>
            </a:solidFill>
            <a:ln w="9525">
              <a:solidFill>
                <a:srgbClr val="2D3748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44325" y="1962150"/>
              <a:ext cx="2418350" cy="14097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6424612" y="3450431"/>
              <a:ext cx="30131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② CloudWatch Alarm 跳变 OK → ALARM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26518" y="3666649"/>
              <a:ext cx="34565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告警状态条从绿色翻红色（pod_status_pending ≥ 1）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4095750"/>
            <a:ext cx="5524500" cy="2286000"/>
            <a:chOff x="571500" y="4095750"/>
            <a:chExt cx="5524500" cy="2286000"/>
          </a:xfrm>
        </p:grpSpPr>
        <p:sp>
          <p:nvSpPr>
            <p:cNvPr id="17" name="Rectangle 17"/>
            <p:cNvSpPr/>
            <p:nvPr/>
          </p:nvSpPr>
          <p:spPr>
            <a:xfrm>
              <a:off x="571500" y="4095750"/>
              <a:ext cx="5524500" cy="2286000"/>
            </a:xfrm>
            <a:prstGeom prst="roundRect">
              <a:avLst>
                <a:gd name="adj" fmla="val 4167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54009" y="4248150"/>
              <a:ext cx="2559482" cy="148590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709612" y="5879306"/>
              <a:ext cx="35221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③ RCA 报告 — 调查摘要 + 根本原因 + 主要发现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1518" y="6105049"/>
              <a:ext cx="43964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"image tag v1.2.4-DOES-NOT-EXIST 拉取失败" — 引用具体 commit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86500" y="4095750"/>
            <a:ext cx="5334000" cy="2286000"/>
            <a:chOff x="6286500" y="4095750"/>
            <a:chExt cx="5334000" cy="2286000"/>
          </a:xfrm>
        </p:grpSpPr>
        <p:sp>
          <p:nvSpPr>
            <p:cNvPr id="22" name="Rectangle 22"/>
            <p:cNvSpPr/>
            <p:nvPr/>
          </p:nvSpPr>
          <p:spPr>
            <a:xfrm>
              <a:off x="6286500" y="4095750"/>
              <a:ext cx="5334000" cy="2286000"/>
            </a:xfrm>
            <a:prstGeom prst="roundRect">
              <a:avLst>
                <a:gd name="adj" fmla="val 4167"/>
              </a:avLst>
            </a:prstGeom>
            <a:solidFill>
              <a:srgbClr val="1A2332"/>
            </a:solidFill>
            <a:ln w="14288">
              <a:solidFill>
                <a:srgbClr val="4CAF50"/>
              </a:solidFill>
            </a:ln>
          </p:spPr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88352" y="4248150"/>
              <a:ext cx="2530297" cy="1485900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6424612" y="5879306"/>
              <a:ext cx="40828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CAF50"/>
                  </a:solidFill>
                  <a:latin typeface="Arial"/>
                  <a:ea typeface="SimHei"/>
                  <a:cs typeface="Arial"/>
                </a:rPr>
                <a:t>④ Slack — agent 自主投递 "Investigation started"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6518" y="6105049"/>
              <a:ext cx="37200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12:17 BJ — 凌晨 3 点 on-call 工程师没醒，agent 已经接手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61022" y="6521291"/>
            <a:ext cx="11069956" cy="167640"/>
            <a:chOff x="561022" y="6521291"/>
            <a:chExt cx="11069956" cy="167640"/>
          </a:xfrm>
        </p:grpSpPr>
        <p:sp>
          <p:nvSpPr>
            <p:cNvPr id="27" name="TextBox 27"/>
            <p:cNvSpPr txBox="1"/>
            <p:nvPr/>
          </p:nvSpPr>
          <p:spPr>
            <a:xfrm>
              <a:off x="561022" y="6521291"/>
              <a:ext cx="49369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所有截图保存于 blog/screenshots/case-1-*.png · 完整 7 张存档于 cli-evidence/case1/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36500" y="65212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12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21" grpId="0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41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F9800">
                    <a:alpha val="22000"/>
                  </a:srgbClr>
                </a:gs>
                <a:gs pos="100000">
                  <a:srgbClr val="FF98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209550" y="-409575"/>
            <a:ext cx="11049000" cy="5791200"/>
            <a:chOff x="209550" y="-409575"/>
            <a:chExt cx="11049000" cy="5791200"/>
          </a:xfrm>
        </p:grpSpPr>
        <p:sp>
          <p:nvSpPr>
            <p:cNvPr id="5" name="TextBox 5"/>
            <p:cNvSpPr txBox="1"/>
            <p:nvPr/>
          </p:nvSpPr>
          <p:spPr>
            <a:xfrm>
              <a:off x="209550" y="-409575"/>
              <a:ext cx="5531501" cy="5791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0" b="1" dirty="0">
                  <a:solidFill>
                    <a:srgbClr val="FF9800">
                      <a:alpha val="10000"/>
                    </a:srgbClr>
                  </a:solidFill>
                  <a:latin typeface="Arial"/>
                  <a:ea typeface="SimHei"/>
                  <a:cs typeface="Arial"/>
                </a:rPr>
                <a:t>C2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5143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rgbClr val="FF9800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0829925" y="1495425"/>
              <a:ext cx="57150" cy="57150"/>
            </a:xfrm>
            <a:prstGeom prst="ellipse">
              <a:avLst/>
            </a:prstGeom>
            <a:solidFill>
              <a:srgbClr val="FF9800">
                <a:alpha val="6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220450" y="2076450"/>
              <a:ext cx="38100" cy="38100"/>
            </a:xfrm>
            <a:prstGeom prst="ellipse">
              <a:avLst/>
            </a:prstGeom>
            <a:solidFill>
              <a:srgbClr val="42A5F5">
                <a:alpha val="50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96898" y="1496086"/>
            <a:ext cx="2845951" cy="313664"/>
            <a:chOff x="596898" y="1496086"/>
            <a:chExt cx="2845951" cy="313664"/>
          </a:xfrm>
        </p:grpSpPr>
        <p:sp>
          <p:nvSpPr>
            <p:cNvPr id="10" name="Freeform 10"/>
            <p:cNvSpPr/>
            <p:nvPr/>
          </p:nvSpPr>
          <p:spPr>
            <a:xfrm>
              <a:off x="596898" y="1496086"/>
              <a:ext cx="267422" cy="268466"/>
            </a:xfrm>
            <a:custGeom>
              <a:avLst/>
              <a:gdLst/>
              <a:ahLst/>
              <a:cxnLst/>
              <a:rect l="l" t="t" r="r" b="b"/>
              <a:pathLst>
                <a:path w="267422" h="268466">
                  <a:moveTo>
                    <a:pt x="190502" y="22707"/>
                  </a:moveTo>
                  <a:cubicBezTo>
                    <a:pt x="243877" y="53523"/>
                    <a:pt x="267422" y="118214"/>
                    <a:pt x="246342" y="176130"/>
                  </a:cubicBezTo>
                  <a:cubicBezTo>
                    <a:pt x="225262" y="234045"/>
                    <a:pt x="165642" y="268466"/>
                    <a:pt x="104946" y="257762"/>
                  </a:cubicBezTo>
                  <a:cubicBezTo>
                    <a:pt x="44250" y="247059"/>
                    <a:pt x="0" y="194322"/>
                    <a:pt x="2" y="132689"/>
                  </a:cubicBezTo>
                  <a:lnTo>
                    <a:pt x="65" y="128574"/>
                  </a:lnTo>
                  <a:cubicBezTo>
                    <a:pt x="1512" y="83959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2" y="22707"/>
                  </a:cubicBezTo>
                  <a:moveTo>
                    <a:pt x="121909" y="144322"/>
                  </a:moveTo>
                  <a:lnTo>
                    <a:pt x="122569" y="144589"/>
                  </a:lnTo>
                  <a:lnTo>
                    <a:pt x="123585" y="144919"/>
                  </a:lnTo>
                  <a:lnTo>
                    <a:pt x="124601" y="145160"/>
                  </a:lnTo>
                  <a:lnTo>
                    <a:pt x="125516" y="145300"/>
                  </a:lnTo>
                  <a:lnTo>
                    <a:pt x="127002" y="145389"/>
                  </a:lnTo>
                  <a:lnTo>
                    <a:pt x="127967" y="145351"/>
                  </a:lnTo>
                  <a:lnTo>
                    <a:pt x="129681" y="145097"/>
                  </a:lnTo>
                  <a:lnTo>
                    <a:pt x="130723" y="144843"/>
                  </a:lnTo>
                  <a:lnTo>
                    <a:pt x="132031" y="144347"/>
                  </a:lnTo>
                  <a:lnTo>
                    <a:pt x="132958" y="143903"/>
                  </a:lnTo>
                  <a:lnTo>
                    <a:pt x="133948" y="143319"/>
                  </a:lnTo>
                  <a:lnTo>
                    <a:pt x="134710" y="142785"/>
                  </a:lnTo>
                  <a:lnTo>
                    <a:pt x="135726" y="141909"/>
                  </a:lnTo>
                  <a:lnTo>
                    <a:pt x="136781" y="140791"/>
                  </a:lnTo>
                  <a:lnTo>
                    <a:pt x="137568" y="139737"/>
                  </a:lnTo>
                  <a:lnTo>
                    <a:pt x="162968" y="101637"/>
                  </a:lnTo>
                  <a:cubicBezTo>
                    <a:pt x="166861" y="95802"/>
                    <a:pt x="165286" y="87915"/>
                    <a:pt x="159450" y="84022"/>
                  </a:cubicBezTo>
                  <a:cubicBezTo>
                    <a:pt x="153614" y="80130"/>
                    <a:pt x="145728" y="81705"/>
                    <a:pt x="141835" y="87540"/>
                  </a:cubicBezTo>
                  <a:lnTo>
                    <a:pt x="139702" y="90728"/>
                  </a:lnTo>
                  <a:lnTo>
                    <a:pt x="139702" y="69189"/>
                  </a:lnTo>
                  <a:cubicBezTo>
                    <a:pt x="139701" y="62750"/>
                    <a:pt x="134882" y="57331"/>
                    <a:pt x="128487" y="56578"/>
                  </a:cubicBezTo>
                  <a:lnTo>
                    <a:pt x="127002" y="56489"/>
                  </a:lnTo>
                  <a:cubicBezTo>
                    <a:pt x="119988" y="56489"/>
                    <a:pt x="114302" y="62175"/>
                    <a:pt x="114302" y="69189"/>
                  </a:cubicBezTo>
                  <a:lnTo>
                    <a:pt x="114302" y="133019"/>
                  </a:lnTo>
                  <a:lnTo>
                    <a:pt x="114416" y="134353"/>
                  </a:lnTo>
                  <a:lnTo>
                    <a:pt x="114670" y="135711"/>
                  </a:lnTo>
                  <a:lnTo>
                    <a:pt x="115178" y="137350"/>
                  </a:lnTo>
                  <a:lnTo>
                    <a:pt x="115787" y="138645"/>
                  </a:lnTo>
                  <a:lnTo>
                    <a:pt x="116372" y="139636"/>
                  </a:lnTo>
                  <a:lnTo>
                    <a:pt x="116905" y="140398"/>
                  </a:lnTo>
                  <a:lnTo>
                    <a:pt x="117781" y="141414"/>
                  </a:lnTo>
                  <a:lnTo>
                    <a:pt x="118899" y="142468"/>
                  </a:lnTo>
                  <a:lnTo>
                    <a:pt x="119953" y="143255"/>
                  </a:lnTo>
                  <a:lnTo>
                    <a:pt x="121096" y="143928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7260" y="1565910"/>
              <a:ext cx="25055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CASE 2 · TIME-ANCHORED RCA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95300" y="2400300"/>
            <a:ext cx="8571452" cy="1981200"/>
            <a:chOff x="495300" y="2400300"/>
            <a:chExt cx="8571452" cy="1981200"/>
          </a:xfrm>
        </p:grpSpPr>
        <p:sp>
          <p:nvSpPr>
            <p:cNvPr id="13" name="TextBox 13"/>
            <p:cNvSpPr txBox="1"/>
            <p:nvPr/>
          </p:nvSpPr>
          <p:spPr>
            <a:xfrm>
              <a:off x="495300" y="2400300"/>
              <a:ext cx="8571452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时间锚定 + 跨源关联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5300" y="3162300"/>
              <a:ext cx="6547199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gradFill>
                    <a:gsLst>
                      <a:gs pos="0">
                        <a:srgbClr val="FF9800"/>
                      </a:gs>
                      <a:gs pos="100000">
                        <a:srgbClr val="FFB74D"/>
                      </a:gs>
                    </a:gsLst>
                    <a:lin ang="0" scaled="1"/>
                  </a:gradFill>
                  <a:latin typeface="Arial"/>
                  <a:ea typeface="SimHei"/>
                  <a:cs typeface="Arial"/>
                </a:rPr>
                <a:t>精确到秒的 RCA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50545" y="4381500"/>
            <a:ext cx="7909989" cy="804862"/>
            <a:chOff x="550545" y="4381500"/>
            <a:chExt cx="7909989" cy="804862"/>
          </a:xfrm>
        </p:grpSpPr>
        <p:sp>
          <p:nvSpPr>
            <p:cNvPr id="16" name="Line 16"/>
            <p:cNvSpPr/>
            <p:nvPr/>
          </p:nvSpPr>
          <p:spPr>
            <a:xfrm>
              <a:off x="571500" y="43815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8575">
              <a:solidFill>
                <a:srgbClr val="FF980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50545" y="4584382"/>
              <a:ext cx="510254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ALB p99 突变点 → 锚到 k8s pod 创建 </a:t>
              </a:r>
              <a:r>
                <a:rPr lang="zh-CN" sz="16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05:19:19Z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0545" y="4851082"/>
              <a:ext cx="790998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同时关联 ALB metric / RDS CPU / Pod logs / CloudTrail 事件 — 完整跨源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5524500"/>
            <a:ext cx="7239000" cy="762000"/>
            <a:chOff x="571500" y="5524500"/>
            <a:chExt cx="7239000" cy="762000"/>
          </a:xfrm>
        </p:grpSpPr>
        <p:grpSp>
          <p:nvGrpSpPr>
            <p:cNvPr id="24" name="Group 24"/>
            <p:cNvGrpSpPr/>
            <p:nvPr/>
          </p:nvGrpSpPr>
          <p:grpSpPr>
            <a:xfrm>
              <a:off x="571500" y="5524500"/>
              <a:ext cx="2318194" cy="762000"/>
              <a:chOff x="571500" y="5524500"/>
              <a:chExt cx="2318194" cy="762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5715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FF9800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1520" y="5627370"/>
                <a:ext cx="465811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98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91565" y="5773102"/>
                <a:ext cx="100812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次 cn API 调用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50570" y="6046470"/>
                <a:ext cx="213912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单次 incident · 100% 经 MCP Bridge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3048000" y="5524500"/>
              <a:ext cx="2594229" cy="762000"/>
              <a:chOff x="3048000" y="5524500"/>
              <a:chExt cx="2594229" cy="7620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30480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42A5F5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3208020" y="5627370"/>
                <a:ext cx="263385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5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453765" y="5773102"/>
                <a:ext cx="13378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个 sub-agent 并行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227070" y="6046470"/>
                <a:ext cx="241515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alb · eks · rds · cloudtrail · pod-logs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524500" y="5524500"/>
              <a:ext cx="2286000" cy="762000"/>
              <a:chOff x="5524500" y="5524500"/>
              <a:chExt cx="2286000" cy="7620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5245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4CAF50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5684520" y="5627370"/>
                <a:ext cx="263385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4CAF50"/>
                    </a:solidFill>
                    <a:latin typeface="Arial"/>
                    <a:ea typeface="SimHei"/>
                    <a:cs typeface="Arial"/>
                  </a:rPr>
                  <a:t>3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930265" y="5773102"/>
                <a:ext cx="13455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个 cause + 6+ 观察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703570" y="6046470"/>
                <a:ext cx="182365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根因层级清晰 · 9 分 49 秒完成</a:t>
                </a:r>
              </a:p>
            </p:txBody>
          </p:sp>
        </p:grpSp>
      </p:grpSp>
      <p:sp>
        <p:nvSpPr>
          <p:cNvPr id="36" name="TextBox 36"/>
          <p:cNvSpPr txBox="1"/>
          <p:nvPr/>
        </p:nvSpPr>
        <p:spPr>
          <a:xfrm>
            <a:off x="11236500" y="652129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13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9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76250"/>
            <a:ext cx="5268811" cy="971550"/>
            <a:chOff x="541020" y="476250"/>
            <a:chExt cx="5268811" cy="97155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20313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C2 · 13 分钟 → 3 cause 锁定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1020" y="960120"/>
              <a:ext cx="526881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关键数据 + Agent 自己写的 RCA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1500" y="1619250"/>
            <a:ext cx="4095750" cy="4705350"/>
            <a:chOff x="571500" y="1619250"/>
            <a:chExt cx="4095750" cy="4705350"/>
          </a:xfrm>
        </p:grpSpPr>
        <p:grpSp>
          <p:nvGrpSpPr>
            <p:cNvPr id="12" name="Group 12"/>
            <p:cNvGrpSpPr/>
            <p:nvPr/>
          </p:nvGrpSpPr>
          <p:grpSpPr>
            <a:xfrm>
              <a:off x="571500" y="1619250"/>
              <a:ext cx="4095750" cy="1123950"/>
              <a:chOff x="571500" y="1619250"/>
              <a:chExt cx="4095750" cy="11239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619250"/>
                <a:ext cx="4095750" cy="1123950"/>
              </a:xfrm>
              <a:prstGeom prst="roundRect">
                <a:avLst>
                  <a:gd name="adj" fmla="val 8475"/>
                </a:avLst>
              </a:prstGeom>
              <a:solidFill>
                <a:srgbClr val="1A2332"/>
              </a:solidFill>
              <a:ln w="14288">
                <a:solidFill>
                  <a:srgbClr val="F44336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49618" y="1799749"/>
                <a:ext cx="6901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SYMPTOM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45808" y="2053114"/>
                <a:ext cx="295547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bjs-web-p99-latency-high 触发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49618" y="2333149"/>
                <a:ext cx="24597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ALB p99 TargetResponseTime &gt; 0.5s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50570" y="2531745"/>
                <a:ext cx="151476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9800"/>
                    </a:solidFill>
                    <a:latin typeface="Consolas"/>
                    <a:ea typeface="Microsoft YaHei"/>
                    <a:cs typeface="Consolas"/>
                  </a:rPr>
                  <a:t>@ 2026-05-14 05:23:53Z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71500" y="2895600"/>
              <a:ext cx="4095750" cy="1123950"/>
              <a:chOff x="571500" y="2895600"/>
              <a:chExt cx="4095750" cy="11239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71500" y="2895600"/>
                <a:ext cx="4095750" cy="1123950"/>
              </a:xfrm>
              <a:prstGeom prst="roundRect">
                <a:avLst>
                  <a:gd name="adj" fmla="val 8475"/>
                </a:avLst>
              </a:prstGeom>
              <a:solidFill>
                <a:srgbClr val="1A2332"/>
              </a:solidFill>
              <a:ln w="14288">
                <a:solidFill>
                  <a:srgbClr val="FF9800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49618" y="3076099"/>
                <a:ext cx="10414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★ TIME ANCHOR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45808" y="3329464"/>
                <a:ext cx="292614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 xml:space="preserve">c2-load-gen Pod 创建 </a:t>
                </a:r>
                <a:r>
                  <a:rPr lang="zh-CN" sz="1275" b="1" dirty="0">
                    <a:solidFill>
                      <a:srgbClr val="FF9800"/>
                    </a:solidFill>
                    <a:latin typeface="Consolas"/>
                    <a:ea typeface="Microsoft YaHei"/>
                    <a:cs typeface="Consolas"/>
                  </a:rPr>
                  <a:t>05:19:19Z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49618" y="3609499"/>
                <a:ext cx="211802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= ALB p99 0.33s → 0.74s 突变点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50570" y="3808095"/>
                <a:ext cx="177107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i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"精确吻合" — agent 自己写的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71500" y="4171950"/>
              <a:ext cx="4095750" cy="1123950"/>
              <a:chOff x="571500" y="4171950"/>
              <a:chExt cx="4095750" cy="11239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71500" y="4171950"/>
                <a:ext cx="4095750" cy="1123950"/>
              </a:xfrm>
              <a:prstGeom prst="roundRect">
                <a:avLst>
                  <a:gd name="adj" fmla="val 8475"/>
                </a:avLst>
              </a:prstGeom>
              <a:solidFill>
                <a:srgbClr val="1A2332"/>
              </a:solidFill>
              <a:ln w="14288">
                <a:solidFill>
                  <a:srgbClr val="42A5F5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49618" y="4352449"/>
                <a:ext cx="8695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42A5F5"/>
                    </a:solidFill>
                    <a:latin typeface="Arial"/>
                    <a:ea typeface="Microsoft YaHei"/>
                    <a:cs typeface="Arial"/>
                  </a:rPr>
                  <a:t>ROOT CAUSE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45808" y="4605814"/>
                <a:ext cx="275017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合成负载 ~26K req/min 超容量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49618" y="4885849"/>
                <a:ext cx="18759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+ RDS db.t3.micro CPU 100%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49618" y="5076349"/>
                <a:ext cx="186170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+ users.search 走 SeqScan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71500" y="5448300"/>
              <a:ext cx="4095750" cy="876300"/>
              <a:chOff x="571500" y="5448300"/>
              <a:chExt cx="4095750" cy="8763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571500" y="5448300"/>
                <a:ext cx="4095750" cy="876300"/>
              </a:xfrm>
              <a:prstGeom prst="roundRect">
                <a:avLst>
                  <a:gd name="adj" fmla="val 10870"/>
                </a:avLst>
              </a:prstGeom>
              <a:solidFill>
                <a:srgbClr val="1A2332"/>
              </a:solidFill>
              <a:ln w="14288">
                <a:solidFill>
                  <a:srgbClr val="4CAF50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49618" y="5628799"/>
                <a:ext cx="149004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SUB-AGENTS &amp; TOOLS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49618" y="5895499"/>
                <a:ext cx="261642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alb · eks · rds · cloudtrail · pod-logs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49618" y="6105049"/>
                <a:ext cx="260930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9800"/>
                    </a:solidFill>
                    <a:latin typeface="Consolas"/>
                    <a:ea typeface="Microsoft YaHei"/>
                    <a:cs typeface="Consolas"/>
                  </a:rPr>
                  <a:t>→ 98 calls via aws_cn_2_mcp_call_aws</a:t>
                </a:r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4953000" y="1619250"/>
            <a:ext cx="6667500" cy="4705350"/>
            <a:chOff x="4953000" y="1619250"/>
            <a:chExt cx="6667500" cy="4705350"/>
          </a:xfrm>
        </p:grpSpPr>
        <p:sp>
          <p:nvSpPr>
            <p:cNvPr id="31" name="Rectangle 31"/>
            <p:cNvSpPr/>
            <p:nvPr/>
          </p:nvSpPr>
          <p:spPr>
            <a:xfrm>
              <a:off x="4953000" y="1619250"/>
              <a:ext cx="6667500" cy="4705350"/>
            </a:xfrm>
            <a:prstGeom prst="roundRect">
              <a:avLst>
                <a:gd name="adj" fmla="val 2429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69810" y="1809750"/>
              <a:ext cx="3633880" cy="4333875"/>
            </a:xfrm>
            <a:prstGeom prst="rect">
              <a:avLst/>
            </a:prstGeom>
          </p:spPr>
        </p:pic>
      </p:grpSp>
      <p:grpSp>
        <p:nvGrpSpPr>
          <p:cNvPr id="35" name="Group 35"/>
          <p:cNvGrpSpPr/>
          <p:nvPr/>
        </p:nvGrpSpPr>
        <p:grpSpPr>
          <a:xfrm>
            <a:off x="5130165" y="6211252"/>
            <a:ext cx="3601317" cy="213360"/>
            <a:chOff x="5130165" y="6211252"/>
            <a:chExt cx="3601317" cy="213360"/>
          </a:xfrm>
        </p:grpSpPr>
        <p:sp>
          <p:nvSpPr>
            <p:cNvPr id="34" name="TextBox 34"/>
            <p:cNvSpPr txBox="1"/>
            <p:nvPr/>
          </p:nvSpPr>
          <p:spPr>
            <a:xfrm>
              <a:off x="5130165" y="6211252"/>
              <a:ext cx="36013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RCA 报告 — agent 自动生成的 3 cause + 多源观察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61022" y="6521291"/>
            <a:ext cx="11069956" cy="167640"/>
            <a:chOff x="561022" y="6521291"/>
            <a:chExt cx="11069956" cy="167640"/>
          </a:xfrm>
        </p:grpSpPr>
        <p:sp>
          <p:nvSpPr>
            <p:cNvPr id="36" name="TextBox 36"/>
            <p:cNvSpPr txBox="1"/>
            <p:nvPr/>
          </p:nvSpPr>
          <p:spPr>
            <a:xfrm>
              <a:off x="561022" y="6521291"/>
              <a:ext cx="44550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完整 journal 100 records · cli-evidence/case2/c2-journal-real.json (300 KB)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36500" y="65212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14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3" grpId="0"/>
      <p:bldP spid="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7210" y="476250"/>
            <a:ext cx="9115611" cy="1000125"/>
            <a:chOff x="537210" y="476250"/>
            <a:chExt cx="9115611" cy="1000125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20394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C2 · Sub-agent 工作量分布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911561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98 次</a:t>
              </a:r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 xml:space="preserve"> tool call — Agent 自己决定调什么、多少次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1500" y="1714500"/>
            <a:ext cx="7429500" cy="4286250"/>
            <a:chOff x="571500" y="1714500"/>
            <a:chExt cx="7429500" cy="4286250"/>
          </a:xfrm>
        </p:grpSpPr>
        <p:sp>
          <p:nvSpPr>
            <p:cNvPr id="7" name="Rectangle 7"/>
            <p:cNvSpPr/>
            <p:nvPr/>
          </p:nvSpPr>
          <p:spPr>
            <a:xfrm>
              <a:off x="571500" y="1714500"/>
              <a:ext cx="7429500" cy="4286250"/>
            </a:xfrm>
            <a:prstGeom prst="roundRect">
              <a:avLst>
                <a:gd name="adj" fmla="val 2667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1929874"/>
              <a:ext cx="7048500" cy="3874552"/>
            </a:xfrm>
            <a:prstGeom prst="rect">
              <a:avLst/>
            </a:prstGeom>
          </p:spPr>
        </p:pic>
      </p:grpSp>
      <p:grpSp>
        <p:nvGrpSpPr>
          <p:cNvPr id="40" name="Group 40"/>
          <p:cNvGrpSpPr/>
          <p:nvPr/>
        </p:nvGrpSpPr>
        <p:grpSpPr>
          <a:xfrm>
            <a:off x="8191500" y="1714500"/>
            <a:ext cx="3429000" cy="4286250"/>
            <a:chOff x="8191500" y="1714500"/>
            <a:chExt cx="3429000" cy="4286250"/>
          </a:xfrm>
        </p:grpSpPr>
        <p:sp>
          <p:nvSpPr>
            <p:cNvPr id="10" name="Rectangle 10"/>
            <p:cNvSpPr/>
            <p:nvPr/>
          </p:nvSpPr>
          <p:spPr>
            <a:xfrm>
              <a:off x="8191500" y="1714500"/>
              <a:ext cx="3429000" cy="4286250"/>
            </a:xfrm>
            <a:prstGeom prst="roundRect">
              <a:avLst>
                <a:gd name="adj" fmla="val 3333"/>
              </a:avLst>
            </a:prstGeom>
            <a:solidFill>
              <a:srgbClr val="1A2332"/>
            </a:solidFill>
            <a:ln w="9525">
              <a:solidFill>
                <a:srgbClr val="2D374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64855" y="1892618"/>
              <a:ext cx="19078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Agent 自主调用模式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8382000" y="21717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FF9800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361045" y="2298382"/>
              <a:ext cx="2028254" cy="335280"/>
              <a:chOff x="8361045" y="2298382"/>
              <a:chExt cx="2028254" cy="335280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8361045" y="229838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36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769668" y="2371249"/>
                <a:ext cx="161963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cloudwatch get-metric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8361045" y="2584132"/>
              <a:ext cx="1615298" cy="335280"/>
              <a:chOff x="8361045" y="2584132"/>
              <a:chExt cx="1615298" cy="335280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8361045" y="258413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20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769668" y="2656999"/>
                <a:ext cx="120667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logs start-query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8361045" y="2869882"/>
              <a:ext cx="2049614" cy="335280"/>
              <a:chOff x="8361045" y="2869882"/>
              <a:chExt cx="2049614" cy="335280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8361045" y="2869882"/>
                <a:ext cx="25698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19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769668" y="2942749"/>
                <a:ext cx="164099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logs get-query-results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361045" y="3155632"/>
              <a:ext cx="2135053" cy="335280"/>
              <a:chOff x="8361045" y="3155632"/>
              <a:chExt cx="2135053" cy="335280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8361045" y="3155632"/>
                <a:ext cx="19372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11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769668" y="3228499"/>
                <a:ext cx="17264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cloudtrail lookup-events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8361045" y="3441382"/>
              <a:ext cx="1797725" cy="335280"/>
              <a:chOff x="8361045" y="3441382"/>
              <a:chExt cx="1797725" cy="335280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8361045" y="3441382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674418" y="3514249"/>
                <a:ext cx="14843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eks describe-cluster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8361045" y="3727132"/>
              <a:ext cx="2182202" cy="423387"/>
              <a:chOff x="8361045" y="3727132"/>
              <a:chExt cx="2182202" cy="423387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8361045" y="3727132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9AA0A6"/>
                    </a:solidFill>
                    <a:latin typeface="Arial"/>
                    <a:ea typeface="SimHei"/>
                    <a:cs typeface="Arial"/>
                  </a:rPr>
                  <a:t>9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674418" y="3799999"/>
                <a:ext cx="186882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elbv2 / cloudwatch alarm /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674418" y="3952399"/>
                <a:ext cx="17691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eks node / log groups ...</a:t>
                </a:r>
              </a:p>
            </p:txBody>
          </p:sp>
        </p:grpSp>
        <p:sp>
          <p:nvSpPr>
            <p:cNvPr id="32" name="Line 32"/>
            <p:cNvSpPr/>
            <p:nvPr/>
          </p:nvSpPr>
          <p:spPr>
            <a:xfrm>
              <a:off x="8382000" y="42862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FF980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349615" y="4277678"/>
              <a:ext cx="100328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 xml:space="preserve">98 </a:t>
              </a:r>
              <a:r>
                <a:rPr lang="zh-CN" sz="1350" b="1" dirty="0">
                  <a:solidFill>
                    <a:srgbClr val="9AA0A6"/>
                  </a:solidFill>
                  <a:latin typeface="Arial"/>
                  <a:ea typeface="SimHei"/>
                  <a:cs typeface="Arial"/>
                </a:rPr>
                <a:t>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69618" y="4657249"/>
              <a:ext cx="21465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总 tool call · 一次 incident 调查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382000" y="4953000"/>
              <a:ext cx="3048000" cy="876300"/>
            </a:xfrm>
            <a:prstGeom prst="roundRect">
              <a:avLst>
                <a:gd name="adj" fmla="val 6522"/>
              </a:avLst>
            </a:prstGeom>
            <a:solidFill>
              <a:srgbClr val="0F1419"/>
            </a:solidFill>
            <a:ln w="9525">
              <a:solidFill>
                <a:srgbClr val="4CAF50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541992" y="5137150"/>
              <a:ext cx="174963" cy="127000"/>
            </a:xfrm>
            <a:custGeom>
              <a:avLst/>
              <a:gdLst/>
              <a:ahLst/>
              <a:cxnLst/>
              <a:rect l="l" t="t" r="r" b="b"/>
              <a:pathLst>
                <a:path w="174963" h="127000">
                  <a:moveTo>
                    <a:pt x="87658" y="0"/>
                  </a:moveTo>
                  <a:cubicBezTo>
                    <a:pt x="121710" y="0"/>
                    <a:pt x="150071" y="19280"/>
                    <a:pt x="172312" y="56785"/>
                  </a:cubicBezTo>
                  <a:lnTo>
                    <a:pt x="174058" y="59793"/>
                  </a:lnTo>
                  <a:lnTo>
                    <a:pt x="174415" y="60587"/>
                  </a:lnTo>
                  <a:lnTo>
                    <a:pt x="174653" y="61246"/>
                  </a:lnTo>
                  <a:lnTo>
                    <a:pt x="174764" y="61682"/>
                  </a:lnTo>
                  <a:lnTo>
                    <a:pt x="174876" y="62333"/>
                  </a:lnTo>
                  <a:lnTo>
                    <a:pt x="174963" y="63127"/>
                  </a:lnTo>
                  <a:lnTo>
                    <a:pt x="174963" y="64000"/>
                  </a:lnTo>
                  <a:lnTo>
                    <a:pt x="174852" y="64881"/>
                  </a:lnTo>
                  <a:cubicBezTo>
                    <a:pt x="174800" y="65176"/>
                    <a:pt x="174731" y="65467"/>
                    <a:pt x="174645" y="65754"/>
                  </a:cubicBezTo>
                  <a:lnTo>
                    <a:pt x="174336" y="66612"/>
                  </a:lnTo>
                  <a:lnTo>
                    <a:pt x="174050" y="67207"/>
                  </a:lnTo>
                  <a:lnTo>
                    <a:pt x="173923" y="67445"/>
                  </a:lnTo>
                  <a:cubicBezTo>
                    <a:pt x="151984" y="105831"/>
                    <a:pt x="123917" y="126024"/>
                    <a:pt x="90143" y="126968"/>
                  </a:cubicBezTo>
                  <a:lnTo>
                    <a:pt x="87658" y="127000"/>
                  </a:lnTo>
                  <a:cubicBezTo>
                    <a:pt x="52765" y="127000"/>
                    <a:pt x="23865" y="106767"/>
                    <a:pt x="1394" y="67437"/>
                  </a:cubicBezTo>
                  <a:cubicBezTo>
                    <a:pt x="0" y="64997"/>
                    <a:pt x="0" y="62003"/>
                    <a:pt x="1394" y="59563"/>
                  </a:cubicBezTo>
                  <a:cubicBezTo>
                    <a:pt x="23865" y="20233"/>
                    <a:pt x="52765" y="0"/>
                    <a:pt x="87658" y="0"/>
                  </a:cubicBezTo>
                  <a:close/>
                  <a:moveTo>
                    <a:pt x="87658" y="39687"/>
                  </a:moveTo>
                  <a:cubicBezTo>
                    <a:pt x="74507" y="39687"/>
                    <a:pt x="63846" y="50349"/>
                    <a:pt x="63846" y="63500"/>
                  </a:cubicBezTo>
                  <a:cubicBezTo>
                    <a:pt x="63846" y="76651"/>
                    <a:pt x="74507" y="87312"/>
                    <a:pt x="87658" y="87312"/>
                  </a:cubicBezTo>
                  <a:cubicBezTo>
                    <a:pt x="100810" y="87312"/>
                    <a:pt x="111471" y="76651"/>
                    <a:pt x="111471" y="63500"/>
                  </a:cubicBezTo>
                  <a:cubicBezTo>
                    <a:pt x="111471" y="50349"/>
                    <a:pt x="100810" y="39687"/>
                    <a:pt x="87658" y="39687"/>
                  </a:cubicBezTo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87765" y="5125402"/>
              <a:ext cx="12665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CAF50"/>
                  </a:solidFill>
                  <a:latin typeface="Arial"/>
                  <a:ea typeface="SimHei"/>
                  <a:cs typeface="Arial"/>
                </a:rPr>
                <a:t>深度 vs 广度兼顾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22970" y="5408295"/>
              <a:ext cx="1955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同一个 metric 多时间窗反复查 ·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22970" y="5579745"/>
              <a:ext cx="18959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CloudTrail 跨 service 比对变更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6191250"/>
            <a:ext cx="11049000" cy="381000"/>
            <a:chOff x="571500" y="6191250"/>
            <a:chExt cx="11049000" cy="381000"/>
          </a:xfrm>
        </p:grpSpPr>
        <p:sp>
          <p:nvSpPr>
            <p:cNvPr id="41" name="Rectangle 41"/>
            <p:cNvSpPr/>
            <p:nvPr/>
          </p:nvSpPr>
          <p:spPr>
            <a:xfrm>
              <a:off x="571500" y="6191250"/>
              <a:ext cx="11049000" cy="381000"/>
            </a:xfrm>
            <a:prstGeom prst="roundRect">
              <a:avLst>
                <a:gd name="adj" fmla="val 15000"/>
              </a:avLst>
            </a:prstGeom>
            <a:solidFill>
              <a:srgbClr val="0F1419"/>
            </a:solidFill>
            <a:ln w="9525">
              <a:solidFill>
                <a:srgbClr val="FF980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971854" y="6333649"/>
              <a:ext cx="82482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数据来源：</a:t>
              </a:r>
              <a:r>
                <a:rPr lang="zh-CN" sz="975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kubectl logs deployment/mcp-aws-cn-2</a:t>
              </a:r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 · 时间窗 05:20-05:35 UTC · 完整 196 行日志归档于 cli-evidence/case2/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236500" y="667369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15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0" grpId="0"/>
      <p:bldP spid="4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41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4CAF50">
                    <a:alpha val="18000"/>
                  </a:srgbClr>
                </a:gs>
                <a:gs pos="100000">
                  <a:srgbClr val="4CAF5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209550" y="-409575"/>
            <a:ext cx="11049000" cy="5791200"/>
            <a:chOff x="209550" y="-409575"/>
            <a:chExt cx="11049000" cy="5791200"/>
          </a:xfrm>
        </p:grpSpPr>
        <p:sp>
          <p:nvSpPr>
            <p:cNvPr id="5" name="TextBox 5"/>
            <p:cNvSpPr txBox="1"/>
            <p:nvPr/>
          </p:nvSpPr>
          <p:spPr>
            <a:xfrm>
              <a:off x="209550" y="-409575"/>
              <a:ext cx="5531501" cy="5791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0" b="1" dirty="0">
                  <a:solidFill>
                    <a:srgbClr val="4CAF50">
                      <a:alpha val="10000"/>
                    </a:srgbClr>
                  </a:solidFill>
                  <a:latin typeface="Arial"/>
                  <a:ea typeface="SimHei"/>
                  <a:cs typeface="Arial"/>
                </a:rPr>
                <a:t>C3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5143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rgbClr val="FF9800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0639425" y="1685925"/>
              <a:ext cx="57150" cy="57150"/>
            </a:xfrm>
            <a:prstGeom prst="ellipse">
              <a:avLst/>
            </a:prstGeom>
            <a:solidFill>
              <a:srgbClr val="42A5F5">
                <a:alpha val="55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220450" y="2266950"/>
              <a:ext cx="38100" cy="38100"/>
            </a:xfrm>
            <a:prstGeom prst="ellipse">
              <a:avLst/>
            </a:prstGeom>
            <a:solidFill>
              <a:srgbClr val="FF9800">
                <a:alpha val="55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83647" y="1527175"/>
            <a:ext cx="3429674" cy="282575"/>
            <a:chOff x="583647" y="1527175"/>
            <a:chExt cx="3429674" cy="282575"/>
          </a:xfrm>
        </p:grpSpPr>
        <p:sp>
          <p:nvSpPr>
            <p:cNvPr id="10" name="Freeform 10"/>
            <p:cNvSpPr/>
            <p:nvPr/>
          </p:nvSpPr>
          <p:spPr>
            <a:xfrm>
              <a:off x="583647" y="1527175"/>
              <a:ext cx="279941" cy="203200"/>
            </a:xfrm>
            <a:custGeom>
              <a:avLst/>
              <a:gdLst/>
              <a:ahLst/>
              <a:cxnLst/>
              <a:rect l="l" t="t" r="r" b="b"/>
              <a:pathLst>
                <a:path w="279941" h="203200">
                  <a:moveTo>
                    <a:pt x="140253" y="0"/>
                  </a:moveTo>
                  <a:cubicBezTo>
                    <a:pt x="194736" y="0"/>
                    <a:pt x="240113" y="30848"/>
                    <a:pt x="275699" y="90856"/>
                  </a:cubicBezTo>
                  <a:lnTo>
                    <a:pt x="278493" y="95669"/>
                  </a:lnTo>
                  <a:lnTo>
                    <a:pt x="279064" y="96939"/>
                  </a:lnTo>
                  <a:lnTo>
                    <a:pt x="279445" y="97993"/>
                  </a:lnTo>
                  <a:lnTo>
                    <a:pt x="279623" y="98692"/>
                  </a:lnTo>
                  <a:lnTo>
                    <a:pt x="279801" y="99733"/>
                  </a:lnTo>
                  <a:lnTo>
                    <a:pt x="279941" y="101003"/>
                  </a:lnTo>
                  <a:lnTo>
                    <a:pt x="279941" y="102400"/>
                  </a:lnTo>
                  <a:lnTo>
                    <a:pt x="279763" y="103810"/>
                  </a:lnTo>
                  <a:cubicBezTo>
                    <a:pt x="279679" y="104281"/>
                    <a:pt x="279569" y="104748"/>
                    <a:pt x="279433" y="105207"/>
                  </a:cubicBezTo>
                  <a:lnTo>
                    <a:pt x="278937" y="106578"/>
                  </a:lnTo>
                  <a:lnTo>
                    <a:pt x="278480" y="107531"/>
                  </a:lnTo>
                  <a:lnTo>
                    <a:pt x="278277" y="107912"/>
                  </a:lnTo>
                  <a:cubicBezTo>
                    <a:pt x="243174" y="169329"/>
                    <a:pt x="198267" y="201638"/>
                    <a:pt x="144228" y="203149"/>
                  </a:cubicBezTo>
                  <a:lnTo>
                    <a:pt x="140253" y="203200"/>
                  </a:lnTo>
                  <a:cubicBezTo>
                    <a:pt x="84424" y="203200"/>
                    <a:pt x="38183" y="170828"/>
                    <a:pt x="2230" y="107899"/>
                  </a:cubicBezTo>
                  <a:cubicBezTo>
                    <a:pt x="0" y="103996"/>
                    <a:pt x="0" y="99204"/>
                    <a:pt x="2230" y="95301"/>
                  </a:cubicBezTo>
                  <a:cubicBezTo>
                    <a:pt x="38183" y="32372"/>
                    <a:pt x="84424" y="0"/>
                    <a:pt x="140253" y="0"/>
                  </a:cubicBezTo>
                  <a:close/>
                  <a:moveTo>
                    <a:pt x="140253" y="63500"/>
                  </a:moveTo>
                  <a:cubicBezTo>
                    <a:pt x="119211" y="63500"/>
                    <a:pt x="102153" y="80558"/>
                    <a:pt x="102153" y="101600"/>
                  </a:cubicBezTo>
                  <a:cubicBezTo>
                    <a:pt x="102153" y="122642"/>
                    <a:pt x="119211" y="139700"/>
                    <a:pt x="140253" y="139700"/>
                  </a:cubicBezTo>
                  <a:cubicBezTo>
                    <a:pt x="161295" y="139700"/>
                    <a:pt x="178353" y="122642"/>
                    <a:pt x="178353" y="101600"/>
                  </a:cubicBezTo>
                  <a:cubicBezTo>
                    <a:pt x="178353" y="80558"/>
                    <a:pt x="161295" y="63500"/>
                    <a:pt x="140253" y="63500"/>
                  </a:cubicBezTo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7260" y="1565910"/>
              <a:ext cx="30760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CASE 3 · MULTI-HOP TOPOLOGY RCA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95300" y="2400300"/>
            <a:ext cx="11055763" cy="1981200"/>
            <a:chOff x="495300" y="2400300"/>
            <a:chExt cx="11055763" cy="1981200"/>
          </a:xfrm>
        </p:grpSpPr>
        <p:sp>
          <p:nvSpPr>
            <p:cNvPr id="13" name="TextBox 13"/>
            <p:cNvSpPr txBox="1"/>
            <p:nvPr/>
          </p:nvSpPr>
          <p:spPr>
            <a:xfrm>
              <a:off x="495300" y="2400300"/>
              <a:ext cx="6455188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4 跳追溯到根因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5300" y="3162300"/>
              <a:ext cx="11055763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gradFill>
                    <a:gsLst>
                      <a:gs pos="0">
                        <a:srgbClr val="4CAF50"/>
                      </a:gs>
                      <a:gs pos="100000">
                        <a:srgbClr val="81C784"/>
                      </a:gs>
                    </a:gsLst>
                    <a:lin ang="0" scaled="1"/>
                  </a:gradFill>
                  <a:latin typeface="Arial"/>
                  <a:ea typeface="SimHei"/>
                  <a:cs typeface="Arial"/>
                </a:rPr>
                <a:t>不是表层，是 manual 操作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50545" y="4381500"/>
            <a:ext cx="7922038" cy="804862"/>
            <a:chOff x="550545" y="4381500"/>
            <a:chExt cx="7922038" cy="804862"/>
          </a:xfrm>
        </p:grpSpPr>
        <p:sp>
          <p:nvSpPr>
            <p:cNvPr id="16" name="Line 16"/>
            <p:cNvSpPr/>
            <p:nvPr/>
          </p:nvSpPr>
          <p:spPr>
            <a:xfrm>
              <a:off x="571500" y="43815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8575">
              <a:solidFill>
                <a:srgbClr val="4CAF5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50545" y="4584382"/>
              <a:ext cx="495795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DDB throttle alarm → 沿 4 跳依赖链向上溯源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0545" y="4851082"/>
              <a:ext cx="792203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最终锁定 CloudTrail 中 </a:t>
              </a:r>
              <a:r>
                <a:rPr lang="zh-CN" sz="16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手动 ModifyTable</a:t>
              </a:r>
              <a:r>
                <a:rPr lang="zh-CN" sz="16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 操作 — 区分 Terraform vs CLI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5524500"/>
            <a:ext cx="7239000" cy="762000"/>
            <a:chOff x="571500" y="5524500"/>
            <a:chExt cx="7239000" cy="762000"/>
          </a:xfrm>
        </p:grpSpPr>
        <p:grpSp>
          <p:nvGrpSpPr>
            <p:cNvPr id="24" name="Group 24"/>
            <p:cNvGrpSpPr/>
            <p:nvPr/>
          </p:nvGrpSpPr>
          <p:grpSpPr>
            <a:xfrm>
              <a:off x="571500" y="5524500"/>
              <a:ext cx="2286000" cy="762000"/>
              <a:chOff x="571500" y="5524500"/>
              <a:chExt cx="2286000" cy="762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5715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4CAF50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1520" y="5627370"/>
                <a:ext cx="263385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4CAF50"/>
                    </a:solidFill>
                    <a:latin typeface="Arial"/>
                    <a:ea typeface="SimHei"/>
                    <a:cs typeface="Arial"/>
                  </a:rPr>
                  <a:t>4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77265" y="577310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跳依赖链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50570" y="6046470"/>
                <a:ext cx="177765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DDB → SQS → ECS → CloudTrail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3048000" y="5524500"/>
              <a:ext cx="2286000" cy="762000"/>
              <a:chOff x="3048000" y="5524500"/>
              <a:chExt cx="2286000" cy="7620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30480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FF9800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3208020" y="5627370"/>
                <a:ext cx="373799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14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568065" y="5773102"/>
                <a:ext cx="113080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次 cn API（C3）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227070" y="6046470"/>
                <a:ext cx="15213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100% 经 mcp-aws-cn pod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524500" y="5524500"/>
              <a:ext cx="2286000" cy="762000"/>
              <a:chOff x="5524500" y="5524500"/>
              <a:chExt cx="2286000" cy="7620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5245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42A5F5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5684520" y="5627370"/>
                <a:ext cx="373799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13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082665" y="577310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分钟收官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703570" y="6046470"/>
                <a:ext cx="115328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07:46 → 07:59 UTC</a:t>
                </a:r>
              </a:p>
            </p:txBody>
          </p:sp>
        </p:grpSp>
      </p:grpSp>
      <p:sp>
        <p:nvSpPr>
          <p:cNvPr id="36" name="TextBox 36"/>
          <p:cNvSpPr txBox="1"/>
          <p:nvPr/>
        </p:nvSpPr>
        <p:spPr>
          <a:xfrm>
            <a:off x="11236500" y="652129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16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9" grpId="0"/>
      <p:bldP spid="3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7210" y="476250"/>
            <a:ext cx="8991395" cy="1000125"/>
            <a:chOff x="537210" y="476250"/>
            <a:chExt cx="8991395" cy="1000125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12182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C3 · 沿 4 跳追溯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899139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DDB → SQS → ECS → CloudTrail — Agent 自动跳转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1905000"/>
            <a:ext cx="11049000" cy="1143000"/>
            <a:chOff x="571500" y="1905000"/>
            <a:chExt cx="11049000" cy="1143000"/>
          </a:xfrm>
        </p:grpSpPr>
        <p:grpSp>
          <p:nvGrpSpPr>
            <p:cNvPr id="16" name="Group 16"/>
            <p:cNvGrpSpPr/>
            <p:nvPr/>
          </p:nvGrpSpPr>
          <p:grpSpPr>
            <a:xfrm>
              <a:off x="571500" y="1905000"/>
              <a:ext cx="2558998" cy="1143000"/>
              <a:chOff x="571500" y="1905000"/>
              <a:chExt cx="2558998" cy="11430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905000"/>
                <a:ext cx="24765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1A2332"/>
              </a:solidFill>
              <a:ln w="14288">
                <a:solidFill>
                  <a:srgbClr val="42A5F5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48665" y="2077402"/>
                <a:ext cx="79151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跳 1 · 表象</a:t>
                </a:r>
              </a:p>
            </p:txBody>
          </p:sp>
          <p:grpSp>
            <p:nvGrpSpPr>
              <p:cNvPr id="12" name="Group 12"/>
              <p:cNvGrpSpPr/>
              <p:nvPr/>
            </p:nvGrpSpPr>
            <p:grpSpPr>
              <a:xfrm>
                <a:off x="785812" y="2359025"/>
                <a:ext cx="142876" cy="158750"/>
                <a:chOff x="785812" y="2359025"/>
                <a:chExt cx="142876" cy="158750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785812" y="2468015"/>
                  <a:ext cx="142875" cy="49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49760">
                      <a:moveTo>
                        <a:pt x="0" y="0"/>
                      </a:moveTo>
                      <a:cubicBezTo>
                        <a:pt x="15621" y="11962"/>
                        <a:pt x="41545" y="18010"/>
                        <a:pt x="71438" y="18010"/>
                      </a:cubicBezTo>
                      <a:cubicBezTo>
                        <a:pt x="101282" y="18010"/>
                        <a:pt x="127198" y="11978"/>
                        <a:pt x="142875" y="135"/>
                      </a:cubicBezTo>
                      <a:lnTo>
                        <a:pt x="142875" y="18010"/>
                      </a:lnTo>
                      <a:cubicBezTo>
                        <a:pt x="142875" y="37259"/>
                        <a:pt x="111958" y="49252"/>
                        <a:pt x="73874" y="49744"/>
                      </a:cubicBezTo>
                      <a:lnTo>
                        <a:pt x="71438" y="49760"/>
                      </a:lnTo>
                      <a:cubicBezTo>
                        <a:pt x="32242" y="49760"/>
                        <a:pt x="0" y="37671"/>
                        <a:pt x="0" y="18010"/>
                      </a:cubicBezTo>
                      <a:close/>
                    </a:path>
                  </a:pathLst>
                </a:custGeom>
                <a:solidFill>
                  <a:srgbClr val="42A5F5"/>
                </a:solidFill>
                <a:ln>
                  <a:noFill/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785812" y="2420390"/>
                  <a:ext cx="142875" cy="49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49760">
                      <a:moveTo>
                        <a:pt x="0" y="0"/>
                      </a:moveTo>
                      <a:cubicBezTo>
                        <a:pt x="15621" y="11962"/>
                        <a:pt x="41545" y="18010"/>
                        <a:pt x="71438" y="18010"/>
                      </a:cubicBezTo>
                      <a:cubicBezTo>
                        <a:pt x="101282" y="18010"/>
                        <a:pt x="127198" y="11978"/>
                        <a:pt x="142875" y="135"/>
                      </a:cubicBezTo>
                      <a:lnTo>
                        <a:pt x="142875" y="18010"/>
                      </a:lnTo>
                      <a:cubicBezTo>
                        <a:pt x="142875" y="37671"/>
                        <a:pt x="110633" y="49760"/>
                        <a:pt x="71438" y="49760"/>
                      </a:cubicBezTo>
                      <a:cubicBezTo>
                        <a:pt x="33353" y="49760"/>
                        <a:pt x="1826" y="38346"/>
                        <a:pt x="167" y="19637"/>
                      </a:cubicBezTo>
                      <a:lnTo>
                        <a:pt x="40" y="18836"/>
                      </a:lnTo>
                      <a:lnTo>
                        <a:pt x="0" y="18010"/>
                      </a:lnTo>
                      <a:close/>
                    </a:path>
                  </a:pathLst>
                </a:custGeom>
                <a:solidFill>
                  <a:srgbClr val="42A5F5"/>
                </a:solidFill>
                <a:ln>
                  <a:noFill/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785812" y="2359025"/>
                  <a:ext cx="142876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6" h="63500">
                      <a:moveTo>
                        <a:pt x="71438" y="0"/>
                      </a:moveTo>
                      <a:cubicBezTo>
                        <a:pt x="79701" y="0"/>
                        <a:pt x="87662" y="540"/>
                        <a:pt x="95068" y="1572"/>
                      </a:cubicBezTo>
                      <a:lnTo>
                        <a:pt x="98791" y="2135"/>
                      </a:lnTo>
                      <a:cubicBezTo>
                        <a:pt x="103236" y="2876"/>
                        <a:pt x="107432" y="3797"/>
                        <a:pt x="111380" y="4897"/>
                      </a:cubicBezTo>
                      <a:lnTo>
                        <a:pt x="114872" y="5937"/>
                      </a:lnTo>
                      <a:lnTo>
                        <a:pt x="115467" y="6128"/>
                      </a:lnTo>
                      <a:cubicBezTo>
                        <a:pt x="117628" y="6838"/>
                        <a:pt x="119759" y="7632"/>
                        <a:pt x="121857" y="8509"/>
                      </a:cubicBezTo>
                      <a:lnTo>
                        <a:pt x="123437" y="9192"/>
                      </a:lnTo>
                      <a:cubicBezTo>
                        <a:pt x="126268" y="10472"/>
                        <a:pt x="128826" y="11875"/>
                        <a:pt x="131112" y="13398"/>
                      </a:cubicBezTo>
                      <a:cubicBezTo>
                        <a:pt x="131985" y="13981"/>
                        <a:pt x="132814" y="14576"/>
                        <a:pt x="133597" y="15184"/>
                      </a:cubicBezTo>
                      <a:cubicBezTo>
                        <a:pt x="135581" y="16724"/>
                        <a:pt x="137364" y="18505"/>
                        <a:pt x="138907" y="20487"/>
                      </a:cubicBezTo>
                      <a:lnTo>
                        <a:pt x="139629" y="21503"/>
                      </a:lnTo>
                      <a:cubicBezTo>
                        <a:pt x="140000" y="22058"/>
                        <a:pt x="140341" y="22617"/>
                        <a:pt x="140653" y="23178"/>
                      </a:cubicBezTo>
                      <a:lnTo>
                        <a:pt x="141209" y="24281"/>
                      </a:lnTo>
                      <a:cubicBezTo>
                        <a:pt x="142071" y="26133"/>
                        <a:pt x="142600" y="28064"/>
                        <a:pt x="142796" y="30075"/>
                      </a:cubicBezTo>
                      <a:lnTo>
                        <a:pt x="142876" y="31750"/>
                      </a:lnTo>
                      <a:cubicBezTo>
                        <a:pt x="142876" y="51411"/>
                        <a:pt x="110633" y="63500"/>
                        <a:pt x="71438" y="63500"/>
                      </a:cubicBezTo>
                      <a:cubicBezTo>
                        <a:pt x="33354" y="63500"/>
                        <a:pt x="1826" y="52086"/>
                        <a:pt x="167" y="33377"/>
                      </a:cubicBezTo>
                      <a:cubicBezTo>
                        <a:pt x="56" y="32842"/>
                        <a:pt x="0" y="32297"/>
                        <a:pt x="1" y="31750"/>
                      </a:cubicBezTo>
                      <a:lnTo>
                        <a:pt x="40" y="30925"/>
                      </a:lnTo>
                      <a:lnTo>
                        <a:pt x="167" y="30131"/>
                      </a:lnTo>
                      <a:cubicBezTo>
                        <a:pt x="1794" y="11827"/>
                        <a:pt x="31997" y="500"/>
                        <a:pt x="68962" y="16"/>
                      </a:cubicBezTo>
                      <a:close/>
                    </a:path>
                  </a:pathLst>
                </a:custGeom>
                <a:solidFill>
                  <a:srgbClr val="42A5F5"/>
                </a:solidFill>
                <a:ln>
                  <a:noFill/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014412" y="2374106"/>
                <a:ext cx="211608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DynamoDB describe-table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0570" y="2665095"/>
                <a:ext cx="150161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看到 PROVISIONED 5 WCU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0570" y="2836545"/>
                <a:ext cx="150161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"为啥不是按需？" → 上溯</a:t>
                </a:r>
              </a:p>
            </p:txBody>
          </p:sp>
        </p:grpSp>
        <p:sp>
          <p:nvSpPr>
            <p:cNvPr id="17" name="Polygon 17"/>
            <p:cNvSpPr/>
            <p:nvPr/>
          </p:nvSpPr>
          <p:spPr>
            <a:xfrm>
              <a:off x="3048000" y="2333625"/>
              <a:ext cx="495300" cy="190500"/>
            </a:xfrm>
            <a:custGeom>
              <a:avLst/>
              <a:gdLst/>
              <a:ahLst/>
              <a:cxnLst/>
              <a:rect l="l" t="t" r="r" b="b"/>
              <a:pathLst>
                <a:path w="495300" h="190500">
                  <a:moveTo>
                    <a:pt x="0" y="95250"/>
                  </a:moveTo>
                  <a:lnTo>
                    <a:pt x="285750" y="0"/>
                  </a:lnTo>
                  <a:lnTo>
                    <a:pt x="285750" y="95250"/>
                  </a:lnTo>
                  <a:lnTo>
                    <a:pt x="495300" y="95250"/>
                  </a:lnTo>
                  <a:lnTo>
                    <a:pt x="285750" y="190500"/>
                  </a:lnTo>
                  <a:lnTo>
                    <a:pt x="285750" y="190500"/>
                  </a:lnTo>
                  <a:lnTo>
                    <a:pt x="0" y="190500"/>
                  </a:lnTo>
                  <a:close/>
                </a:path>
              </a:pathLst>
            </a:custGeom>
            <a:gradFill>
              <a:gsLst>
                <a:gs pos="0">
                  <a:srgbClr val="42A5F5"/>
                </a:gs>
                <a:gs pos="100000">
                  <a:srgbClr val="1565C0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3048000" y="24765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42A5F5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3524250" y="1905000"/>
              <a:ext cx="2697015" cy="1143000"/>
              <a:chOff x="3524250" y="1905000"/>
              <a:chExt cx="2697015" cy="1143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524250" y="1905000"/>
                <a:ext cx="24765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1A2332"/>
              </a:solidFill>
              <a:ln w="14288">
                <a:solidFill>
                  <a:srgbClr val="42A5F5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701415" y="2077402"/>
                <a:ext cx="115381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跳 2 · 压力来源</a:t>
                </a:r>
              </a:p>
            </p:txBody>
          </p:sp>
          <p:grpSp>
            <p:nvGrpSpPr>
              <p:cNvPr id="23" name="Group 23"/>
              <p:cNvGrpSpPr/>
              <p:nvPr/>
            </p:nvGrpSpPr>
            <p:grpSpPr>
              <a:xfrm>
                <a:off x="3730625" y="2359025"/>
                <a:ext cx="158751" cy="161425"/>
                <a:chOff x="3730625" y="2359025"/>
                <a:chExt cx="158751" cy="161425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3786188" y="2359025"/>
                  <a:ext cx="103188" cy="10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88" h="103200">
                      <a:moveTo>
                        <a:pt x="94464" y="103148"/>
                      </a:moveTo>
                      <a:lnTo>
                        <a:pt x="94115" y="103100"/>
                      </a:lnTo>
                      <a:cubicBezTo>
                        <a:pt x="93839" y="103083"/>
                        <a:pt x="93567" y="103029"/>
                        <a:pt x="93305" y="102941"/>
                      </a:cubicBezTo>
                      <a:lnTo>
                        <a:pt x="92948" y="102846"/>
                      </a:lnTo>
                      <a:lnTo>
                        <a:pt x="92567" y="102711"/>
                      </a:lnTo>
                      <a:lnTo>
                        <a:pt x="92210" y="102584"/>
                      </a:lnTo>
                      <a:lnTo>
                        <a:pt x="91869" y="102426"/>
                      </a:lnTo>
                      <a:lnTo>
                        <a:pt x="91511" y="102251"/>
                      </a:lnTo>
                      <a:lnTo>
                        <a:pt x="91194" y="102060"/>
                      </a:lnTo>
                      <a:lnTo>
                        <a:pt x="90845" y="101854"/>
                      </a:lnTo>
                      <a:lnTo>
                        <a:pt x="90503" y="101600"/>
                      </a:lnTo>
                      <a:lnTo>
                        <a:pt x="90218" y="101386"/>
                      </a:lnTo>
                      <a:cubicBezTo>
                        <a:pt x="90016" y="101221"/>
                        <a:pt x="89823" y="101046"/>
                        <a:pt x="89638" y="100862"/>
                      </a:cubicBezTo>
                      <a:lnTo>
                        <a:pt x="68151" y="79375"/>
                      </a:lnTo>
                      <a:lnTo>
                        <a:pt x="15875" y="79375"/>
                      </a:lnTo>
                      <a:cubicBezTo>
                        <a:pt x="7107" y="79375"/>
                        <a:pt x="0" y="72268"/>
                        <a:pt x="0" y="63500"/>
                      </a:cubicBezTo>
                      <a:lnTo>
                        <a:pt x="0" y="15875"/>
                      </a:ln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87313" y="0"/>
                      </a:lnTo>
                      <a:cubicBezTo>
                        <a:pt x="96080" y="0"/>
                        <a:pt x="103187" y="7107"/>
                        <a:pt x="103187" y="15875"/>
                      </a:cubicBezTo>
                      <a:lnTo>
                        <a:pt x="103187" y="95250"/>
                      </a:lnTo>
                      <a:cubicBezTo>
                        <a:pt x="103188" y="96293"/>
                        <a:pt x="102983" y="97326"/>
                        <a:pt x="102584" y="98290"/>
                      </a:cubicBezTo>
                      <a:lnTo>
                        <a:pt x="102425" y="98631"/>
                      </a:lnTo>
                      <a:lnTo>
                        <a:pt x="102251" y="98989"/>
                      </a:lnTo>
                      <a:lnTo>
                        <a:pt x="102060" y="99306"/>
                      </a:lnTo>
                      <a:lnTo>
                        <a:pt x="101854" y="99655"/>
                      </a:lnTo>
                      <a:lnTo>
                        <a:pt x="101600" y="99997"/>
                      </a:lnTo>
                      <a:lnTo>
                        <a:pt x="101386" y="100282"/>
                      </a:lnTo>
                      <a:cubicBezTo>
                        <a:pt x="100221" y="101704"/>
                        <a:pt x="98600" y="102677"/>
                        <a:pt x="96798" y="103037"/>
                      </a:cubicBezTo>
                      <a:lnTo>
                        <a:pt x="96385" y="103100"/>
                      </a:lnTo>
                      <a:lnTo>
                        <a:pt x="96036" y="103148"/>
                      </a:lnTo>
                      <a:cubicBezTo>
                        <a:pt x="95513" y="103200"/>
                        <a:pt x="94987" y="103200"/>
                        <a:pt x="94464" y="103148"/>
                      </a:cubicBezTo>
                    </a:path>
                  </a:pathLst>
                </a:custGeom>
                <a:solidFill>
                  <a:srgbClr val="42A5F5"/>
                </a:solidFill>
                <a:ln>
                  <a:noFill/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3730625" y="2414580"/>
                  <a:ext cx="103187" cy="1058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87" h="105870">
                      <a:moveTo>
                        <a:pt x="39687" y="0"/>
                      </a:moveTo>
                      <a:lnTo>
                        <a:pt x="39687" y="7945"/>
                      </a:lnTo>
                      <a:cubicBezTo>
                        <a:pt x="39687" y="25480"/>
                        <a:pt x="53902" y="39695"/>
                        <a:pt x="71438" y="39695"/>
                      </a:cubicBezTo>
                      <a:lnTo>
                        <a:pt x="103187" y="39695"/>
                      </a:lnTo>
                      <a:lnTo>
                        <a:pt x="103187" y="63508"/>
                      </a:lnTo>
                      <a:cubicBezTo>
                        <a:pt x="103187" y="72275"/>
                        <a:pt x="96080" y="79383"/>
                        <a:pt x="87312" y="79383"/>
                      </a:cubicBezTo>
                      <a:lnTo>
                        <a:pt x="35036" y="79383"/>
                      </a:lnTo>
                      <a:lnTo>
                        <a:pt x="13549" y="100870"/>
                      </a:lnTo>
                      <a:cubicBezTo>
                        <a:pt x="8549" y="105870"/>
                        <a:pt x="0" y="102330"/>
                        <a:pt x="0" y="95258"/>
                      </a:cubicBezTo>
                      <a:lnTo>
                        <a:pt x="0" y="15883"/>
                      </a:lnTo>
                      <a:cubicBezTo>
                        <a:pt x="0" y="7115"/>
                        <a:pt x="7107" y="8"/>
                        <a:pt x="15875" y="8"/>
                      </a:cubicBezTo>
                      <a:close/>
                    </a:path>
                  </a:pathLst>
                </a:custGeom>
                <a:solidFill>
                  <a:srgbClr val="42A5F5"/>
                </a:solidFill>
                <a:ln>
                  <a:noFill/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3967162" y="2374106"/>
                <a:ext cx="225410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SQS get-queue-attributes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703320" y="2665095"/>
                <a:ext cx="104813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14272 条消息积压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703320" y="2836545"/>
                <a:ext cx="137017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"谁在写消息？" → 上溯</a:t>
                </a:r>
              </a:p>
            </p:txBody>
          </p:sp>
        </p:grpSp>
        <p:sp>
          <p:nvSpPr>
            <p:cNvPr id="28" name="Polygon 28"/>
            <p:cNvSpPr/>
            <p:nvPr/>
          </p:nvSpPr>
          <p:spPr>
            <a:xfrm>
              <a:off x="6000750" y="2333625"/>
              <a:ext cx="495300" cy="190500"/>
            </a:xfrm>
            <a:custGeom>
              <a:avLst/>
              <a:gdLst/>
              <a:ahLst/>
              <a:cxnLst/>
              <a:rect l="l" t="t" r="r" b="b"/>
              <a:pathLst>
                <a:path w="495300" h="190500">
                  <a:moveTo>
                    <a:pt x="0" y="95250"/>
                  </a:moveTo>
                  <a:lnTo>
                    <a:pt x="285750" y="0"/>
                  </a:lnTo>
                  <a:lnTo>
                    <a:pt x="285750" y="95250"/>
                  </a:lnTo>
                  <a:lnTo>
                    <a:pt x="495300" y="95250"/>
                  </a:lnTo>
                  <a:lnTo>
                    <a:pt x="285750" y="190500"/>
                  </a:lnTo>
                  <a:lnTo>
                    <a:pt x="285750" y="190500"/>
                  </a:lnTo>
                  <a:lnTo>
                    <a:pt x="0" y="190500"/>
                  </a:lnTo>
                  <a:close/>
                </a:path>
              </a:pathLst>
            </a:custGeom>
            <a:gradFill>
              <a:gsLst>
                <a:gs pos="0">
                  <a:srgbClr val="42A5F5"/>
                </a:gs>
                <a:gs pos="100000">
                  <a:srgbClr val="1565C0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6000750" y="24765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42A5F5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477000" y="1905000"/>
              <a:ext cx="2476500" cy="1143000"/>
              <a:chOff x="6477000" y="1905000"/>
              <a:chExt cx="2476500" cy="11430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6477000" y="1905000"/>
                <a:ext cx="24765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1A2332"/>
              </a:solidFill>
              <a:ln w="14288">
                <a:solidFill>
                  <a:srgbClr val="42A5F5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654165" y="2077402"/>
                <a:ext cx="115381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跳 3 · 扩容动作</a:t>
                </a:r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6675438" y="2356152"/>
                <a:ext cx="174625" cy="161623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161623">
                    <a:moveTo>
                      <a:pt x="63500" y="145748"/>
                    </a:moveTo>
                    <a:cubicBezTo>
                      <a:pt x="63500" y="154516"/>
                      <a:pt x="56393" y="161623"/>
                      <a:pt x="47625" y="161623"/>
                    </a:cubicBezTo>
                    <a:lnTo>
                      <a:pt x="15875" y="161623"/>
                    </a:lnTo>
                    <a:cubicBezTo>
                      <a:pt x="11491" y="161623"/>
                      <a:pt x="7937" y="158070"/>
                      <a:pt x="7937" y="153686"/>
                    </a:cubicBezTo>
                    <a:cubicBezTo>
                      <a:pt x="7937" y="149302"/>
                      <a:pt x="11491" y="145748"/>
                      <a:pt x="15875" y="145748"/>
                    </a:cubicBezTo>
                    <a:lnTo>
                      <a:pt x="47625" y="145748"/>
                    </a:lnTo>
                    <a:lnTo>
                      <a:pt x="47625" y="121960"/>
                    </a:lnTo>
                    <a:lnTo>
                      <a:pt x="44902" y="121968"/>
                    </a:lnTo>
                    <a:cubicBezTo>
                      <a:pt x="44592" y="121967"/>
                      <a:pt x="44282" y="121949"/>
                      <a:pt x="43974" y="121912"/>
                    </a:cubicBezTo>
                    <a:lnTo>
                      <a:pt x="43140" y="121904"/>
                    </a:lnTo>
                    <a:cubicBezTo>
                      <a:pt x="19804" y="121031"/>
                      <a:pt x="937" y="102862"/>
                      <a:pt x="40" y="80129"/>
                    </a:cubicBezTo>
                    <a:lnTo>
                      <a:pt x="0" y="78415"/>
                    </a:lnTo>
                    <a:cubicBezTo>
                      <a:pt x="0" y="56610"/>
                      <a:pt x="16510" y="38648"/>
                      <a:pt x="37973" y="35417"/>
                    </a:cubicBezTo>
                    <a:lnTo>
                      <a:pt x="38878" y="35290"/>
                    </a:lnTo>
                    <a:lnTo>
                      <a:pt x="39433" y="33853"/>
                    </a:lnTo>
                    <a:cubicBezTo>
                      <a:pt x="44696" y="20995"/>
                      <a:pt x="55753" y="10787"/>
                      <a:pt x="69826" y="5929"/>
                    </a:cubicBezTo>
                    <a:lnTo>
                      <a:pt x="71763" y="5294"/>
                    </a:lnTo>
                    <a:cubicBezTo>
                      <a:pt x="89178" y="0"/>
                      <a:pt x="108387" y="3516"/>
                      <a:pt x="122245" y="14629"/>
                    </a:cubicBezTo>
                    <a:cubicBezTo>
                      <a:pt x="133239" y="23424"/>
                      <a:pt x="139605" y="35949"/>
                      <a:pt x="140105" y="49078"/>
                    </a:cubicBezTo>
                    <a:lnTo>
                      <a:pt x="140137" y="50760"/>
                    </a:lnTo>
                    <a:lnTo>
                      <a:pt x="140859" y="50784"/>
                    </a:lnTo>
                    <a:cubicBezTo>
                      <a:pt x="159115" y="51633"/>
                      <a:pt x="173744" y="66350"/>
                      <a:pt x="174593" y="84677"/>
                    </a:cubicBezTo>
                    <a:lnTo>
                      <a:pt x="174625" y="86352"/>
                    </a:lnTo>
                    <a:cubicBezTo>
                      <a:pt x="174625" y="106021"/>
                      <a:pt x="158774" y="121968"/>
                      <a:pt x="139184" y="121968"/>
                    </a:cubicBezTo>
                    <a:lnTo>
                      <a:pt x="127000" y="121968"/>
                    </a:lnTo>
                    <a:lnTo>
                      <a:pt x="127000" y="145748"/>
                    </a:lnTo>
                    <a:lnTo>
                      <a:pt x="158750" y="145748"/>
                    </a:lnTo>
                    <a:cubicBezTo>
                      <a:pt x="163134" y="145748"/>
                      <a:pt x="166688" y="149302"/>
                      <a:pt x="166688" y="153686"/>
                    </a:cubicBezTo>
                    <a:cubicBezTo>
                      <a:pt x="166688" y="158070"/>
                      <a:pt x="163134" y="161623"/>
                      <a:pt x="158750" y="161623"/>
                    </a:cubicBezTo>
                    <a:lnTo>
                      <a:pt x="127000" y="161623"/>
                    </a:lnTo>
                    <a:cubicBezTo>
                      <a:pt x="118232" y="161623"/>
                      <a:pt x="111125" y="154516"/>
                      <a:pt x="111125" y="145748"/>
                    </a:cubicBezTo>
                    <a:lnTo>
                      <a:pt x="111125" y="121960"/>
                    </a:lnTo>
                    <a:lnTo>
                      <a:pt x="95250" y="121960"/>
                    </a:lnTo>
                    <a:lnTo>
                      <a:pt x="95250" y="153686"/>
                    </a:lnTo>
                    <a:cubicBezTo>
                      <a:pt x="95250" y="158070"/>
                      <a:pt x="91696" y="161623"/>
                      <a:pt x="87312" y="161623"/>
                    </a:cubicBezTo>
                    <a:cubicBezTo>
                      <a:pt x="82929" y="161623"/>
                      <a:pt x="79375" y="158070"/>
                      <a:pt x="79375" y="153686"/>
                    </a:cubicBezTo>
                    <a:lnTo>
                      <a:pt x="79375" y="121960"/>
                    </a:lnTo>
                    <a:lnTo>
                      <a:pt x="63500" y="121960"/>
                    </a:lnTo>
                    <a:close/>
                  </a:path>
                </a:pathLst>
              </a:custGeom>
              <a:solidFill>
                <a:srgbClr val="42A5F5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919912" y="2374106"/>
                <a:ext cx="18918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ECS describe-services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656070" y="2665095"/>
                <a:ext cx="156733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desiredCount=5 (从 1 扩)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656070" y="2836545"/>
                <a:ext cx="176450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"谁改的？什么时候？" → 上溯</a:t>
                </a:r>
              </a:p>
            </p:txBody>
          </p:sp>
        </p:grpSp>
        <p:sp>
          <p:nvSpPr>
            <p:cNvPr id="37" name="Polygon 37"/>
            <p:cNvSpPr/>
            <p:nvPr/>
          </p:nvSpPr>
          <p:spPr>
            <a:xfrm>
              <a:off x="8953500" y="2333625"/>
              <a:ext cx="495300" cy="190500"/>
            </a:xfrm>
            <a:custGeom>
              <a:avLst/>
              <a:gdLst/>
              <a:ahLst/>
              <a:cxnLst/>
              <a:rect l="l" t="t" r="r" b="b"/>
              <a:pathLst>
                <a:path w="495300" h="190500">
                  <a:moveTo>
                    <a:pt x="0" y="95250"/>
                  </a:moveTo>
                  <a:lnTo>
                    <a:pt x="285750" y="0"/>
                  </a:lnTo>
                  <a:lnTo>
                    <a:pt x="285750" y="95250"/>
                  </a:lnTo>
                  <a:lnTo>
                    <a:pt x="495300" y="95250"/>
                  </a:lnTo>
                  <a:lnTo>
                    <a:pt x="285750" y="190500"/>
                  </a:lnTo>
                  <a:lnTo>
                    <a:pt x="285750" y="190500"/>
                  </a:lnTo>
                  <a:lnTo>
                    <a:pt x="0" y="190500"/>
                  </a:lnTo>
                  <a:close/>
                </a:path>
              </a:pathLst>
            </a:custGeom>
            <a:gradFill>
              <a:gsLst>
                <a:gs pos="0">
                  <a:srgbClr val="42A5F5"/>
                </a:gs>
                <a:gs pos="100000">
                  <a:srgbClr val="1565C0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8953500" y="24765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42A5F5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429750" y="1905000"/>
              <a:ext cx="2190750" cy="1143000"/>
              <a:chOff x="9429750" y="1905000"/>
              <a:chExt cx="2190750" cy="11430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9429750" y="1905000"/>
                <a:ext cx="219075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1A2332"/>
              </a:solidFill>
              <a:ln w="14288">
                <a:solidFill>
                  <a:srgbClr val="FF9800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9606915" y="2077402"/>
                <a:ext cx="115381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跳 4 · 锁定根因</a:t>
                </a:r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9636124" y="2355469"/>
                <a:ext cx="167139" cy="167791"/>
              </a:xfrm>
              <a:custGeom>
                <a:avLst/>
                <a:gdLst/>
                <a:ahLst/>
                <a:cxnLst/>
                <a:rect l="l" t="t" r="r" b="b"/>
                <a:pathLst>
                  <a:path w="167139" h="167791">
                    <a:moveTo>
                      <a:pt x="119063" y="14192"/>
                    </a:moveTo>
                    <a:cubicBezTo>
                      <a:pt x="152423" y="33452"/>
                      <a:pt x="167139" y="73884"/>
                      <a:pt x="153964" y="110081"/>
                    </a:cubicBezTo>
                    <a:cubicBezTo>
                      <a:pt x="140789" y="146278"/>
                      <a:pt x="103526" y="167791"/>
                      <a:pt x="65591" y="161101"/>
                    </a:cubicBezTo>
                    <a:cubicBezTo>
                      <a:pt x="27656" y="154412"/>
                      <a:pt x="0" y="121451"/>
                      <a:pt x="1" y="82931"/>
                    </a:cubicBezTo>
                    <a:lnTo>
                      <a:pt x="41" y="80359"/>
                    </a:lnTo>
                    <a:cubicBezTo>
                      <a:pt x="945" y="52474"/>
                      <a:pt x="16422" y="27112"/>
                      <a:pt x="40807" y="13556"/>
                    </a:cubicBezTo>
                    <a:cubicBezTo>
                      <a:pt x="65191" y="0"/>
                      <a:pt x="94902" y="241"/>
                      <a:pt x="119063" y="14192"/>
                    </a:cubicBezTo>
                    <a:moveTo>
                      <a:pt x="76193" y="90201"/>
                    </a:moveTo>
                    <a:lnTo>
                      <a:pt x="76606" y="90368"/>
                    </a:lnTo>
                    <a:lnTo>
                      <a:pt x="77241" y="90574"/>
                    </a:lnTo>
                    <a:lnTo>
                      <a:pt x="77876" y="90725"/>
                    </a:lnTo>
                    <a:lnTo>
                      <a:pt x="78447" y="90812"/>
                    </a:lnTo>
                    <a:lnTo>
                      <a:pt x="79376" y="90868"/>
                    </a:lnTo>
                    <a:lnTo>
                      <a:pt x="79979" y="90844"/>
                    </a:lnTo>
                    <a:lnTo>
                      <a:pt x="81051" y="90685"/>
                    </a:lnTo>
                    <a:lnTo>
                      <a:pt x="81702" y="90527"/>
                    </a:lnTo>
                    <a:lnTo>
                      <a:pt x="82519" y="90217"/>
                    </a:lnTo>
                    <a:lnTo>
                      <a:pt x="83099" y="89939"/>
                    </a:lnTo>
                    <a:lnTo>
                      <a:pt x="83718" y="89574"/>
                    </a:lnTo>
                    <a:lnTo>
                      <a:pt x="84194" y="89241"/>
                    </a:lnTo>
                    <a:lnTo>
                      <a:pt x="84829" y="88693"/>
                    </a:lnTo>
                    <a:lnTo>
                      <a:pt x="85488" y="87995"/>
                    </a:lnTo>
                    <a:lnTo>
                      <a:pt x="85980" y="87336"/>
                    </a:lnTo>
                    <a:lnTo>
                      <a:pt x="101855" y="63523"/>
                    </a:lnTo>
                    <a:cubicBezTo>
                      <a:pt x="104288" y="59876"/>
                      <a:pt x="103304" y="54947"/>
                      <a:pt x="99656" y="52514"/>
                    </a:cubicBezTo>
                    <a:cubicBezTo>
                      <a:pt x="96009" y="50081"/>
                      <a:pt x="91080" y="51065"/>
                      <a:pt x="88647" y="54713"/>
                    </a:cubicBezTo>
                    <a:lnTo>
                      <a:pt x="87313" y="56705"/>
                    </a:lnTo>
                    <a:lnTo>
                      <a:pt x="87313" y="43243"/>
                    </a:lnTo>
                    <a:cubicBezTo>
                      <a:pt x="87313" y="39219"/>
                      <a:pt x="84301" y="35832"/>
                      <a:pt x="80305" y="35361"/>
                    </a:cubicBezTo>
                    <a:lnTo>
                      <a:pt x="79376" y="35306"/>
                    </a:lnTo>
                    <a:cubicBezTo>
                      <a:pt x="74992" y="35306"/>
                      <a:pt x="71438" y="38859"/>
                      <a:pt x="71438" y="43243"/>
                    </a:cubicBezTo>
                    <a:lnTo>
                      <a:pt x="71438" y="83137"/>
                    </a:lnTo>
                    <a:lnTo>
                      <a:pt x="71510" y="83970"/>
                    </a:lnTo>
                    <a:lnTo>
                      <a:pt x="71669" y="84820"/>
                    </a:lnTo>
                    <a:lnTo>
                      <a:pt x="71986" y="85844"/>
                    </a:lnTo>
                    <a:lnTo>
                      <a:pt x="72367" y="86653"/>
                    </a:lnTo>
                    <a:lnTo>
                      <a:pt x="72732" y="87272"/>
                    </a:lnTo>
                    <a:lnTo>
                      <a:pt x="73066" y="87749"/>
                    </a:lnTo>
                    <a:lnTo>
                      <a:pt x="73613" y="88384"/>
                    </a:lnTo>
                    <a:lnTo>
                      <a:pt x="74312" y="89042"/>
                    </a:lnTo>
                    <a:lnTo>
                      <a:pt x="74971" y="89535"/>
                    </a:lnTo>
                    <a:lnTo>
                      <a:pt x="75685" y="89955"/>
                    </a:ln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9872662" y="2374106"/>
                <a:ext cx="1426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CloudTrail lookup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608820" y="2665095"/>
                <a:ext cx="124529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manual ModifyTable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609772" y="2844641"/>
                <a:ext cx="99693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FF9800"/>
                    </a:solidFill>
                    <a:latin typeface="Consolas"/>
                    <a:ea typeface="Microsoft YaHei"/>
                    <a:cs typeface="Consolas"/>
                  </a:rPr>
                  <a:t>@07:18:17Z by CLI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571500" y="3333750"/>
            <a:ext cx="6667500" cy="3009900"/>
            <a:chOff x="571500" y="3333750"/>
            <a:chExt cx="6667500" cy="3009900"/>
          </a:xfrm>
        </p:grpSpPr>
        <p:sp>
          <p:nvSpPr>
            <p:cNvPr id="47" name="Rectangle 47"/>
            <p:cNvSpPr/>
            <p:nvPr/>
          </p:nvSpPr>
          <p:spPr>
            <a:xfrm>
              <a:off x="571500" y="3333750"/>
              <a:ext cx="6667500" cy="3009900"/>
            </a:xfrm>
            <a:prstGeom prst="roundRect">
              <a:avLst>
                <a:gd name="adj" fmla="val 3797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17805" y="3524250"/>
              <a:ext cx="2974889" cy="2628900"/>
            </a:xfrm>
            <a:prstGeom prst="rect">
              <a:avLst/>
            </a:prstGeom>
          </p:spPr>
        </p:pic>
      </p:grpSp>
      <p:grpSp>
        <p:nvGrpSpPr>
          <p:cNvPr id="64" name="Group 64"/>
          <p:cNvGrpSpPr/>
          <p:nvPr/>
        </p:nvGrpSpPr>
        <p:grpSpPr>
          <a:xfrm>
            <a:off x="7524750" y="3333750"/>
            <a:ext cx="4095750" cy="3009900"/>
            <a:chOff x="7524750" y="3333750"/>
            <a:chExt cx="4095750" cy="3009900"/>
          </a:xfrm>
        </p:grpSpPr>
        <p:sp>
          <p:nvSpPr>
            <p:cNvPr id="50" name="Rectangle 50"/>
            <p:cNvSpPr/>
            <p:nvPr/>
          </p:nvSpPr>
          <p:spPr>
            <a:xfrm>
              <a:off x="7524750" y="3333750"/>
              <a:ext cx="4095750" cy="3009900"/>
            </a:xfrm>
            <a:prstGeom prst="roundRect">
              <a:avLst>
                <a:gd name="adj" fmla="val 3797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700010" y="3528060"/>
              <a:ext cx="9229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★ 关键洞察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7715250" y="3771900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9525">
              <a:solidFill>
                <a:srgbClr val="FF980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700962" y="3974306"/>
              <a:ext cx="29873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Agent 区分 Terraform vs Manual CLI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02868" y="4219099"/>
              <a:ext cx="2182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通过 CloudTrail user-agent 字段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7715250" y="4457700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703820" y="4665345"/>
              <a:ext cx="1403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CAF50"/>
                  </a:solidFill>
                  <a:latin typeface="Consolas"/>
                  <a:ea typeface="Microsoft YaHei"/>
                  <a:cs typeface="Consolas"/>
                </a:rPr>
                <a:t>2026-05-13T15:07:50Z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03820" y="4836795"/>
              <a:ext cx="22442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Terraform 创建：PAY_PER_REQUEST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03820" y="5084445"/>
              <a:ext cx="13701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2026-05-14T07:18:17Z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03820" y="5255895"/>
              <a:ext cx="20586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手动改：ClaudeCode-BH → 5 WCU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7715250" y="5543550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703820" y="5674995"/>
              <a:ext cx="21982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+ 主动检查 application-autoscaling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03820" y="5827395"/>
              <a:ext cx="24085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describe-scalable-targets → 没配兜底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703820" y="6094095"/>
              <a:ext cx="18959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这是真生产 SRE 才会确认的细节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61022" y="6521291"/>
            <a:ext cx="11069956" cy="167640"/>
            <a:chOff x="561022" y="6521291"/>
            <a:chExt cx="11069956" cy="167640"/>
          </a:xfrm>
        </p:grpSpPr>
        <p:sp>
          <p:nvSpPr>
            <p:cNvPr id="65" name="TextBox 65"/>
            <p:cNvSpPr txBox="1"/>
            <p:nvPr/>
          </p:nvSpPr>
          <p:spPr>
            <a:xfrm>
              <a:off x="561022" y="6521291"/>
              <a:ext cx="55756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截图：cli-evidence/case3/PPT-NOTES.md · 完整 RCA 在 cli-evidence/case3/c3-journal-real.json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36500" y="65212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17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9" grpId="0"/>
      <p:bldP spid="6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76250"/>
            <a:ext cx="10844708" cy="971550"/>
            <a:chOff x="541020" y="476250"/>
            <a:chExt cx="10844708" cy="97155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26996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C3 · 调查 timeline + agent 自己的话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1020" y="960120"/>
              <a:ext cx="1084470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 xml:space="preserve">第二个中国区账号也同样跑通 — </a:t>
              </a:r>
              <a:r>
                <a:rPr lang="zh-CN" sz="24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aws-cn-2.yingchu.cloud</a:t>
              </a:r>
              <a:r>
                <a:rPr lang="zh-CN" sz="24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 xml:space="preserve"> Bridge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714500"/>
            <a:ext cx="6858000" cy="4667250"/>
            <a:chOff x="571500" y="1714500"/>
            <a:chExt cx="6858000" cy="4667250"/>
          </a:xfrm>
        </p:grpSpPr>
        <p:sp>
          <p:nvSpPr>
            <p:cNvPr id="7" name="Rectangle 7"/>
            <p:cNvSpPr/>
            <p:nvPr/>
          </p:nvSpPr>
          <p:spPr>
            <a:xfrm>
              <a:off x="571500" y="1714500"/>
              <a:ext cx="6858000" cy="4667250"/>
            </a:xfrm>
            <a:prstGeom prst="roundRect">
              <a:avLst>
                <a:gd name="adj" fmla="val 2449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714500"/>
              <a:ext cx="57150" cy="466725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33450" y="1914525"/>
              <a:ext cx="27754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★ Agent 自己写的根本原因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952500" y="22098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rgbClr val="FF980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6308" y="2510314"/>
              <a:ext cx="43925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手动将 etl-state 表从按需模式降级为预置 5 WCU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9165" y="2915602"/>
              <a:ext cx="35384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"AdminCYC 在 </a:t>
              </a:r>
              <a:r>
                <a:rPr lang="zh-CN" sz="1050" b="1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2026-05-14T07:18:17Z</a:t>
              </a:r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 通过 AWS CLI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9165" y="3106102"/>
              <a:ext cx="40905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(</a:t>
              </a:r>
              <a:r>
                <a:rPr lang="zh-CN" sz="1050" b="1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ClaudeCode-BH</a:t>
              </a:r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) 将 etl-state DynamoDB 表的计费模式从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9165" y="3296602"/>
              <a:ext cx="42131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Consolas"/>
                  <a:ea typeface="Microsoft YaHei"/>
                  <a:cs typeface="Consolas"/>
                </a:rPr>
                <a:t>PAY_PER_REQUEST</a:t>
              </a:r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 手动变更为 </a:t>
              </a:r>
              <a:r>
                <a:rPr lang="zh-CN" sz="1050" dirty="0">
                  <a:solidFill>
                    <a:srgbClr val="9AA0A6"/>
                  </a:solidFill>
                  <a:latin typeface="Consolas"/>
                  <a:ea typeface="Microsoft YaHei"/>
                  <a:cs typeface="Consolas"/>
                </a:rPr>
                <a:t>PROVISIONED</a:t>
              </a:r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 模式，仅设置了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9165" y="3487102"/>
              <a:ext cx="15908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5 WCU 的写入容量..."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9165" y="3849052"/>
              <a:ext cx="39141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 xml:space="preserve">"CloudTrail 记录显示该表最初由 </a:t>
              </a:r>
              <a:r>
                <a:rPr lang="zh-CN" sz="1050" b="1" dirty="0">
                  <a:solidFill>
                    <a:srgbClr val="42A5F5"/>
                  </a:solidFill>
                  <a:latin typeface="Arial"/>
                  <a:ea typeface="Microsoft YaHei"/>
                  <a:cs typeface="Arial"/>
                </a:rPr>
                <a:t>Terraform 以按需模式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9165" y="4039552"/>
              <a:ext cx="37147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创建（</a:t>
              </a:r>
              <a:r>
                <a:rPr lang="zh-CN" sz="1050" dirty="0">
                  <a:solidFill>
                    <a:srgbClr val="E8EAED"/>
                  </a:solidFill>
                  <a:latin typeface="Consolas"/>
                  <a:ea typeface="Microsoft YaHei"/>
                  <a:cs typeface="Consolas"/>
                </a:rPr>
                <a:t>2026-05-13T15:07:50Z</a:t>
              </a:r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），</a:t>
              </a:r>
              <a:r>
                <a:rPr lang="zh-CN" sz="1050" b="1" dirty="0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不存在节流风险</a:t>
              </a:r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。"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9165" y="4420552"/>
              <a:ext cx="36611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"这一手动变更直接引入了每秒 5 次写入的硬性限制，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9165" y="4611052"/>
              <a:ext cx="46962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而 ETL 工作负载的突发写入需求远超此值（实测约 300 WCU/分钟）"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52500" y="50292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969962" y="5233251"/>
              <a:ext cx="183618" cy="183919"/>
            </a:xfrm>
            <a:custGeom>
              <a:avLst/>
              <a:gdLst/>
              <a:ahLst/>
              <a:cxnLst/>
              <a:rect l="l" t="t" r="r" b="b"/>
              <a:pathLst>
                <a:path w="183618" h="183919">
                  <a:moveTo>
                    <a:pt x="130969" y="15611"/>
                  </a:moveTo>
                  <a:cubicBezTo>
                    <a:pt x="167355" y="36620"/>
                    <a:pt x="183618" y="80566"/>
                    <a:pt x="169674" y="120201"/>
                  </a:cubicBezTo>
                  <a:cubicBezTo>
                    <a:pt x="155730" y="159836"/>
                    <a:pt x="115534" y="183919"/>
                    <a:pt x="74008" y="177518"/>
                  </a:cubicBezTo>
                  <a:cubicBezTo>
                    <a:pt x="32482" y="171117"/>
                    <a:pt x="1405" y="136047"/>
                    <a:pt x="44" y="94052"/>
                  </a:cubicBezTo>
                  <a:lnTo>
                    <a:pt x="0" y="91224"/>
                  </a:lnTo>
                  <a:lnTo>
                    <a:pt x="44" y="88395"/>
                  </a:lnTo>
                  <a:cubicBezTo>
                    <a:pt x="1038" y="57722"/>
                    <a:pt x="18063" y="29823"/>
                    <a:pt x="44886" y="14911"/>
                  </a:cubicBezTo>
                  <a:cubicBezTo>
                    <a:pt x="71709" y="0"/>
                    <a:pt x="104392" y="266"/>
                    <a:pt x="130969" y="15611"/>
                  </a:cubicBezTo>
                  <a:close/>
                  <a:moveTo>
                    <a:pt x="119679" y="67588"/>
                  </a:moveTo>
                  <a:cubicBezTo>
                    <a:pt x="116569" y="64478"/>
                    <a:pt x="111630" y="64167"/>
                    <a:pt x="108154" y="66863"/>
                  </a:cubicBezTo>
                  <a:lnTo>
                    <a:pt x="107333" y="67588"/>
                  </a:lnTo>
                  <a:lnTo>
                    <a:pt x="78581" y="96331"/>
                  </a:lnTo>
                  <a:lnTo>
                    <a:pt x="67292" y="85051"/>
                  </a:lnTo>
                  <a:lnTo>
                    <a:pt x="66471" y="84326"/>
                  </a:lnTo>
                  <a:cubicBezTo>
                    <a:pt x="62995" y="81632"/>
                    <a:pt x="58058" y="81943"/>
                    <a:pt x="54948" y="85053"/>
                  </a:cubicBezTo>
                  <a:cubicBezTo>
                    <a:pt x="51838" y="88163"/>
                    <a:pt x="51527" y="93100"/>
                    <a:pt x="54221" y="96576"/>
                  </a:cubicBezTo>
                  <a:lnTo>
                    <a:pt x="54946" y="97397"/>
                  </a:lnTo>
                  <a:lnTo>
                    <a:pt x="72408" y="114859"/>
                  </a:lnTo>
                  <a:lnTo>
                    <a:pt x="73229" y="115584"/>
                  </a:lnTo>
                  <a:cubicBezTo>
                    <a:pt x="76379" y="118028"/>
                    <a:pt x="80784" y="118028"/>
                    <a:pt x="83934" y="115584"/>
                  </a:cubicBezTo>
                  <a:lnTo>
                    <a:pt x="84754" y="114859"/>
                  </a:lnTo>
                  <a:lnTo>
                    <a:pt x="119679" y="79934"/>
                  </a:lnTo>
                  <a:lnTo>
                    <a:pt x="120404" y="79113"/>
                  </a:lnTo>
                  <a:cubicBezTo>
                    <a:pt x="123100" y="75638"/>
                    <a:pt x="122790" y="70699"/>
                    <a:pt x="119679" y="67588"/>
                  </a:cubicBez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23962" y="5260181"/>
              <a:ext cx="40397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CAF50"/>
                  </a:solidFill>
                  <a:latin typeface="Arial"/>
                  <a:ea typeface="SimHei"/>
                  <a:cs typeface="Arial"/>
                </a:rPr>
                <a:t>Agent 通过 user-agent 字段，区分了两种"创建源"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25868" y="5562124"/>
              <a:ext cx="31788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这是经验丰富的 SRE 才会主动确认的细节 — agent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25868" y="5752624"/>
              <a:ext cx="37271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自己想到去检查 application-autoscaling 是不是配了兜底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25868" y="6085999"/>
              <a:ext cx="31361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— 这就是 6C 框架里的 Continuous Learning 落地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0" y="1714500"/>
            <a:ext cx="4000500" cy="4829175"/>
            <a:chOff x="7620000" y="1714500"/>
            <a:chExt cx="4000500" cy="4829175"/>
          </a:xfrm>
        </p:grpSpPr>
        <p:sp>
          <p:nvSpPr>
            <p:cNvPr id="27" name="Rectangle 27"/>
            <p:cNvSpPr/>
            <p:nvPr/>
          </p:nvSpPr>
          <p:spPr>
            <a:xfrm>
              <a:off x="7620000" y="1714500"/>
              <a:ext cx="4000500" cy="4667250"/>
            </a:xfrm>
            <a:prstGeom prst="roundRect">
              <a:avLst>
                <a:gd name="adj" fmla="val 2857"/>
              </a:avLst>
            </a:prstGeom>
            <a:solidFill>
              <a:srgbClr val="1A2332"/>
            </a:solidFill>
            <a:ln w="9525">
              <a:solidFill>
                <a:srgbClr val="2D3748"/>
              </a:solidFill>
            </a:ln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72400" y="2058524"/>
              <a:ext cx="3695700" cy="3788701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7760018" y="6181249"/>
              <a:ext cx="14003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Agent 调查 timeline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60970" y="6360795"/>
              <a:ext cx="30526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DDB / SQS / ECS / CloudTrail 4 个 sub-agent 并行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236500" y="667369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18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7210" y="476250"/>
            <a:ext cx="7190270" cy="1162050"/>
            <a:chOff x="537210" y="476250"/>
            <a:chExt cx="7190270" cy="116205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11216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三个 CASE 对照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719027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同一套 Bridge — 三种 6C 能力都跑通了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394460"/>
              <a:ext cx="55862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不同 cloud 资源类型 / 不同账号 / 不同 6C 能力 — 验证 pattern 可重复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1905000"/>
            <a:ext cx="3619500" cy="4095750"/>
            <a:chOff x="571500" y="1905000"/>
            <a:chExt cx="3619500" cy="4095750"/>
          </a:xfrm>
        </p:grpSpPr>
        <p:sp>
          <p:nvSpPr>
            <p:cNvPr id="8" name="Rectangle 8"/>
            <p:cNvSpPr/>
            <p:nvPr/>
          </p:nvSpPr>
          <p:spPr>
            <a:xfrm>
              <a:off x="571500" y="1905000"/>
              <a:ext cx="3619500" cy="4095750"/>
            </a:xfrm>
            <a:prstGeom prst="roundRect">
              <a:avLst>
                <a:gd name="adj" fmla="val 3684"/>
              </a:avLst>
            </a:prstGeom>
            <a:solidFill>
              <a:srgbClr val="1A2332"/>
            </a:solidFill>
            <a:ln w="14288">
              <a:solidFill>
                <a:srgbClr val="1565C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905000"/>
              <a:ext cx="3619500" cy="571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1933575"/>
              <a:ext cx="3619500" cy="28575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1045" y="2145982"/>
              <a:ext cx="25698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C1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25855" y="2178368"/>
              <a:ext cx="17629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Webhook 自主调查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570" y="2474595"/>
              <a:ext cx="18170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2A5F5"/>
                  </a:solidFill>
                  <a:latin typeface="Consolas"/>
                  <a:ea typeface="Microsoft YaHei"/>
                  <a:cs typeface="Consolas"/>
                </a:rPr>
                <a:t>EKS pod failure · cn-north-1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62000" y="276225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9618" y="2923699"/>
              <a:ext cx="11212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验证哪个 6C 能力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8665" y="3106102"/>
              <a:ext cx="21762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2A5F5"/>
                  </a:solidFill>
                  <a:latin typeface="Arial"/>
                  <a:ea typeface="Microsoft YaHei"/>
                  <a:cs typeface="Arial"/>
                </a:rPr>
                <a:t>Collaboration · Convenience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9618" y="343804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触发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8665" y="3620452"/>
              <a:ext cx="23422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CloudWatch alarm 自动 webhook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618" y="395239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8665" y="4134802"/>
              <a:ext cx="20432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RCA + 4 阶段 Mitigation Plan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8665" y="4325302"/>
              <a:ext cx="1199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+ Slack 自主投递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9618" y="46572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证据强度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8665" y="4839652"/>
              <a:ext cx="19205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人 0 操作 → agent 全程接管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762000" y="52197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1520" y="5284470"/>
              <a:ext cx="26338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30618" y="5438299"/>
              <a:ext cx="1242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个 sub-agent 并行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9618" y="572404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12 分钟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11618" y="5724049"/>
              <a:ext cx="5872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完整 RCA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286250" y="1905000"/>
            <a:ext cx="3619500" cy="4095750"/>
            <a:chOff x="4286250" y="1905000"/>
            <a:chExt cx="3619500" cy="4095750"/>
          </a:xfrm>
        </p:grpSpPr>
        <p:sp>
          <p:nvSpPr>
            <p:cNvPr id="30" name="Rectangle 30"/>
            <p:cNvSpPr/>
            <p:nvPr/>
          </p:nvSpPr>
          <p:spPr>
            <a:xfrm>
              <a:off x="4286250" y="1905000"/>
              <a:ext cx="3619500" cy="4095750"/>
            </a:xfrm>
            <a:prstGeom prst="roundRect">
              <a:avLst>
                <a:gd name="adj" fmla="val 3684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286250" y="1905000"/>
              <a:ext cx="3619500" cy="57150"/>
            </a:xfrm>
            <a:prstGeom prst="roundRect">
              <a:avLst>
                <a:gd name="adj" fmla="val 50000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286250" y="1933575"/>
              <a:ext cx="3619500" cy="2857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455795" y="2145982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C2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40605" y="2178368"/>
              <a:ext cx="12660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时间锚定 RCA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65320" y="2474595"/>
              <a:ext cx="14096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RDS perf · cn-north-1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4476750" y="276225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464368" y="2923699"/>
              <a:ext cx="11212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验证哪个 6C 能力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63415" y="3106102"/>
              <a:ext cx="20233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Context (拓扑 + 跨源关联)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64368" y="343804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触发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63415" y="3620452"/>
              <a:ext cx="22119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L4 unindexed query → p99 飙升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64368" y="395239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463415" y="4134802"/>
              <a:ext cx="12764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3 cause + 6+ 观察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63415" y="4325302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"05:19:19Z 精确吻合"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64368" y="46572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证据强度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63415" y="48396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5 数据源 + 时间锚定到秒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476750" y="52197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46270" y="5284470"/>
              <a:ext cx="46581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98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988242" y="543829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次 tool call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464368" y="5724049"/>
              <a:ext cx="6726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9 分 49 秒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397818" y="5724049"/>
              <a:ext cx="5872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完整 RCA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8001000" y="1905000"/>
            <a:ext cx="3619500" cy="4095750"/>
            <a:chOff x="8001000" y="1905000"/>
            <a:chExt cx="3619500" cy="4095750"/>
          </a:xfrm>
        </p:grpSpPr>
        <p:sp>
          <p:nvSpPr>
            <p:cNvPr id="52" name="Rectangle 52"/>
            <p:cNvSpPr/>
            <p:nvPr/>
          </p:nvSpPr>
          <p:spPr>
            <a:xfrm>
              <a:off x="8001000" y="1905000"/>
              <a:ext cx="3619500" cy="4095750"/>
            </a:xfrm>
            <a:prstGeom prst="roundRect">
              <a:avLst>
                <a:gd name="adj" fmla="val 3684"/>
              </a:avLst>
            </a:prstGeom>
            <a:solidFill>
              <a:srgbClr val="1A2332"/>
            </a:solidFill>
            <a:ln w="14288">
              <a:solidFill>
                <a:srgbClr val="4CAF5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001000" y="1905000"/>
              <a:ext cx="3619500" cy="57150"/>
            </a:xfrm>
            <a:prstGeom prst="roundRect">
              <a:avLst>
                <a:gd name="adj" fmla="val 50000"/>
              </a:avLst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001000" y="1933575"/>
              <a:ext cx="3619500" cy="28575"/>
            </a:xfrm>
            <a:prstGeom prst="rect">
              <a:avLst/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170545" y="2145982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4CAF50"/>
                  </a:solidFill>
                  <a:latin typeface="Arial"/>
                  <a:ea typeface="SimHei"/>
                  <a:cs typeface="Arial"/>
                </a:rPr>
                <a:t>C3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55355" y="2178368"/>
              <a:ext cx="12660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多跳拓扑 RCA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80070" y="2474595"/>
              <a:ext cx="19813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CAF50"/>
                  </a:solidFill>
                  <a:latin typeface="Consolas"/>
                  <a:ea typeface="Microsoft YaHei"/>
                  <a:cs typeface="Consolas"/>
                </a:rPr>
                <a:t>DDB throttle · cn-northwest-1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8191500" y="276225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179118" y="2923699"/>
              <a:ext cx="11212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验证哪个 6C 能力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178165" y="3106102"/>
              <a:ext cx="23534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Continuous Learning · Control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179118" y="343804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触发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78165" y="3620452"/>
              <a:ext cx="23729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L5 DDB throttle + ECS overscale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179118" y="395239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78165" y="4134802"/>
              <a:ext cx="21889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区分 Terraform vs Manual CLI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178165" y="43253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+ 主动检查 AutoScaling 兜底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79118" y="46572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证据强度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178165" y="4839652"/>
              <a:ext cx="17595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第 2 个账号 → 同模式跑通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8191500" y="52197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161020" y="5284470"/>
              <a:ext cx="37379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4CAF50"/>
                  </a:solidFill>
                  <a:latin typeface="Arial"/>
                  <a:ea typeface="SimHei"/>
                  <a:cs typeface="Arial"/>
                </a:rPr>
                <a:t>14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636318" y="543829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次 tool call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179118" y="572404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13 分钟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941118" y="5724049"/>
              <a:ext cx="5872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完整 RCA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71500" y="6191250"/>
            <a:ext cx="11049000" cy="381000"/>
            <a:chOff x="571500" y="6191250"/>
            <a:chExt cx="11049000" cy="381000"/>
          </a:xfrm>
        </p:grpSpPr>
        <p:sp>
          <p:nvSpPr>
            <p:cNvPr id="74" name="Rectangle 74"/>
            <p:cNvSpPr/>
            <p:nvPr/>
          </p:nvSpPr>
          <p:spPr>
            <a:xfrm>
              <a:off x="571500" y="6191250"/>
              <a:ext cx="11049000" cy="381000"/>
            </a:xfrm>
            <a:prstGeom prst="roundRect">
              <a:avLst>
                <a:gd name="adj" fmla="val 15000"/>
              </a:avLst>
            </a:prstGeom>
            <a:solidFill>
              <a:srgbClr val="0F1419"/>
            </a:solidFill>
            <a:ln w="9525">
              <a:solidFill>
                <a:srgbClr val="FF9800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2185978" y="6325552"/>
              <a:ext cx="78200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结论：MCP + Skill 三层架构对 6C 全部 6 个能力都给出可观测证据 — pattern 可移植到任何 cloud / 任何客户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11236500" y="667369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19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51" grpId="0"/>
      <p:bldP spid="73" grpId="0"/>
      <p:bldP spid="7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41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C0">
                    <a:alpha val="18000"/>
                  </a:srgbClr>
                </a:gs>
                <a:gs pos="100000">
                  <a:srgbClr val="1565C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695450" y="1695450"/>
            <a:ext cx="8801100" cy="4038600"/>
            <a:chOff x="1695450" y="1695450"/>
            <a:chExt cx="8801100" cy="4038600"/>
          </a:xfrm>
        </p:grpSpPr>
        <p:sp>
          <p:nvSpPr>
            <p:cNvPr id="5" name="Line 5"/>
            <p:cNvSpPr/>
            <p:nvPr/>
          </p:nvSpPr>
          <p:spPr>
            <a:xfrm>
              <a:off x="5143500" y="20955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FF9800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695450" y="1695450"/>
              <a:ext cx="38100" cy="38100"/>
            </a:xfrm>
            <a:prstGeom prst="ellipse">
              <a:avLst/>
            </a:prstGeom>
            <a:solidFill>
              <a:srgbClr val="42A5F5">
                <a:alpha val="50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458450" y="1885950"/>
              <a:ext cx="38100" cy="38100"/>
            </a:xfrm>
            <a:prstGeom prst="ellipse">
              <a:avLst/>
            </a:prstGeom>
            <a:solidFill>
              <a:srgbClr val="FF9800">
                <a:alpha val="5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885950" y="5695950"/>
              <a:ext cx="38100" cy="38100"/>
            </a:xfrm>
            <a:prstGeom prst="ellipse">
              <a:avLst/>
            </a:prstGeom>
            <a:solidFill>
              <a:srgbClr val="FF9800">
                <a:alpha val="5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458450" y="5695950"/>
              <a:ext cx="38100" cy="38100"/>
            </a:xfrm>
            <a:prstGeom prst="ellipse">
              <a:avLst/>
            </a:prstGeom>
            <a:solidFill>
              <a:srgbClr val="42A5F5">
                <a:alpha val="5000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601528" y="1791652"/>
            <a:ext cx="2988945" cy="2113598"/>
            <a:chOff x="4601528" y="1791652"/>
            <a:chExt cx="2988945" cy="2113598"/>
          </a:xfrm>
        </p:grpSpPr>
        <p:sp>
          <p:nvSpPr>
            <p:cNvPr id="11" name="TextBox 11"/>
            <p:cNvSpPr txBox="1"/>
            <p:nvPr/>
          </p:nvSpPr>
          <p:spPr>
            <a:xfrm>
              <a:off x="4802555" y="1791652"/>
              <a:ext cx="25868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THANK YOU · QUESTIONS WELCOME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01528" y="2076450"/>
              <a:ext cx="2988945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gradFill>
                    <a:gsLst>
                      <a:gs pos="0">
                        <a:srgbClr val="1565C0"/>
                      </a:gs>
                      <a:gs pos="100000">
                        <a:srgbClr val="FF9800"/>
                      </a:gs>
                    </a:gsLst>
                    <a:lin ang="0" scaled="1"/>
                  </a:gradFill>
                  <a:latin typeface="Arial"/>
                  <a:ea typeface="SimHei"/>
                  <a:cs typeface="Arial"/>
                </a:rPr>
                <a:t>谢谢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43000" y="3810000"/>
            <a:ext cx="9906000" cy="1950244"/>
            <a:chOff x="1143000" y="3810000"/>
            <a:chExt cx="9906000" cy="1950244"/>
          </a:xfrm>
        </p:grpSpPr>
        <p:sp>
          <p:nvSpPr>
            <p:cNvPr id="14" name="Rectangle 14"/>
            <p:cNvSpPr/>
            <p:nvPr/>
          </p:nvSpPr>
          <p:spPr>
            <a:xfrm>
              <a:off x="1143000" y="3810000"/>
              <a:ext cx="9906000" cy="1905000"/>
            </a:xfrm>
            <a:prstGeom prst="roundRect">
              <a:avLst>
                <a:gd name="adj" fmla="val 7000"/>
              </a:avLst>
            </a:prstGeom>
            <a:solidFill>
              <a:srgbClr val="1A2332"/>
            </a:solidFill>
            <a:ln w="9525">
              <a:solidFill>
                <a:srgbClr val="2D374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340858" y="4010025"/>
              <a:ext cx="1510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SA 怎么用这个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1558925" y="4492625"/>
              <a:ext cx="2249671" cy="819944"/>
              <a:chOff x="1558925" y="4492625"/>
              <a:chExt cx="2249671" cy="81994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558925" y="4492625"/>
                <a:ext cx="142407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42407" h="157162">
                    <a:moveTo>
                      <a:pt x="130969" y="0"/>
                    </a:moveTo>
                    <a:cubicBezTo>
                      <a:pt x="138408" y="0"/>
                      <a:pt x="142293" y="8609"/>
                      <a:pt x="137805" y="14171"/>
                    </a:cubicBezTo>
                    <a:lnTo>
                      <a:pt x="137142" y="14904"/>
                    </a:lnTo>
                    <a:lnTo>
                      <a:pt x="104033" y="48022"/>
                    </a:lnTo>
                    <a:lnTo>
                      <a:pt x="137142" y="81140"/>
                    </a:lnTo>
                    <a:cubicBezTo>
                      <a:pt x="142407" y="86396"/>
                      <a:pt x="139063" y="95232"/>
                      <a:pt x="131964" y="95991"/>
                    </a:cubicBezTo>
                    <a:lnTo>
                      <a:pt x="130969" y="96044"/>
                    </a:lnTo>
                    <a:lnTo>
                      <a:pt x="17463" y="96044"/>
                    </a:lnTo>
                    <a:lnTo>
                      <a:pt x="17463" y="148431"/>
                    </a:lnTo>
                    <a:cubicBezTo>
                      <a:pt x="17462" y="152858"/>
                      <a:pt x="14149" y="156583"/>
                      <a:pt x="9753" y="157101"/>
                    </a:cubicBezTo>
                    <a:lnTo>
                      <a:pt x="8731" y="157162"/>
                    </a:lnTo>
                    <a:cubicBezTo>
                      <a:pt x="4305" y="157162"/>
                      <a:pt x="579" y="153849"/>
                      <a:pt x="61" y="149453"/>
                    </a:cubicBezTo>
                    <a:lnTo>
                      <a:pt x="0" y="148431"/>
                    </a:lnTo>
                    <a:lnTo>
                      <a:pt x="0" y="8731"/>
                    </a:lnTo>
                    <a:cubicBezTo>
                      <a:pt x="1" y="4305"/>
                      <a:pt x="3314" y="579"/>
                      <a:pt x="7710" y="61"/>
                    </a:cubicBezTo>
                    <a:lnTo>
                      <a:pt x="8731" y="0"/>
                    </a:lnTo>
                    <a:lnTo>
                      <a:pt x="130969" y="0"/>
                    </a:lnTo>
                    <a:close/>
                  </a:path>
                </a:pathLst>
              </a:custGeom>
              <a:solidFill>
                <a:srgbClr val="42A5F5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795462" y="4498181"/>
                <a:ext cx="148638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客户 POC 现成素材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797368" y="4733449"/>
                <a:ext cx="20112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3 个 case 截图 + 演讲稿 + 终端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797368" y="4923949"/>
                <a:ext cx="159115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命令直接拿去客户面前讲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797368" y="5114449"/>
                <a:ext cx="147011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15 分钟搭起 demo 环境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779961" y="4471251"/>
              <a:ext cx="2203055" cy="841318"/>
              <a:chOff x="4779961" y="4471251"/>
              <a:chExt cx="2203055" cy="84131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779961" y="4471251"/>
                <a:ext cx="183853" cy="184570"/>
              </a:xfrm>
              <a:custGeom>
                <a:avLst/>
                <a:gdLst/>
                <a:ahLst/>
                <a:cxnLst/>
                <a:rect l="l" t="t" r="r" b="b"/>
                <a:pathLst>
                  <a:path w="183853" h="184570">
                    <a:moveTo>
                      <a:pt x="130970" y="15611"/>
                    </a:moveTo>
                    <a:cubicBezTo>
                      <a:pt x="167665" y="36797"/>
                      <a:pt x="183853" y="81272"/>
                      <a:pt x="169360" y="121089"/>
                    </a:cubicBezTo>
                    <a:cubicBezTo>
                      <a:pt x="154868" y="160906"/>
                      <a:pt x="113879" y="184570"/>
                      <a:pt x="72150" y="177212"/>
                    </a:cubicBezTo>
                    <a:cubicBezTo>
                      <a:pt x="30422" y="169853"/>
                      <a:pt x="0" y="133596"/>
                      <a:pt x="1" y="91224"/>
                    </a:cubicBezTo>
                    <a:lnTo>
                      <a:pt x="45" y="88395"/>
                    </a:lnTo>
                    <a:cubicBezTo>
                      <a:pt x="1039" y="57722"/>
                      <a:pt x="18064" y="29823"/>
                      <a:pt x="44887" y="14911"/>
                    </a:cubicBezTo>
                    <a:cubicBezTo>
                      <a:pt x="71711" y="0"/>
                      <a:pt x="104393" y="266"/>
                      <a:pt x="130970" y="15611"/>
                    </a:cubicBezTo>
                    <a:moveTo>
                      <a:pt x="76024" y="67588"/>
                    </a:moveTo>
                    <a:cubicBezTo>
                      <a:pt x="72615" y="64180"/>
                      <a:pt x="67088" y="64180"/>
                      <a:pt x="63678" y="67588"/>
                    </a:cubicBezTo>
                    <a:lnTo>
                      <a:pt x="46216" y="85051"/>
                    </a:lnTo>
                    <a:cubicBezTo>
                      <a:pt x="42807" y="88460"/>
                      <a:pt x="42807" y="93987"/>
                      <a:pt x="46216" y="97397"/>
                    </a:cubicBezTo>
                    <a:lnTo>
                      <a:pt x="63678" y="114859"/>
                    </a:lnTo>
                    <a:cubicBezTo>
                      <a:pt x="67088" y="118268"/>
                      <a:pt x="72615" y="118268"/>
                      <a:pt x="76024" y="114859"/>
                    </a:cubicBezTo>
                    <a:lnTo>
                      <a:pt x="76749" y="114038"/>
                    </a:lnTo>
                    <a:cubicBezTo>
                      <a:pt x="79445" y="110563"/>
                      <a:pt x="79134" y="105624"/>
                      <a:pt x="76024" y="102513"/>
                    </a:cubicBezTo>
                    <a:lnTo>
                      <a:pt x="64743" y="91224"/>
                    </a:lnTo>
                    <a:lnTo>
                      <a:pt x="76024" y="79934"/>
                    </a:lnTo>
                    <a:cubicBezTo>
                      <a:pt x="79433" y="76525"/>
                      <a:pt x="79433" y="70998"/>
                      <a:pt x="76024" y="67588"/>
                    </a:cubicBezTo>
                    <a:moveTo>
                      <a:pt x="110949" y="67588"/>
                    </a:moveTo>
                    <a:cubicBezTo>
                      <a:pt x="107540" y="64180"/>
                      <a:pt x="102013" y="64180"/>
                      <a:pt x="98603" y="67588"/>
                    </a:cubicBezTo>
                    <a:lnTo>
                      <a:pt x="97878" y="68409"/>
                    </a:lnTo>
                    <a:cubicBezTo>
                      <a:pt x="95182" y="71885"/>
                      <a:pt x="95493" y="76823"/>
                      <a:pt x="98603" y="79934"/>
                    </a:cubicBezTo>
                    <a:lnTo>
                      <a:pt x="109884" y="91224"/>
                    </a:lnTo>
                    <a:lnTo>
                      <a:pt x="98603" y="102513"/>
                    </a:lnTo>
                    <a:cubicBezTo>
                      <a:pt x="95294" y="105939"/>
                      <a:pt x="95342" y="111385"/>
                      <a:pt x="98709" y="114753"/>
                    </a:cubicBezTo>
                    <a:cubicBezTo>
                      <a:pt x="102077" y="118121"/>
                      <a:pt x="107523" y="118168"/>
                      <a:pt x="110949" y="114859"/>
                    </a:cubicBezTo>
                    <a:lnTo>
                      <a:pt x="128412" y="97397"/>
                    </a:lnTo>
                    <a:cubicBezTo>
                      <a:pt x="131820" y="93987"/>
                      <a:pt x="131820" y="88460"/>
                      <a:pt x="128412" y="85051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033962" y="4498181"/>
                <a:ext cx="123622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参考架构与代码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035868" y="4733449"/>
                <a:ext cx="183322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Bridge Pattern Helm chart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035868" y="4923949"/>
                <a:ext cx="12778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9 个 SKILL.md 模板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035868" y="5114449"/>
                <a:ext cx="194714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Webhook bridge Lambda 代码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8017862" y="4475390"/>
              <a:ext cx="2274854" cy="837179"/>
              <a:chOff x="8017862" y="4475390"/>
              <a:chExt cx="2274854" cy="837179"/>
            </a:xfrm>
          </p:grpSpPr>
          <p:grpSp>
            <p:nvGrpSpPr>
              <p:cNvPr id="37" name="Group 37"/>
              <p:cNvGrpSpPr/>
              <p:nvPr/>
            </p:nvGrpSpPr>
            <p:grpSpPr>
              <a:xfrm>
                <a:off x="8017862" y="4475390"/>
                <a:ext cx="175814" cy="174162"/>
                <a:chOff x="8017862" y="4475390"/>
                <a:chExt cx="175814" cy="174162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8112158" y="4597400"/>
                  <a:ext cx="73639" cy="52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639" h="52152">
                      <a:moveTo>
                        <a:pt x="73639" y="0"/>
                      </a:moveTo>
                      <a:cubicBezTo>
                        <a:pt x="60675" y="29704"/>
                        <a:pt x="32323" y="49782"/>
                        <a:pt x="0" y="52152"/>
                      </a:cubicBezTo>
                      <a:cubicBezTo>
                        <a:pt x="2236" y="51619"/>
                        <a:pt x="4172" y="50226"/>
                        <a:pt x="5387" y="48275"/>
                      </a:cubicBezTo>
                      <a:cubicBezTo>
                        <a:pt x="14668" y="33409"/>
                        <a:pt x="21396" y="17095"/>
                        <a:pt x="25294" y="9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8025753" y="4597400"/>
                  <a:ext cx="73631" cy="52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631" h="52152">
                      <a:moveTo>
                        <a:pt x="48345" y="0"/>
                      </a:moveTo>
                      <a:cubicBezTo>
                        <a:pt x="52241" y="17092"/>
                        <a:pt x="58970" y="33412"/>
                        <a:pt x="68252" y="48284"/>
                      </a:cubicBezTo>
                      <a:cubicBezTo>
                        <a:pt x="69467" y="50230"/>
                        <a:pt x="71399" y="51619"/>
                        <a:pt x="73631" y="52152"/>
                      </a:cubicBezTo>
                      <a:cubicBezTo>
                        <a:pt x="41311" y="49779"/>
                        <a:pt x="12963" y="29701"/>
                        <a:pt x="0" y="0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8092067" y="4597400"/>
                  <a:ext cx="27416" cy="33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6" h="33912">
                      <a:moveTo>
                        <a:pt x="27416" y="0"/>
                      </a:moveTo>
                      <a:cubicBezTo>
                        <a:pt x="24353" y="11856"/>
                        <a:pt x="19744" y="23258"/>
                        <a:pt x="13708" y="33912"/>
                      </a:cubicBezTo>
                      <a:cubicBezTo>
                        <a:pt x="7672" y="23258"/>
                        <a:pt x="3063" y="11856"/>
                        <a:pt x="0" y="0"/>
                      </a:cubicBezTo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8017862" y="4545012"/>
                  <a:ext cx="53284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84" h="34925">
                      <a:moveTo>
                        <a:pt x="53284" y="0"/>
                      </a:moveTo>
                      <a:cubicBezTo>
                        <a:pt x="51987" y="11606"/>
                        <a:pt x="51987" y="23319"/>
                        <a:pt x="53284" y="34925"/>
                      </a:cubicBezTo>
                      <a:lnTo>
                        <a:pt x="2364" y="34925"/>
                      </a:lnTo>
                      <a:cubicBezTo>
                        <a:pt x="6" y="23403"/>
                        <a:pt x="0" y="11524"/>
                        <a:pt x="2346" y="0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8087271" y="4545012"/>
                  <a:ext cx="37009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09" h="34925">
                      <a:moveTo>
                        <a:pt x="35548" y="0"/>
                      </a:moveTo>
                      <a:cubicBezTo>
                        <a:pt x="37009" y="11596"/>
                        <a:pt x="37009" y="23329"/>
                        <a:pt x="35548" y="34925"/>
                      </a:cubicBezTo>
                      <a:lnTo>
                        <a:pt x="1461" y="34925"/>
                      </a:lnTo>
                      <a:cubicBezTo>
                        <a:pt x="0" y="23329"/>
                        <a:pt x="0" y="11596"/>
                        <a:pt x="1461" y="0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8140403" y="4545012"/>
                  <a:ext cx="53273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73" h="34925">
                      <a:moveTo>
                        <a:pt x="50938" y="0"/>
                      </a:moveTo>
                      <a:cubicBezTo>
                        <a:pt x="53273" y="11525"/>
                        <a:pt x="53267" y="23402"/>
                        <a:pt x="50921" y="34925"/>
                      </a:cubicBezTo>
                      <a:lnTo>
                        <a:pt x="0" y="34925"/>
                      </a:lnTo>
                      <a:cubicBezTo>
                        <a:pt x="1301" y="23321"/>
                        <a:pt x="1301" y="11613"/>
                        <a:pt x="0" y="0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8025727" y="4475398"/>
                  <a:ext cx="73648" cy="52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648" h="52152">
                      <a:moveTo>
                        <a:pt x="73648" y="0"/>
                      </a:moveTo>
                      <a:cubicBezTo>
                        <a:pt x="71419" y="537"/>
                        <a:pt x="69490" y="1929"/>
                        <a:pt x="68278" y="3877"/>
                      </a:cubicBezTo>
                      <a:cubicBezTo>
                        <a:pt x="58997" y="18746"/>
                        <a:pt x="52268" y="35063"/>
                        <a:pt x="48371" y="52152"/>
                      </a:cubicBezTo>
                      <a:lnTo>
                        <a:pt x="0" y="52152"/>
                      </a:lnTo>
                      <a:cubicBezTo>
                        <a:pt x="12850" y="22742"/>
                        <a:pt x="40785" y="2741"/>
                        <a:pt x="72766" y="52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8092067" y="4493638"/>
                  <a:ext cx="27416" cy="33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6" h="33921">
                      <a:moveTo>
                        <a:pt x="13708" y="0"/>
                      </a:moveTo>
                      <a:cubicBezTo>
                        <a:pt x="19745" y="10657"/>
                        <a:pt x="24354" y="22062"/>
                        <a:pt x="27416" y="33921"/>
                      </a:cubicBezTo>
                      <a:lnTo>
                        <a:pt x="0" y="33921"/>
                      </a:lnTo>
                      <a:cubicBezTo>
                        <a:pt x="2969" y="22422"/>
                        <a:pt x="7422" y="11220"/>
                        <a:pt x="13359" y="594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8112175" y="4475390"/>
                  <a:ext cx="73648" cy="52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648" h="52160">
                      <a:moveTo>
                        <a:pt x="0" y="0"/>
                      </a:moveTo>
                      <a:cubicBezTo>
                        <a:pt x="32322" y="2387"/>
                        <a:pt x="60669" y="22463"/>
                        <a:pt x="73648" y="52160"/>
                      </a:cubicBezTo>
                      <a:lnTo>
                        <a:pt x="25277" y="52160"/>
                      </a:lnTo>
                      <a:cubicBezTo>
                        <a:pt x="21381" y="35068"/>
                        <a:pt x="14652" y="18748"/>
                        <a:pt x="5370" y="3877"/>
                      </a:cubicBezTo>
                      <a:cubicBezTo>
                        <a:pt x="4319" y="2194"/>
                        <a:pt x="2727" y="919"/>
                        <a:pt x="856" y="262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8272462" y="4498181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扩展场景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274368" y="4733449"/>
                <a:ext cx="201834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阿里云 / 腾讯云 / 客户内部 API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274368" y="4923949"/>
                <a:ext cx="16837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on-prem K8s / 私有 SaaS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274368" y="5114449"/>
                <a:ext cx="185458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同 Bridge pattern 加 spoke</a:t>
                </a:r>
              </a:p>
            </p:txBody>
          </p:sp>
        </p:grpSp>
        <p:sp>
          <p:nvSpPr>
            <p:cNvPr id="43" name="Line 43"/>
            <p:cNvSpPr/>
            <p:nvPr/>
          </p:nvSpPr>
          <p:spPr>
            <a:xfrm>
              <a:off x="1524000" y="54102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538287" y="5554638"/>
              <a:ext cx="150425" cy="151012"/>
            </a:xfrm>
            <a:custGeom>
              <a:avLst/>
              <a:gdLst/>
              <a:ahLst/>
              <a:cxnLst/>
              <a:rect l="l" t="t" r="r" b="b"/>
              <a:pathLst>
                <a:path w="150425" h="151012">
                  <a:moveTo>
                    <a:pt x="107157" y="12773"/>
                  </a:moveTo>
                  <a:cubicBezTo>
                    <a:pt x="137181" y="30107"/>
                    <a:pt x="150425" y="66495"/>
                    <a:pt x="138567" y="99073"/>
                  </a:cubicBezTo>
                  <a:cubicBezTo>
                    <a:pt x="126710" y="131650"/>
                    <a:pt x="93174" y="151012"/>
                    <a:pt x="59032" y="144991"/>
                  </a:cubicBezTo>
                  <a:cubicBezTo>
                    <a:pt x="24891" y="138971"/>
                    <a:pt x="0" y="109306"/>
                    <a:pt x="1" y="74637"/>
                  </a:cubicBezTo>
                  <a:lnTo>
                    <a:pt x="37" y="72323"/>
                  </a:lnTo>
                  <a:cubicBezTo>
                    <a:pt x="850" y="47227"/>
                    <a:pt x="14780" y="24400"/>
                    <a:pt x="36726" y="12200"/>
                  </a:cubicBezTo>
                  <a:cubicBezTo>
                    <a:pt x="58672" y="0"/>
                    <a:pt x="85412" y="217"/>
                    <a:pt x="107157" y="12773"/>
                  </a:cubicBezTo>
                  <a:moveTo>
                    <a:pt x="62202" y="55299"/>
                  </a:moveTo>
                  <a:cubicBezTo>
                    <a:pt x="59412" y="52511"/>
                    <a:pt x="54890" y="52511"/>
                    <a:pt x="52100" y="55299"/>
                  </a:cubicBezTo>
                  <a:lnTo>
                    <a:pt x="37813" y="69587"/>
                  </a:lnTo>
                  <a:cubicBezTo>
                    <a:pt x="35024" y="72376"/>
                    <a:pt x="35024" y="76898"/>
                    <a:pt x="37813" y="79688"/>
                  </a:cubicBezTo>
                  <a:lnTo>
                    <a:pt x="52100" y="93976"/>
                  </a:lnTo>
                  <a:cubicBezTo>
                    <a:pt x="54890" y="96764"/>
                    <a:pt x="59412" y="96764"/>
                    <a:pt x="62202" y="93976"/>
                  </a:cubicBezTo>
                  <a:lnTo>
                    <a:pt x="62794" y="93304"/>
                  </a:lnTo>
                  <a:cubicBezTo>
                    <a:pt x="65000" y="90460"/>
                    <a:pt x="64746" y="86419"/>
                    <a:pt x="62202" y="83874"/>
                  </a:cubicBezTo>
                  <a:lnTo>
                    <a:pt x="52972" y="74637"/>
                  </a:lnTo>
                  <a:lnTo>
                    <a:pt x="62202" y="65401"/>
                  </a:lnTo>
                  <a:cubicBezTo>
                    <a:pt x="64990" y="62611"/>
                    <a:pt x="64990" y="58089"/>
                    <a:pt x="62202" y="55299"/>
                  </a:cubicBezTo>
                  <a:moveTo>
                    <a:pt x="90777" y="55299"/>
                  </a:moveTo>
                  <a:cubicBezTo>
                    <a:pt x="87987" y="52511"/>
                    <a:pt x="83465" y="52511"/>
                    <a:pt x="80675" y="55299"/>
                  </a:cubicBezTo>
                  <a:lnTo>
                    <a:pt x="80082" y="55971"/>
                  </a:lnTo>
                  <a:cubicBezTo>
                    <a:pt x="77876" y="58815"/>
                    <a:pt x="78130" y="62856"/>
                    <a:pt x="80675" y="65401"/>
                  </a:cubicBezTo>
                  <a:lnTo>
                    <a:pt x="89905" y="74637"/>
                  </a:lnTo>
                  <a:lnTo>
                    <a:pt x="80675" y="83874"/>
                  </a:lnTo>
                  <a:cubicBezTo>
                    <a:pt x="77968" y="86677"/>
                    <a:pt x="78007" y="91133"/>
                    <a:pt x="80762" y="93889"/>
                  </a:cubicBezTo>
                  <a:cubicBezTo>
                    <a:pt x="83518" y="96644"/>
                    <a:pt x="87973" y="96683"/>
                    <a:pt x="90777" y="93976"/>
                  </a:cubicBezTo>
                  <a:lnTo>
                    <a:pt x="105064" y="79688"/>
                  </a:lnTo>
                  <a:cubicBezTo>
                    <a:pt x="107853" y="76898"/>
                    <a:pt x="107853" y="72376"/>
                    <a:pt x="105064" y="69587"/>
                  </a:cubicBezTo>
                  <a:close/>
                </a:path>
              </a:pathLst>
            </a:custGeom>
            <a:solidFill>
              <a:srgbClr val="42A5F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759268" y="5562124"/>
              <a:ext cx="39834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2A5F5"/>
                  </a:solidFill>
                  <a:latin typeface="Consolas"/>
                  <a:ea typeface="Microsoft YaHei"/>
                  <a:cs typeface="Consolas"/>
                </a:rPr>
                <a:t>github.com/warren830/aws-devops-agent-external-mcp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6703219" y="5557838"/>
              <a:ext cx="100012" cy="142874"/>
              <a:chOff x="6703219" y="5557838"/>
              <a:chExt cx="100012" cy="142874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717506" y="5557838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35719" y="0"/>
                    </a:moveTo>
                    <a:cubicBezTo>
                      <a:pt x="55446" y="0"/>
                      <a:pt x="71438" y="15992"/>
                      <a:pt x="71438" y="35719"/>
                    </a:cubicBezTo>
                    <a:cubicBezTo>
                      <a:pt x="71438" y="55446"/>
                      <a:pt x="55446" y="71438"/>
                      <a:pt x="35719" y="71438"/>
                    </a:cubicBezTo>
                    <a:cubicBezTo>
                      <a:pt x="15992" y="71438"/>
                      <a:pt x="0" y="55446"/>
                      <a:pt x="0" y="35719"/>
                    </a:cubicBezTo>
                    <a:lnTo>
                      <a:pt x="36" y="34169"/>
                    </a:lnTo>
                    <a:cubicBezTo>
                      <a:pt x="866" y="15063"/>
                      <a:pt x="16596" y="1"/>
                      <a:pt x="35719" y="0"/>
                    </a:cubicBezTo>
                    <a:close/>
                  </a:path>
                </a:pathLst>
              </a:custGeom>
              <a:solidFill>
                <a:srgbClr val="9AA0A6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703219" y="5643562"/>
                <a:ext cx="100012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57150">
                    <a:moveTo>
                      <a:pt x="64294" y="0"/>
                    </a:moveTo>
                    <a:cubicBezTo>
                      <a:pt x="84021" y="0"/>
                      <a:pt x="100012" y="15992"/>
                      <a:pt x="100012" y="35719"/>
                    </a:cubicBezTo>
                    <a:lnTo>
                      <a:pt x="100012" y="42862"/>
                    </a:lnTo>
                    <a:cubicBezTo>
                      <a:pt x="100012" y="50753"/>
                      <a:pt x="93616" y="57150"/>
                      <a:pt x="85725" y="57150"/>
                    </a:cubicBezTo>
                    <a:lnTo>
                      <a:pt x="14288" y="57150"/>
                    </a:lnTo>
                    <a:cubicBezTo>
                      <a:pt x="6397" y="57150"/>
                      <a:pt x="0" y="50753"/>
                      <a:pt x="0" y="42862"/>
                    </a:cubicBezTo>
                    <a:lnTo>
                      <a:pt x="0" y="35719"/>
                    </a:lnTo>
                    <a:cubicBezTo>
                      <a:pt x="0" y="15992"/>
                      <a:pt x="15992" y="0"/>
                      <a:pt x="35719" y="0"/>
                    </a:cubicBezTo>
                    <a:lnTo>
                      <a:pt x="64294" y="0"/>
                    </a:lnTo>
                    <a:close/>
                  </a:path>
                </a:pathLst>
              </a:custGeom>
              <a:solidFill>
                <a:srgbClr val="9AA0A6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902768" y="5562124"/>
              <a:ext cx="21678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Consolas"/>
                  <a:ea typeface="Microsoft YaHei"/>
                  <a:cs typeface="Consolas"/>
                </a:rPr>
                <a:t>YC Chen · ychchen@amazon.com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4907721" y="6483191"/>
            <a:ext cx="23765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本 PPT 由 ppt-master 工作流生成 · 19 / 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